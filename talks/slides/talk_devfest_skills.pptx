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à tous ! Générer du code avec une IA, aujourd'hui, c'est trivial. Le générer comme votre équipe l'attend, c'est une autre histoire. On va vous raconter comment on s'y est pris chez GroupBees.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Mazlum : Head of Data chez GroupBees, GDE Cloud et Docker Captain. Guillaume : Platform Engineer &amp; SRE chez GroupBees, fondateur de THEREALM, et formateur à EPITECH et Polytech.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TODO : préciser en une phrase ce que l'IA génère sur la plateforme. L'idée : poser une stack moderne mais exigeante — hexagonal, Terragrunt, WIF, IAP. Pas triviale pour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seniors ont généré le premier backend, les fondations cloud et l'IaC. Avec leur Claude, les autres ont réussi à faire évoluer ces stacks — c'est le côté positif.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Dès qu'il fallait générer quelque chose de nouveau — un nouveau service back, une nouvelle stack IaC — les conventions n'étaient pas respectées. L'IA est douée, mais elle ne connaît pas NOS règles.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Premier réflexe, naturel : on écrit un CLAUDE.md qu'on se partage. Toutes nos règles au même endroit.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Montrer un vrai CLAUDE.md qui scrolle sans fin. Le problème n'est pas le contenu, c'est qu'il est chargé en permanence, même quand on écrit un commit et pas un Dockerfile.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Naturellement, on a découpé : c'est l'idée des skills. Un CLAUDE.md modulaire, chargé à la demande.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skill = un dossier, un SKILL.md, le standard ouvert Agent Skills (agentskills.io). La description sert de déclencheur : l'agent la voit en permanence, et ne lit le corps que si la tâche matche. C'est la progressive disclosure. Lu tel quel par Claude Code, Copilot, Cursor, Codex, Gemini CLI.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standard Agent Skills prévoit trois dossiers optionnels à côté du SKILL.md. references/ : de la doc lue à la demande — sur un projet Node, l'agent lit node.md, pas les quatre autres. assets/ : des fichiers complets à copier — le Dockerfile Python, celui qui tourne en prod sur Solis. scripts/ : du code exécuté, jamais chargé dans le contexte — une convention vérifiable devient un script plutôt qu'une phrase. Trois niveaux de chargement : la description toujours, le SKILL.md au déclenchement, le reste seulement si besoin. Notre CI refuse tout autre dossier. → Bascule IDE sur skills-core pour ouvrir ces trois skills.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ne jette pas le CLAUDE.md : il redevient ce qu'il doit être, le contexte durable du projet (chez nous un AGENTS.md + un pont CLAUDE.md). Les conventions, elles, partent dans les skills.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L'exemple de découpage : docker-image-conventions est agnostique du langage ; python-docker-multistage se compose par-dessus et n'ajoute que le spécifique Python. Même logique direnv / python-uv-direnv. Chaque skill reste petit, et le générique sert aux autres stacks.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 fallait ensuite partager ces skills. Première approche : un catalogue git, synchronisé sur la machine de chaque dev.</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module = un repo git. Le script copie chaque skill dans les répertoires personnels que lisent les outils. Plusieurs modules cohabitent grâce à un ledger par module. Version = tag git.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Chargé en global, ça s'applique tout le temps, même sur nos projets non-GroupBees ou chez un client qui a ses propres règles. Même si ce sont de bonnes pratiques, on veut la flexibilité de choisir.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D'où l'idée : ne pas copier les skills dans chaque projet, mais garder des modules de skills et les importer, comme des dépendances.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 Skills standardise le skill. Agent Plugins (v1.0, août 2026) standardise le paquet, mais ne lit que skills/&lt;nom&gt;/ : nos domaines skills/&lt;domaine&gt;/&lt;nom&gt;/ y seraient invisibles, et Claude Code garde son propre .claude-plugin/plugin.json. On l'adoptera quand un client qui installe des plugins en aura besoin. La spec ne définit ni installation ni registre : c'est là qu'intervient pollen.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pollen, notre CLI open source (Rust). Syntaxe inspirée de pre-commit : une liste de sources, chacune épinglée. Il installe, rafraîchit ce qui a bougé et supprime ce qu'on a retiré. Sources git — SSH pour les repos privés — ou dossier local. Déployé dans .claude/skills et .agents/skills : tous les agents sont servis.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assume un périmètre étroit : pollen déplace des dossiers qui existent et les valide contre la spec. Son état (.pollen.json) enregistre ce qu'il a installé et quelle config possède le dossier : un skill écrit à la main n'est jamais écrasé, et une seconde config sur le même dossier est refusée.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nous demande souvent : et le lockfile ? Un lockfile fige ce qu'un résolveur a choisi : des plages de versions et des dépendances transitives. pollen n'a ni l'un ni l'autre. Le commit épinglé dans pollen.yaml EST le lock, le tag en commentaire le rend lisible, et autoupdate --freeze (ou Renovate) le met à jour.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 vraie config machine (les paths sont omis). Des modules de l'orga privés et publics, le skill de pollen lui-même, et un module perso sur mon compte : les règles d'équipe et les miennes se composent sans se mélanger. Un module perso vit sur le compte de celui qui le maintient ; un module d'équipe dans l'orga.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qu'on nous pose souvent. Spec Kit (GitHub, v1.0) et BMAD (v6) sont eux-mêmes livrés en Agent Skills : /speckit-specify, plan, tasks… et les personas BMAD (analyste, PM, architecte, dev). Ils structurent le processus d'une feature. Nos conventions techniques, eux les prennent en prose : la constitution.md de Spec Kit, les persistent_facts de BMAD. Les deux se composent : un /speckit-plan dans un repo qui a nos skills sort un plan hexagonal, avec notre Dockerfile et notre CI. Et eux aussi ont leur CLI de distribution par projet : le problème qu'on résout avec pollen est le même pour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Session vierge = terminal gauche : claude --safe-mode --disable-slash-commands (ni CLAUDE.md, ni skills, même les built-in). Le moment clé, c'est le contraste. Ce ne sont pas les talents de l'IA qui font la différence, ce sont les règles. Filets : URL déjà déployée + screencast.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War story : un skill Terragrunt référençait run-all, remplacé par run --all. Péremption factuelle, parfaite pour un scan IA. La péremption de jugement — est-ce encore notre convention ? — reste humaine.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skill-validator (agent-ecosystem, open source) : conformité à la spec, budget de tokens, liens cassés, fichiers orphelins, qualité des descriptions. La CI vit dans un workflow partagé public, épinglé par commit ; Dependabot ouvre la PR quand il évolue.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War story : à la première montée de version de pollen, il a fallu retoucher 13 fichiers dans nos modules. C'était exactement le CLAUDE.md monolithique qu'on dénonce, dupliqué. La connaissance de l'outil est devenue un skill livré avec l'outil ; les modules n'ont plus rien à retoucher.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 blog Google Cloud « Behind the scenes: how we build, test and scale Google agent skills » (août 2026). Leur CI : lint, vérification des liens, checklists assistées par IA, et surtout les evals. C'est là qu'on n'en est pas encore. Et un owner par skill : nous, on est huit, pas Google. Chez nous, n'importe qui relit une PR de skill, sauf son auteur, et la CI vérifie le mécanique. Petite équipe : la confiance et la CI, pas l'organigramme. Adaptez la gouvernance à votre taille, mais gardez-en une.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idées à ramener lundi matin dans votre équipe.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Merci ! On prend vos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notesSlide" Target="../notesSlides/notesSlide2.xml"/><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xml"/><Relationship Id="rId4"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4.xml"/><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8.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8.png"/><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png"/><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 Id="rId4"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9.xml"/><Relationship Id="rId4"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png"/><Relationship Id="rId4" Type="http://schemas.openxmlformats.org/officeDocument/2006/relationships/image" Target="../media/image1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8.png"/><Relationship Id="rId4"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 Id="rId4"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9.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1.png"/><Relationship Id="rId4"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8.png"/><Relationship Id="rId4" Type="http://schemas.openxmlformats.org/officeDocument/2006/relationships/image" Target="../media/image1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9.xml"/><Relationship Id="rId4"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logo_light.png" descr="logo_light.png"/>
          <p:cNvPicPr>
            <a:picLocks noChangeAspect="1"/>
          </p:cNvPicPr>
          <p:nvPr/>
        </p:nvPicPr>
        <p:blipFill>
          <a:blip r:embed="rId2"/>
          <a:stretch>
            <a:fillRect/>
          </a:stretch>
        </p:blipFill>
        <p:spPr>
          <a:xfrm>
            <a:off x="640080" y="566928"/>
            <a:ext cx="2286000" cy="697149"/>
          </a:xfrm>
          <a:prstGeom prst="rect">
            <a:avLst/>
          </a:prstGeom>
        </p:spPr>
      </p:pic>
      <p:pic>
        <p:nvPicPr>
          <p:cNvPr id="5" name="bee.png" descr="bee.png"/>
          <p:cNvPicPr>
            <a:picLocks noChangeAspect="1"/>
          </p:cNvPicPr>
          <p:nvPr/>
        </p:nvPicPr>
        <p:blipFill>
          <a:blip r:embed="rId3"/>
          <a:stretch>
            <a:fillRect/>
          </a:stretch>
        </p:blipFill>
        <p:spPr>
          <a:xfrm>
            <a:off x="8595360" y="1371600"/>
            <a:ext cx="3562685" cy="4206240"/>
          </a:xfrm>
          <a:prstGeom prst="rect">
            <a:avLst/>
          </a:prstGeom>
        </p:spPr>
      </p:pic>
      <p:sp>
        <p:nvSpPr>
          <p:cNvPr id="6" name="TextBox 5"/>
          <p:cNvSpPr txBox="1"/>
          <p:nvPr/>
        </p:nvSpPr>
        <p:spPr>
          <a:xfrm>
            <a:off x="640080" y="1737360"/>
            <a:ext cx="7863840" cy="1828800"/>
          </a:xfrm>
          <a:prstGeom prst="rect">
            <a:avLst/>
          </a:prstGeom>
          <a:noFill/>
        </p:spPr>
        <p:txBody>
          <a:bodyPr wrap="square" lIns="0" rIns="0" tIns="0" bIns="0" anchor="b">
            <a:spAutoFit/>
          </a:bodyPr>
          <a:lstStyle/>
          <a:p>
            <a:pPr algn="l">
              <a:spcAft>
                <a:spcPts val="0"/>
              </a:spcAft>
            </a:pPr>
            <a:r>
              <a:rPr sz="5400" b="1">
                <a:solidFill>
                  <a:srgbClr val="FFFFFF"/>
                </a:solidFill>
                <a:latin typeface="Avenir Next"/>
              </a:rPr>
              <a:t>Industrialiser l'IA</a:t>
            </a:r>
          </a:p>
          <a:p>
            <a:pPr algn="l">
              <a:spcAft>
                <a:spcPts val="0"/>
              </a:spcAft>
            </a:pPr>
            <a:r>
              <a:rPr sz="5400" b="1">
                <a:solidFill>
                  <a:srgbClr val="FFFFFF"/>
                </a:solidFill>
                <a:latin typeface="Avenir Next"/>
              </a:rPr>
              <a:t>en équipe</a:t>
            </a:r>
          </a:p>
        </p:txBody>
      </p:sp>
      <p:sp>
        <p:nvSpPr>
          <p:cNvPr id="7" name="TextBox 6"/>
          <p:cNvSpPr txBox="1"/>
          <p:nvPr/>
        </p:nvSpPr>
        <p:spPr>
          <a:xfrm>
            <a:off x="640080" y="3749039"/>
            <a:ext cx="7498079" cy="914400"/>
          </a:xfrm>
          <a:prstGeom prst="rect">
            <a:avLst/>
          </a:prstGeom>
          <a:noFill/>
        </p:spPr>
        <p:txBody>
          <a:bodyPr wrap="square" lIns="0" rIns="0" tIns="0" bIns="0">
            <a:spAutoFit/>
          </a:bodyPr>
          <a:lstStyle/>
          <a:p>
            <a:pPr algn="l">
              <a:spcAft>
                <a:spcPts val="0"/>
              </a:spcAft>
            </a:pPr>
            <a:r>
              <a:rPr sz="2400">
                <a:solidFill>
                  <a:srgbClr val="C9CFDC"/>
                </a:solidFill>
                <a:latin typeface="Avenir Next"/>
              </a:rPr>
              <a:t>Des skills qui encodent vos conventions</a:t>
            </a:r>
          </a:p>
        </p:txBody>
      </p:sp>
      <p:sp>
        <p:nvSpPr>
          <p:cNvPr id="8" name="Rectangle 7"/>
          <p:cNvSpPr/>
          <p:nvPr/>
        </p:nvSpPr>
        <p:spPr>
          <a:xfrm>
            <a:off x="640080" y="4709160"/>
            <a:ext cx="2194560" cy="9144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5120640"/>
            <a:ext cx="7863840" cy="457200"/>
          </a:xfrm>
          <a:prstGeom prst="rect">
            <a:avLst/>
          </a:prstGeom>
          <a:noFill/>
        </p:spPr>
        <p:txBody>
          <a:bodyPr wrap="square" lIns="0" rIns="0" tIns="0" bIns="0">
            <a:spAutoFit/>
          </a:bodyPr>
          <a:lstStyle/>
          <a:p>
            <a:pPr algn="l">
              <a:spcAft>
                <a:spcPts val="0"/>
              </a:spcAft>
            </a:pPr>
            <a:r>
              <a:rPr sz="1600">
                <a:solidFill>
                  <a:srgbClr val="00B5FB"/>
                </a:solidFill>
                <a:latin typeface="Avenir Next"/>
              </a:rPr>
              <a:t>Mazlum Tosun &amp; Guillaume Leroy · GroupBees · DevFest Toulouse 2026</a:t>
            </a:r>
          </a:p>
        </p:txBody>
      </p:sp>
      <p:pic>
        <p:nvPicPr>
          <p:cNvPr id="10" name="bee_happy.png" descr="bee_happy.png"/>
          <p:cNvPicPr>
            <a:picLocks noChangeAspect="1"/>
          </p:cNvPicPr>
          <p:nvPr/>
        </p:nvPicPr>
        <p:blipFill>
          <a:blip r:embed="rId5"/>
          <a:stretch>
            <a:fillRect/>
          </a:stretch>
        </p:blipFill>
        <p:spPr>
          <a:xfrm rot="20880000" flipH="1">
            <a:off x="6949440" y="411480"/>
            <a:ext cx="696951" cy="86868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500" fill="hold"/>
                                        <p:tgtEl>
                                          <p:spTgt spid="5"/>
                                        </p:tgtEl>
                                        <p:attrNameLst>
                                          <p:attrName>ppt_w</p:attrName>
                                        </p:attrNameLst>
                                      </p:cBhvr>
                                      <p:tavLst>
                                        <p:tav tm="0">
                                          <p:val>
                                            <p:fltVal val="0"/>
                                          </p:val>
                                        </p:tav>
                                        <p:tav tm="100000">
                                          <p:val>
                                            <p:strVal val="#ppt_w"/>
                                          </p:val>
                                        </p:tav>
                                      </p:tavLst>
                                    </p:anim>
                                    <p:anim calcmode="lin" valueType="num">
                                      <p:cBhvr>
                                        <p:cTn id="8" dur="500" fill="hold"/>
                                        <p:tgtEl>
                                          <p:spTgt spid="5"/>
                                        </p:tgtEl>
                                        <p:attrNameLst>
                                          <p:attrName>ppt_h</p:attrName>
                                        </p:attrNameLst>
                                      </p:cBhvr>
                                      <p:tavLst>
                                        <p:tav tm="0">
                                          <p:val>
                                            <p:fltVal val="0"/>
                                          </p:val>
                                        </p:tav>
                                        <p:tav tm="100000">
                                          <p:val>
                                            <p:strVal val="#ppt_h"/>
                                          </p:val>
                                        </p:tav>
                                      </p:tavLst>
                                    </p:anim>
                                    <p:animEffect transition="in" filter="fade">
                                      <p:cBhvr>
                                        <p:cTn id="9" dur="500"/>
                                        <p:tgtEl>
                                          <p:spTgt spid="5"/>
                                        </p:tgtEl>
                                      </p:cBhvr>
                                    </p:animEffect>
                                  </p:childTnLst>
                                </p:cTn>
                              </p:par>
                              <p:par>
                                <p:cTn id="10" presetID="53" presetClass="entr" presetSubtype="16" fill="hold" nodeType="withEffect">
                                  <p:stCondLst>
                                    <p:cond delay="0"/>
                                  </p:stCondLst>
                                  <p:childTnLst>
                                    <p:set>
                                      <p:cBhvr>
                                        <p:cTn id="11" dur="1" fill="hold">
                                          <p:stCondLst>
                                            <p:cond delay="0"/>
                                          </p:stCondLst>
                                        </p:cTn>
                                        <p:tgtEl>
                                          <p:spTgt spid="10"/>
                                        </p:tgtEl>
                                        <p:attrNameLst>
                                          <p:attrName>style.visibility</p:attrName>
                                        </p:attrNameLst>
                                      </p:cBhvr>
                                      <p:to>
                                        <p:strVal val="visible"/>
                                      </p:to>
                                    </p:se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animEffect transition="in" filter="fade">
                                      <p:cBhvr>
                                        <p:cTn id="14"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Qui sommes-nous ?</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40080" y="1600200"/>
            <a:ext cx="5257800" cy="4343400"/>
          </a:xfrm>
          <a:prstGeom prst="roundRect">
            <a:avLst>
              <a:gd name="adj" fmla="val 6000"/>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00200"/>
            <a:ext cx="5257800" cy="82296"/>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23544" y="1929384"/>
            <a:ext cx="1901952" cy="1901952"/>
          </a:xfrm>
          <a:prstGeom prst="ellipse">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azlum.jpg"/>
          <p:cNvPicPr>
            <a:picLocks noChangeAspect="1"/>
          </p:cNvPicPr>
          <p:nvPr/>
        </p:nvPicPr>
        <p:blipFill>
          <a:blip r:embed="rId2"/>
          <a:stretch>
            <a:fillRect/>
          </a:stretch>
        </p:blipFill>
        <p:spPr>
          <a:xfrm>
            <a:off x="1005840" y="2011680"/>
            <a:ext cx="1737360" cy="1737360"/>
          </a:xfrm>
          <a:prstGeom prst="ellipse">
            <a:avLst/>
          </a:prstGeom>
        </p:spPr>
      </p:pic>
      <p:sp>
        <p:nvSpPr>
          <p:cNvPr id="8" name="TextBox 7"/>
          <p:cNvSpPr txBox="1"/>
          <p:nvPr/>
        </p:nvSpPr>
        <p:spPr>
          <a:xfrm>
            <a:off x="3063240" y="2103120"/>
            <a:ext cx="2651760" cy="1280160"/>
          </a:xfrm>
          <a:prstGeom prst="rect">
            <a:avLst/>
          </a:prstGeom>
          <a:noFill/>
        </p:spPr>
        <p:txBody>
          <a:bodyPr wrap="square" lIns="0" rIns="0" tIns="0" bIns="0">
            <a:spAutoFit/>
          </a:bodyPr>
          <a:lstStyle/>
          <a:p>
            <a:pPr algn="l">
              <a:spcAft>
                <a:spcPts val="0"/>
              </a:spcAft>
            </a:pPr>
            <a:r>
              <a:rPr sz="3000" b="1">
                <a:solidFill>
                  <a:srgbClr val="14141A"/>
                </a:solidFill>
                <a:latin typeface="Avenir Next"/>
              </a:rPr>
              <a:t>Mazlum</a:t>
            </a:r>
          </a:p>
          <a:p>
            <a:pPr algn="l">
              <a:spcAft>
                <a:spcPts val="0"/>
              </a:spcAft>
            </a:pPr>
            <a:r>
              <a:rPr sz="3000" b="1">
                <a:solidFill>
                  <a:srgbClr val="14141A"/>
                </a:solidFill>
                <a:latin typeface="Avenir Next"/>
              </a:rPr>
              <a:t>Tosun</a:t>
            </a:r>
          </a:p>
        </p:txBody>
      </p:sp>
      <p:sp>
        <p:nvSpPr>
          <p:cNvPr id="9" name="Hexagon 8"/>
          <p:cNvSpPr/>
          <p:nvPr/>
        </p:nvSpPr>
        <p:spPr>
          <a:xfrm>
            <a:off x="1051560" y="4160520"/>
            <a:ext cx="146304" cy="146304"/>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4069080"/>
            <a:ext cx="4251960" cy="365760"/>
          </a:xfrm>
          <a:prstGeom prst="rect">
            <a:avLst/>
          </a:prstGeom>
          <a:noFill/>
        </p:spPr>
        <p:txBody>
          <a:bodyPr wrap="square" lIns="0" rIns="0" tIns="0" bIns="0">
            <a:spAutoFit/>
          </a:bodyPr>
          <a:lstStyle/>
          <a:p>
            <a:pPr algn="l">
              <a:spcAft>
                <a:spcPts val="0"/>
              </a:spcAft>
            </a:pPr>
            <a:r>
              <a:rPr sz="1800" b="1">
                <a:solidFill>
                  <a:srgbClr val="2A2F3A"/>
                </a:solidFill>
                <a:latin typeface="Avenir Next"/>
              </a:rPr>
              <a:t>Head of Data · GroupBees</a:t>
            </a:r>
          </a:p>
        </p:txBody>
      </p:sp>
      <p:sp>
        <p:nvSpPr>
          <p:cNvPr id="11" name="Hexagon 10"/>
          <p:cNvSpPr/>
          <p:nvPr/>
        </p:nvSpPr>
        <p:spPr>
          <a:xfrm>
            <a:off x="1051560" y="4572000"/>
            <a:ext cx="146304" cy="146304"/>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71600" y="4480560"/>
            <a:ext cx="4251960" cy="365760"/>
          </a:xfrm>
          <a:prstGeom prst="rect">
            <a:avLst/>
          </a:prstGeom>
          <a:noFill/>
        </p:spPr>
        <p:txBody>
          <a:bodyPr wrap="square" lIns="0" rIns="0" tIns="0" bIns="0">
            <a:spAutoFit/>
          </a:bodyPr>
          <a:lstStyle/>
          <a:p>
            <a:pPr algn="l">
              <a:spcAft>
                <a:spcPts val="0"/>
              </a:spcAft>
            </a:pPr>
            <a:r>
              <a:rPr sz="1800" b="0">
                <a:solidFill>
                  <a:srgbClr val="2A2F3A"/>
                </a:solidFill>
                <a:latin typeface="Avenir Next"/>
              </a:rPr>
              <a:t>Google Developer Expert Cloud</a:t>
            </a:r>
          </a:p>
        </p:txBody>
      </p:sp>
      <p:sp>
        <p:nvSpPr>
          <p:cNvPr id="13" name="Hexagon 12"/>
          <p:cNvSpPr/>
          <p:nvPr/>
        </p:nvSpPr>
        <p:spPr>
          <a:xfrm>
            <a:off x="1051560" y="4983480"/>
            <a:ext cx="146304" cy="146304"/>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71600" y="4892040"/>
            <a:ext cx="4251960" cy="365760"/>
          </a:xfrm>
          <a:prstGeom prst="rect">
            <a:avLst/>
          </a:prstGeom>
          <a:noFill/>
        </p:spPr>
        <p:txBody>
          <a:bodyPr wrap="square" lIns="0" rIns="0" tIns="0" bIns="0">
            <a:spAutoFit/>
          </a:bodyPr>
          <a:lstStyle/>
          <a:p>
            <a:pPr algn="l">
              <a:spcAft>
                <a:spcPts val="0"/>
              </a:spcAft>
            </a:pPr>
            <a:r>
              <a:rPr sz="1800" b="0">
                <a:solidFill>
                  <a:srgbClr val="2A2F3A"/>
                </a:solidFill>
                <a:latin typeface="Avenir Next"/>
              </a:rPr>
              <a:t>Docker Captain</a:t>
            </a:r>
          </a:p>
        </p:txBody>
      </p:sp>
      <p:pic>
        <p:nvPicPr>
          <p:cNvPr id="15" name="badge_gde.png" descr="badge_gde.png"/>
          <p:cNvPicPr>
            <a:picLocks noChangeAspect="1"/>
          </p:cNvPicPr>
          <p:nvPr/>
        </p:nvPicPr>
        <p:blipFill>
          <a:blip r:embed="rId3"/>
          <a:stretch>
            <a:fillRect/>
          </a:stretch>
        </p:blipFill>
        <p:spPr>
          <a:xfrm>
            <a:off x="3063240" y="3255264"/>
            <a:ext cx="1667116" cy="347472"/>
          </a:xfrm>
          <a:prstGeom prst="rect">
            <a:avLst/>
          </a:prstGeom>
        </p:spPr>
      </p:pic>
      <p:pic>
        <p:nvPicPr>
          <p:cNvPr id="16" name="badge_docker_captain.png" descr="badge_docker_captain.png"/>
          <p:cNvPicPr>
            <a:picLocks noChangeAspect="1"/>
          </p:cNvPicPr>
          <p:nvPr/>
        </p:nvPicPr>
        <p:blipFill>
          <a:blip r:embed="rId4"/>
          <a:stretch>
            <a:fillRect/>
          </a:stretch>
        </p:blipFill>
        <p:spPr>
          <a:xfrm>
            <a:off x="5050396" y="3108960"/>
            <a:ext cx="476922" cy="640080"/>
          </a:xfrm>
          <a:prstGeom prst="rect">
            <a:avLst/>
          </a:prstGeom>
        </p:spPr>
      </p:pic>
      <p:sp>
        <p:nvSpPr>
          <p:cNvPr id="17" name="Rounded Rectangle 16"/>
          <p:cNvSpPr/>
          <p:nvPr/>
        </p:nvSpPr>
        <p:spPr>
          <a:xfrm>
            <a:off x="6263640" y="1600200"/>
            <a:ext cx="5257800" cy="4343400"/>
          </a:xfrm>
          <a:prstGeom prst="roundRect">
            <a:avLst>
              <a:gd name="adj" fmla="val 6000"/>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600200"/>
            <a:ext cx="5257800" cy="82296"/>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547104" y="1929384"/>
            <a:ext cx="1901952" cy="1901952"/>
          </a:xfrm>
          <a:prstGeom prst="ellipse">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guillaume.png"/>
          <p:cNvPicPr>
            <a:picLocks noChangeAspect="1"/>
          </p:cNvPicPr>
          <p:nvPr/>
        </p:nvPicPr>
        <p:blipFill>
          <a:blip r:embed="rId5"/>
          <a:stretch>
            <a:fillRect/>
          </a:stretch>
        </p:blipFill>
        <p:spPr>
          <a:xfrm>
            <a:off x="6629400" y="2011680"/>
            <a:ext cx="1737360" cy="1737360"/>
          </a:xfrm>
          <a:prstGeom prst="ellipse">
            <a:avLst/>
          </a:prstGeom>
        </p:spPr>
      </p:pic>
      <p:sp>
        <p:nvSpPr>
          <p:cNvPr id="21" name="TextBox 20"/>
          <p:cNvSpPr txBox="1"/>
          <p:nvPr/>
        </p:nvSpPr>
        <p:spPr>
          <a:xfrm>
            <a:off x="8686800" y="2103120"/>
            <a:ext cx="2651760" cy="1280160"/>
          </a:xfrm>
          <a:prstGeom prst="rect">
            <a:avLst/>
          </a:prstGeom>
          <a:noFill/>
        </p:spPr>
        <p:txBody>
          <a:bodyPr wrap="square" lIns="0" rIns="0" tIns="0" bIns="0">
            <a:spAutoFit/>
          </a:bodyPr>
          <a:lstStyle/>
          <a:p>
            <a:pPr algn="l">
              <a:spcAft>
                <a:spcPts val="0"/>
              </a:spcAft>
            </a:pPr>
            <a:r>
              <a:rPr sz="3000" b="1">
                <a:solidFill>
                  <a:srgbClr val="14141A"/>
                </a:solidFill>
                <a:latin typeface="Avenir Next"/>
              </a:rPr>
              <a:t>Guillaume</a:t>
            </a:r>
          </a:p>
          <a:p>
            <a:pPr algn="l">
              <a:spcAft>
                <a:spcPts val="0"/>
              </a:spcAft>
            </a:pPr>
            <a:r>
              <a:rPr sz="3000" b="1">
                <a:solidFill>
                  <a:srgbClr val="14141A"/>
                </a:solidFill>
                <a:latin typeface="Avenir Next"/>
              </a:rPr>
              <a:t>Leroy</a:t>
            </a:r>
          </a:p>
        </p:txBody>
      </p:sp>
      <p:sp>
        <p:nvSpPr>
          <p:cNvPr id="22" name="Hexagon 21"/>
          <p:cNvSpPr/>
          <p:nvPr/>
        </p:nvSpPr>
        <p:spPr>
          <a:xfrm>
            <a:off x="6675120" y="4160520"/>
            <a:ext cx="146304" cy="146304"/>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95160" y="4069080"/>
            <a:ext cx="4251960" cy="365760"/>
          </a:xfrm>
          <a:prstGeom prst="rect">
            <a:avLst/>
          </a:prstGeom>
          <a:noFill/>
        </p:spPr>
        <p:txBody>
          <a:bodyPr wrap="square" lIns="0" rIns="0" tIns="0" bIns="0">
            <a:spAutoFit/>
          </a:bodyPr>
          <a:lstStyle/>
          <a:p>
            <a:pPr algn="l">
              <a:spcAft>
                <a:spcPts val="0"/>
              </a:spcAft>
            </a:pPr>
            <a:r>
              <a:rPr sz="1800" b="1">
                <a:solidFill>
                  <a:srgbClr val="2A2F3A"/>
                </a:solidFill>
                <a:latin typeface="Avenir Next"/>
              </a:rPr>
              <a:t>Platform Engineer &amp; SRE · GroupBees</a:t>
            </a:r>
          </a:p>
        </p:txBody>
      </p:sp>
      <p:sp>
        <p:nvSpPr>
          <p:cNvPr id="24" name="Hexagon 23"/>
          <p:cNvSpPr/>
          <p:nvPr/>
        </p:nvSpPr>
        <p:spPr>
          <a:xfrm>
            <a:off x="6675120" y="4572000"/>
            <a:ext cx="146304" cy="146304"/>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95160" y="4480560"/>
            <a:ext cx="4251960" cy="365760"/>
          </a:xfrm>
          <a:prstGeom prst="rect">
            <a:avLst/>
          </a:prstGeom>
          <a:noFill/>
        </p:spPr>
        <p:txBody>
          <a:bodyPr wrap="square" lIns="0" rIns="0" tIns="0" bIns="0">
            <a:spAutoFit/>
          </a:bodyPr>
          <a:lstStyle/>
          <a:p>
            <a:pPr algn="l">
              <a:spcAft>
                <a:spcPts val="0"/>
              </a:spcAft>
            </a:pPr>
            <a:r>
              <a:rPr sz="1800" b="0">
                <a:solidFill>
                  <a:srgbClr val="2A2F3A"/>
                </a:solidFill>
                <a:latin typeface="Avenir Next"/>
              </a:rPr>
              <a:t>Fondateur · THEREALM</a:t>
            </a:r>
          </a:p>
        </p:txBody>
      </p:sp>
      <p:sp>
        <p:nvSpPr>
          <p:cNvPr id="26" name="Hexagon 25"/>
          <p:cNvSpPr/>
          <p:nvPr/>
        </p:nvSpPr>
        <p:spPr>
          <a:xfrm>
            <a:off x="6675120" y="4983480"/>
            <a:ext cx="146304" cy="146304"/>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95160" y="4892040"/>
            <a:ext cx="4251960" cy="365760"/>
          </a:xfrm>
          <a:prstGeom prst="rect">
            <a:avLst/>
          </a:prstGeom>
          <a:noFill/>
        </p:spPr>
        <p:txBody>
          <a:bodyPr wrap="square" lIns="0" rIns="0" tIns="0" bIns="0">
            <a:spAutoFit/>
          </a:bodyPr>
          <a:lstStyle/>
          <a:p>
            <a:pPr algn="l">
              <a:spcAft>
                <a:spcPts val="0"/>
              </a:spcAft>
            </a:pPr>
            <a:r>
              <a:rPr sz="1800" b="0">
                <a:solidFill>
                  <a:srgbClr val="2A2F3A"/>
                </a:solidFill>
                <a:latin typeface="Avenir Next"/>
              </a:rPr>
              <a:t>Formateur · EPITECH &amp; Polytech</a:t>
            </a:r>
          </a:p>
        </p:txBody>
      </p:sp>
      <p:pic>
        <p:nvPicPr>
          <p:cNvPr id="28" name="bee_cool.png" descr="bee_cool.png"/>
          <p:cNvPicPr>
            <a:picLocks noChangeAspect="1"/>
          </p:cNvPicPr>
          <p:nvPr/>
        </p:nvPicPr>
        <p:blipFill>
          <a:blip r:embed="rId7"/>
          <a:stretch>
            <a:fillRect/>
          </a:stretch>
        </p:blipFill>
        <p:spPr>
          <a:xfrm rot="480000">
            <a:off x="10744200" y="228600"/>
            <a:ext cx="997857" cy="1005840"/>
          </a:xfrm>
          <a:prstGeom prst="rect">
            <a:avLst/>
          </a:prstGeom>
        </p:spPr>
      </p:pic>
      <p:pic>
        <p:nvPicPr>
          <p:cNvPr id="29" name="bee_grad.png" descr="bee_grad.png"/>
          <p:cNvPicPr>
            <a:picLocks noChangeAspect="1"/>
          </p:cNvPicPr>
          <p:nvPr/>
        </p:nvPicPr>
        <p:blipFill>
          <a:blip r:embed="rId8"/>
          <a:stretch>
            <a:fillRect/>
          </a:stretch>
        </p:blipFill>
        <p:spPr>
          <a:xfrm rot="21240000">
            <a:off x="10607040" y="4663440"/>
            <a:ext cx="840441" cy="1143000"/>
          </a:xfrm>
          <a:prstGeom prst="rect">
            <a:avLst/>
          </a:prstGeom>
        </p:spPr>
      </p:pic>
      <p:pic>
        <p:nvPicPr>
          <p:cNvPr id="30" name="logo.png" descr="logo.png"/>
          <p:cNvPicPr>
            <a:picLocks noChangeAspect="1"/>
          </p:cNvPicPr>
          <p:nvPr/>
        </p:nvPicPr>
        <p:blipFill>
          <a:blip r:embed="rId9"/>
          <a:stretch>
            <a:fillRect/>
          </a:stretch>
        </p:blipFill>
        <p:spPr>
          <a:xfrm>
            <a:off x="566928" y="6263640"/>
            <a:ext cx="899514" cy="274320"/>
          </a:xfrm>
          <a:prstGeom prst="rect">
            <a:avLst/>
          </a:prstGeom>
        </p:spPr>
      </p:pic>
      <p:sp>
        <p:nvSpPr>
          <p:cNvPr id="31" name="TextBox 30"/>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8"/>
                                        </p:tgtEl>
                                        <p:attrNameLst>
                                          <p:attrName>style.visibility</p:attrName>
                                        </p:attrNameLst>
                                      </p:cBhvr>
                                      <p:to>
                                        <p:strVal val="visible"/>
                                      </p:to>
                                    </p:set>
                                    <p:anim calcmode="lin" valueType="num">
                                      <p:cBhvr>
                                        <p:cTn id="7" dur="500" fill="hold"/>
                                        <p:tgtEl>
                                          <p:spTgt spid="28"/>
                                        </p:tgtEl>
                                        <p:attrNameLst>
                                          <p:attrName>ppt_w</p:attrName>
                                        </p:attrNameLst>
                                      </p:cBhvr>
                                      <p:tavLst>
                                        <p:tav tm="0">
                                          <p:val>
                                            <p:fltVal val="0"/>
                                          </p:val>
                                        </p:tav>
                                        <p:tav tm="100000">
                                          <p:val>
                                            <p:strVal val="#ppt_w"/>
                                          </p:val>
                                        </p:tav>
                                      </p:tavLst>
                                    </p:anim>
                                    <p:anim calcmode="lin" valueType="num">
                                      <p:cBhvr>
                                        <p:cTn id="8" dur="500" fill="hold"/>
                                        <p:tgtEl>
                                          <p:spTgt spid="28"/>
                                        </p:tgtEl>
                                        <p:attrNameLst>
                                          <p:attrName>ppt_h</p:attrName>
                                        </p:attrNameLst>
                                      </p:cBhvr>
                                      <p:tavLst>
                                        <p:tav tm="0">
                                          <p:val>
                                            <p:fltVal val="0"/>
                                          </p:val>
                                        </p:tav>
                                        <p:tav tm="100000">
                                          <p:val>
                                            <p:strVal val="#ppt_h"/>
                                          </p:val>
                                        </p:tav>
                                      </p:tavLst>
                                    </p:anim>
                                    <p:animEffect transition="in" filter="fade">
                                      <p:cBhvr>
                                        <p:cTn id="9" dur="500"/>
                                        <p:tgtEl>
                                          <p:spTgt spid="28"/>
                                        </p:tgtEl>
                                      </p:cBhvr>
                                    </p:animEffect>
                                  </p:childTnLst>
                                </p:cTn>
                              </p:par>
                              <p:par>
                                <p:cTn id="10" presetID="53" presetClass="entr" presetSubtype="16" fill="hold" nodeType="withEffect">
                                  <p:stCondLst>
                                    <p:cond delay="0"/>
                                  </p:stCondLst>
                                  <p:childTnLst>
                                    <p:set>
                                      <p:cBhvr>
                                        <p:cTn id="11" dur="1" fill="hold">
                                          <p:stCondLst>
                                            <p:cond delay="0"/>
                                          </p:stCondLst>
                                        </p:cTn>
                                        <p:tgtEl>
                                          <p:spTgt spid="29"/>
                                        </p:tgtEl>
                                        <p:attrNameLst>
                                          <p:attrName>style.visibility</p:attrName>
                                        </p:attrNameLst>
                                      </p:cBhvr>
                                      <p:to>
                                        <p:strVal val="visible"/>
                                      </p:to>
                                    </p:set>
                                    <p:anim calcmode="lin" valueType="num">
                                      <p:cBhvr>
                                        <p:cTn id="12" dur="500" fill="hold"/>
                                        <p:tgtEl>
                                          <p:spTgt spid="29"/>
                                        </p:tgtEl>
                                        <p:attrNameLst>
                                          <p:attrName>ppt_w</p:attrName>
                                        </p:attrNameLst>
                                      </p:cBhvr>
                                      <p:tavLst>
                                        <p:tav tm="0">
                                          <p:val>
                                            <p:fltVal val="0"/>
                                          </p:val>
                                        </p:tav>
                                        <p:tav tm="100000">
                                          <p:val>
                                            <p:strVal val="#ppt_w"/>
                                          </p:val>
                                        </p:tav>
                                      </p:tavLst>
                                    </p:anim>
                                    <p:anim calcmode="lin" valueType="num">
                                      <p:cBhvr>
                                        <p:cTn id="13" dur="500" fill="hold"/>
                                        <p:tgtEl>
                                          <p:spTgt spid="29"/>
                                        </p:tgtEl>
                                        <p:attrNameLst>
                                          <p:attrName>ppt_h</p:attrName>
                                        </p:attrNameLst>
                                      </p:cBhvr>
                                      <p:tavLst>
                                        <p:tav tm="0">
                                          <p:val>
                                            <p:fltVal val="0"/>
                                          </p:val>
                                        </p:tav>
                                        <p:tav tm="100000">
                                          <p:val>
                                            <p:strVal val="#ppt_h"/>
                                          </p:val>
                                        </p:tav>
                                      </p:tavLst>
                                    </p:anim>
                                    <p:animEffect transition="in" filter="fade">
                                      <p:cBhvr>
                                        <p:cTn id="14"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Le contexte : une plateforme d'API</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bee_astro.png" descr="bee_astro.png"/>
          <p:cNvPicPr>
            <a:picLocks noChangeAspect="1"/>
          </p:cNvPicPr>
          <p:nvPr/>
        </p:nvPicPr>
        <p:blipFill>
          <a:blip r:embed="rId2"/>
          <a:stretch>
            <a:fillRect/>
          </a:stretch>
        </p:blipFill>
        <p:spPr>
          <a:xfrm>
            <a:off x="8778240" y="2011680"/>
            <a:ext cx="2347625" cy="2926080"/>
          </a:xfrm>
          <a:prstGeom prst="rect">
            <a:avLst/>
          </a:prstGeom>
        </p:spPr>
      </p:pic>
      <p:sp>
        <p:nvSpPr>
          <p:cNvPr id="11" name="Hexagon 10"/>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178308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Un registre d'API : les producers publient, les consumers découvrent</a:t>
            </a:r>
          </a:p>
        </p:txBody>
      </p:sp>
      <p:sp>
        <p:nvSpPr>
          <p:cNvPr id="13" name="Hexagon 12"/>
          <p:cNvSpPr/>
          <p:nvPr/>
        </p:nvSpPr>
        <p:spPr>
          <a:xfrm>
            <a:off x="713232" y="2880360"/>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2770632"/>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De l'IA par-dessus pour générer ce qui gravite autour</a:t>
            </a:r>
          </a:p>
        </p:txBody>
      </p:sp>
      <p:sp>
        <p:nvSpPr>
          <p:cNvPr id="15" name="Hexagon 14"/>
          <p:cNvSpPr/>
          <p:nvPr/>
        </p:nvSpPr>
        <p:spPr>
          <a:xfrm>
            <a:off x="713232" y="3520440"/>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3410712"/>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Back Python / FastAPI en archi hexagonale</a:t>
            </a:r>
          </a:p>
        </p:txBody>
      </p:sp>
      <p:sp>
        <p:nvSpPr>
          <p:cNvPr id="17" name="Hexagon 16"/>
          <p:cNvSpPr/>
          <p:nvPr/>
        </p:nvSpPr>
        <p:spPr>
          <a:xfrm>
            <a:off x="713232" y="4160520"/>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4050792"/>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GCP : Cloud Run, IAP, IaC Terragrunt</a:t>
            </a:r>
          </a:p>
        </p:txBody>
      </p:sp>
      <p:sp>
        <p:nvSpPr>
          <p:cNvPr id="19" name="Hexagon 18"/>
          <p:cNvSpPr/>
          <p:nvPr/>
        </p:nvSpPr>
        <p:spPr>
          <a:xfrm>
            <a:off x="713232" y="4800600"/>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690872"/>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CI/CD GitHub Actions, du trunk à la prod</a:t>
            </a:r>
          </a:p>
        </p:txBody>
      </p:sp>
      <p:pic>
        <p:nvPicPr>
          <p:cNvPr id="21"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2" name="TextBox 21"/>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p:cTn id="7" dur="500" fill="hold"/>
                                        <p:tgtEl>
                                          <p:spTgt spid="10"/>
                                        </p:tgtEl>
                                        <p:attrNameLst>
                                          <p:attrName>ppt_w</p:attrName>
                                        </p:attrNameLst>
                                      </p:cBhvr>
                                      <p:tavLst>
                                        <p:tav tm="0">
                                          <p:val>
                                            <p:fltVal val="0"/>
                                          </p:val>
                                        </p:tav>
                                        <p:tav tm="100000">
                                          <p:val>
                                            <p:strVal val="#ppt_w"/>
                                          </p:val>
                                        </p:tav>
                                      </p:tavLst>
                                    </p:anim>
                                    <p:anim calcmode="lin" valueType="num">
                                      <p:cBhvr>
                                        <p:cTn id="8" dur="500" fill="hold"/>
                                        <p:tgtEl>
                                          <p:spTgt spid="10"/>
                                        </p:tgtEl>
                                        <p:attrNameLst>
                                          <p:attrName>ppt_h</p:attrName>
                                        </p:attrNameLst>
                                      </p:cBhvr>
                                      <p:tavLst>
                                        <p:tav tm="0">
                                          <p:val>
                                            <p:fltVal val="0"/>
                                          </p:val>
                                        </p:tav>
                                        <p:tav tm="100000">
                                          <p:val>
                                            <p:strVal val="#ppt_h"/>
                                          </p:val>
                                        </p:tav>
                                      </p:tavLst>
                                    </p:anim>
                                    <p:animEffect transition="in" filter="fade">
                                      <p:cBhvr>
                                        <p:cTn id="9"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L'équipe</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bee_grad.png" descr="bee_grad.png"/>
          <p:cNvPicPr>
            <a:picLocks noChangeAspect="1"/>
          </p:cNvPicPr>
          <p:nvPr/>
        </p:nvPicPr>
        <p:blipFill>
          <a:blip r:embed="rId2"/>
          <a:stretch>
            <a:fillRect/>
          </a:stretch>
        </p:blipFill>
        <p:spPr>
          <a:xfrm>
            <a:off x="8778240" y="2011680"/>
            <a:ext cx="2151529" cy="2926080"/>
          </a:xfrm>
          <a:prstGeom prst="rect">
            <a:avLst/>
          </a:prstGeom>
        </p:spPr>
      </p:pic>
      <p:sp>
        <p:nvSpPr>
          <p:cNvPr id="11" name="Hexagon 10"/>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178308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Une équipe de 8 personnes</a:t>
            </a:r>
          </a:p>
        </p:txBody>
      </p:sp>
      <p:sp>
        <p:nvSpPr>
          <p:cNvPr id="13" name="Hexagon 12"/>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242316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Quelques seniors… un junior… et un stagiaire</a:t>
            </a:r>
          </a:p>
        </p:txBody>
      </p:sp>
      <p:sp>
        <p:nvSpPr>
          <p:cNvPr id="15" name="Hexagon 14"/>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306324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Les seniors ont posé les fondations : backend, cloud, IaC</a:t>
            </a:r>
          </a:p>
        </p:txBody>
      </p:sp>
      <p:sp>
        <p:nvSpPr>
          <p:cNvPr id="17" name="Hexagon 16"/>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370332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Des concepts pas évidents à s'approprier pour tout le monde</a:t>
            </a:r>
          </a:p>
        </p:txBody>
      </p:sp>
      <p:sp>
        <p:nvSpPr>
          <p:cNvPr id="19" name="Rectangle 18"/>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Claude aide chacun à avancer. Mais chacun à sa façon.</a:t>
            </a:r>
          </a:p>
        </p:txBody>
      </p:sp>
      <p:pic>
        <p:nvPicPr>
          <p:cNvPr id="21"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2" name="TextBox 21"/>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3/28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p:cTn id="7" dur="500" fill="hold"/>
                                        <p:tgtEl>
                                          <p:spTgt spid="10"/>
                                        </p:tgtEl>
                                        <p:attrNameLst>
                                          <p:attrName>ppt_w</p:attrName>
                                        </p:attrNameLst>
                                      </p:cBhvr>
                                      <p:tavLst>
                                        <p:tav tm="0">
                                          <p:val>
                                            <p:fltVal val="0"/>
                                          </p:val>
                                        </p:tav>
                                        <p:tav tm="100000">
                                          <p:val>
                                            <p:strVal val="#ppt_w"/>
                                          </p:val>
                                        </p:tav>
                                      </p:tavLst>
                                    </p:anim>
                                    <p:anim calcmode="lin" valueType="num">
                                      <p:cBhvr>
                                        <p:cTn id="8" dur="500" fill="hold"/>
                                        <p:tgtEl>
                                          <p:spTgt spid="10"/>
                                        </p:tgtEl>
                                        <p:attrNameLst>
                                          <p:attrName>ppt_h</p:attrName>
                                        </p:attrNameLst>
                                      </p:cBhvr>
                                      <p:tavLst>
                                        <p:tav tm="0">
                                          <p:val>
                                            <p:fltVal val="0"/>
                                          </p:val>
                                        </p:tav>
                                        <p:tav tm="100000">
                                          <p:val>
                                            <p:strVal val="#ppt_h"/>
                                          </p:val>
                                        </p:tav>
                                      </p:tavLst>
                                    </p:anim>
                                    <p:animEffect transition="in" filter="fade">
                                      <p:cBhvr>
                                        <p:cTn id="9"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Le problème : ça diverge</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Chacun génère avec Claude Code dans son coin</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Chacun son CLAUDE.md global, ses habitudes, ses prompts</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Nouveau backend, nouvelle stack IaC : conventions ignorées</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Dockerfile, tests, CI, PR : huit devs, huit façons de faire</a:t>
            </a:r>
          </a:p>
        </p:txBody>
      </p:sp>
      <p:sp>
        <p:nvSpPr>
          <p:cNvPr id="18" name="Rectangle 17"/>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Même IA, même stack… et pourtant du code qui ne se ressemble pas.</a:t>
            </a:r>
          </a:p>
        </p:txBody>
      </p:sp>
      <p:pic>
        <p:nvPicPr>
          <p:cNvPr id="20" name="bee.png" descr="bee.png"/>
          <p:cNvPicPr>
            <a:picLocks noChangeAspect="1"/>
          </p:cNvPicPr>
          <p:nvPr/>
        </p:nvPicPr>
        <p:blipFill>
          <a:blip r:embed="rId3"/>
          <a:stretch>
            <a:fillRect/>
          </a:stretch>
        </p:blipFill>
        <p:spPr>
          <a:xfrm rot="600000">
            <a:off x="10835640" y="274320"/>
            <a:ext cx="813222" cy="960120"/>
          </a:xfrm>
          <a:prstGeom prst="rect">
            <a:avLst/>
          </a:prstGeom>
        </p:spPr>
      </p:pic>
      <p:pic>
        <p:nvPicPr>
          <p:cNvPr id="21"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2" name="TextBox 21"/>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4/28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0"/>
                                        </p:tgtEl>
                                        <p:attrNameLst>
                                          <p:attrName>style.visibility</p:attrName>
                                        </p:attrNameLst>
                                      </p:cBhvr>
                                      <p:to>
                                        <p:strVal val="visible"/>
                                      </p:to>
                                    </p:set>
                                    <p:anim calcmode="lin" valueType="num">
                                      <p:cBhvr>
                                        <p:cTn id="7" dur="500" fill="hold"/>
                                        <p:tgtEl>
                                          <p:spTgt spid="20"/>
                                        </p:tgtEl>
                                        <p:attrNameLst>
                                          <p:attrName>ppt_w</p:attrName>
                                        </p:attrNameLst>
                                      </p:cBhvr>
                                      <p:tavLst>
                                        <p:tav tm="0">
                                          <p:val>
                                            <p:fltVal val="0"/>
                                          </p:val>
                                        </p:tav>
                                        <p:tav tm="100000">
                                          <p:val>
                                            <p:strVal val="#ppt_w"/>
                                          </p:val>
                                        </p:tav>
                                      </p:tavLst>
                                    </p:anim>
                                    <p:anim calcmode="lin" valueType="num">
                                      <p:cBhvr>
                                        <p:cTn id="8" dur="500" fill="hold"/>
                                        <p:tgtEl>
                                          <p:spTgt spid="20"/>
                                        </p:tgtEl>
                                        <p:attrNameLst>
                                          <p:attrName>ppt_h</p:attrName>
                                        </p:attrNameLst>
                                      </p:cBhvr>
                                      <p:tavLst>
                                        <p:tav tm="0">
                                          <p:val>
                                            <p:fltVal val="0"/>
                                          </p:val>
                                        </p:tav>
                                        <p:tav tm="100000">
                                          <p:val>
                                            <p:strVal val="#ppt_h"/>
                                          </p:val>
                                        </p:tav>
                                      </p:tavLst>
                                    </p:anim>
                                    <p:animEffect transition="in" filter="fade">
                                      <p:cBhvr>
                                        <p:cTn id="9"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Première idée : un CLAUDE.md commun</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17320" y="3223260"/>
            <a:ext cx="9326880" cy="45720"/>
          </a:xfrm>
          <a:prstGeom prst="rect">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417320" y="3218688"/>
            <a:ext cx="2331720" cy="54864"/>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6070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1</a:t>
            </a:r>
          </a:p>
        </p:txBody>
      </p:sp>
      <p:sp>
        <p:nvSpPr>
          <p:cNvPr id="7" name="TextBox 6"/>
          <p:cNvSpPr txBox="1"/>
          <p:nvPr/>
        </p:nvSpPr>
        <p:spPr>
          <a:xfrm>
            <a:off x="27432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perso</a:t>
            </a:r>
          </a:p>
          <a:p>
            <a:pPr algn="ctr">
              <a:spcAft>
                <a:spcPts val="0"/>
              </a:spcAft>
            </a:pPr>
            <a:r>
              <a:rPr sz="1300">
                <a:solidFill>
                  <a:srgbClr val="5B6372"/>
                </a:solidFill>
                <a:latin typeface="Avenir Next"/>
              </a:rPr>
              <a:t>chacun son Claude</a:t>
            </a:r>
          </a:p>
        </p:txBody>
      </p:sp>
      <p:sp>
        <p:nvSpPr>
          <p:cNvPr id="8" name="Hexagon 7"/>
          <p:cNvSpPr/>
          <p:nvPr/>
        </p:nvSpPr>
        <p:spPr>
          <a:xfrm>
            <a:off x="3268980" y="2766060"/>
            <a:ext cx="960120" cy="960120"/>
          </a:xfrm>
          <a:prstGeom prst="hexagon">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600" b="1">
                <a:solidFill>
                  <a:srgbClr val="FFFFFF"/>
                </a:solidFill>
                <a:latin typeface="Avenir Next"/>
              </a:rPr>
              <a:t>2</a:t>
            </a:r>
          </a:p>
        </p:txBody>
      </p:sp>
      <p:sp>
        <p:nvSpPr>
          <p:cNvPr id="9" name="TextBox 8"/>
          <p:cNvSpPr txBox="1"/>
          <p:nvPr/>
        </p:nvSpPr>
        <p:spPr>
          <a:xfrm>
            <a:off x="2606040" y="3931920"/>
            <a:ext cx="2286000" cy="1280160"/>
          </a:xfrm>
          <a:prstGeom prst="rect">
            <a:avLst/>
          </a:prstGeom>
          <a:noFill/>
        </p:spPr>
        <p:txBody>
          <a:bodyPr wrap="square" lIns="0" rIns="0" tIns="0" bIns="0">
            <a:spAutoFit/>
          </a:bodyPr>
          <a:lstStyle/>
          <a:p>
            <a:pPr algn="ctr">
              <a:spcAft>
                <a:spcPts val="400"/>
              </a:spcAft>
            </a:pPr>
            <a:r>
              <a:rPr sz="1700" b="1">
                <a:solidFill>
                  <a:srgbClr val="14141A"/>
                </a:solidFill>
                <a:latin typeface="Avenir Next"/>
              </a:rPr>
              <a:t>CLAUDE.md partagé</a:t>
            </a:r>
          </a:p>
          <a:p>
            <a:pPr algn="ctr">
              <a:spcAft>
                <a:spcPts val="0"/>
              </a:spcAft>
            </a:pPr>
            <a:r>
              <a:rPr sz="1300">
                <a:solidFill>
                  <a:srgbClr val="2A2F3A"/>
                </a:solidFill>
                <a:latin typeface="Avenir Next"/>
              </a:rPr>
              <a:t>un fichier pour tous</a:t>
            </a:r>
          </a:p>
        </p:txBody>
      </p:sp>
      <p:pic>
        <p:nvPicPr>
          <p:cNvPr id="10" name="bee_happy.png" descr="bee_happy.png"/>
          <p:cNvPicPr>
            <a:picLocks noChangeAspect="1"/>
          </p:cNvPicPr>
          <p:nvPr/>
        </p:nvPicPr>
        <p:blipFill>
          <a:blip r:embed="rId2"/>
          <a:stretch>
            <a:fillRect/>
          </a:stretch>
        </p:blipFill>
        <p:spPr>
          <a:xfrm>
            <a:off x="3337560" y="1371601"/>
            <a:ext cx="953723" cy="1188720"/>
          </a:xfrm>
          <a:prstGeom prst="rect">
            <a:avLst/>
          </a:prstGeom>
        </p:spPr>
      </p:pic>
      <p:sp>
        <p:nvSpPr>
          <p:cNvPr id="11" name="Hexagon 10"/>
          <p:cNvSpPr/>
          <p:nvPr/>
        </p:nvSpPr>
        <p:spPr>
          <a:xfrm>
            <a:off x="572414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3</a:t>
            </a:r>
          </a:p>
        </p:txBody>
      </p:sp>
      <p:sp>
        <p:nvSpPr>
          <p:cNvPr id="12" name="TextBox 11"/>
          <p:cNvSpPr txBox="1"/>
          <p:nvPr/>
        </p:nvSpPr>
        <p:spPr>
          <a:xfrm>
            <a:off x="493776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Skills modulaires</a:t>
            </a:r>
          </a:p>
          <a:p>
            <a:pPr algn="ctr">
              <a:spcAft>
                <a:spcPts val="0"/>
              </a:spcAft>
            </a:pPr>
            <a:r>
              <a:rPr sz="1300">
                <a:solidFill>
                  <a:srgbClr val="5B6372"/>
                </a:solidFill>
                <a:latin typeface="Avenir Next"/>
              </a:rPr>
              <a:t>chargés à la demande</a:t>
            </a:r>
          </a:p>
        </p:txBody>
      </p:sp>
      <p:sp>
        <p:nvSpPr>
          <p:cNvPr id="13" name="Hexagon 12"/>
          <p:cNvSpPr/>
          <p:nvPr/>
        </p:nvSpPr>
        <p:spPr>
          <a:xfrm>
            <a:off x="805586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4</a:t>
            </a:r>
          </a:p>
        </p:txBody>
      </p:sp>
      <p:sp>
        <p:nvSpPr>
          <p:cNvPr id="14" name="TextBox 13"/>
          <p:cNvSpPr txBox="1"/>
          <p:nvPr/>
        </p:nvSpPr>
        <p:spPr>
          <a:xfrm>
            <a:off x="726948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Sync global</a:t>
            </a:r>
          </a:p>
          <a:p>
            <a:pPr algn="ctr">
              <a:spcAft>
                <a:spcPts val="0"/>
              </a:spcAft>
            </a:pPr>
            <a:r>
              <a:rPr sz="1300">
                <a:solidFill>
                  <a:srgbClr val="5B6372"/>
                </a:solidFill>
                <a:latin typeface="Avenir Next"/>
              </a:rPr>
              <a:t>~/.claude/skills</a:t>
            </a:r>
          </a:p>
        </p:txBody>
      </p:sp>
      <p:sp>
        <p:nvSpPr>
          <p:cNvPr id="15" name="Hexagon 14"/>
          <p:cNvSpPr/>
          <p:nvPr/>
        </p:nvSpPr>
        <p:spPr>
          <a:xfrm>
            <a:off x="1038758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5</a:t>
            </a:r>
          </a:p>
        </p:txBody>
      </p:sp>
      <p:sp>
        <p:nvSpPr>
          <p:cNvPr id="16" name="TextBox 15"/>
          <p:cNvSpPr txBox="1"/>
          <p:nvPr/>
        </p:nvSpPr>
        <p:spPr>
          <a:xfrm>
            <a:off x="960120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Skills par projet</a:t>
            </a:r>
          </a:p>
          <a:p>
            <a:pPr algn="ctr">
              <a:spcAft>
                <a:spcPts val="0"/>
              </a:spcAft>
            </a:pPr>
            <a:r>
              <a:rPr sz="1300">
                <a:solidFill>
                  <a:srgbClr val="5B6372"/>
                </a:solidFill>
                <a:latin typeface="Avenir Next"/>
              </a:rPr>
              <a:t>pollen.yaml</a:t>
            </a:r>
          </a:p>
        </p:txBody>
      </p:sp>
      <p:sp>
        <p:nvSpPr>
          <p:cNvPr id="17" name="Rectangle 16"/>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Un fichier pour tous : la bonne idée… pour un temps.</a:t>
            </a:r>
          </a:p>
        </p:txBody>
      </p:sp>
      <p:pic>
        <p:nvPicPr>
          <p:cNvPr id="19"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0" name="TextBox 19"/>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5/28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p:cTn id="7" dur="500" fill="hold"/>
                                        <p:tgtEl>
                                          <p:spTgt spid="10"/>
                                        </p:tgtEl>
                                        <p:attrNameLst>
                                          <p:attrName>ppt_w</p:attrName>
                                        </p:attrNameLst>
                                      </p:cBhvr>
                                      <p:tavLst>
                                        <p:tav tm="0">
                                          <p:val>
                                            <p:fltVal val="0"/>
                                          </p:val>
                                        </p:tav>
                                        <p:tav tm="100000">
                                          <p:val>
                                            <p:strVal val="#ppt_w"/>
                                          </p:val>
                                        </p:tav>
                                      </p:tavLst>
                                    </p:anim>
                                    <p:anim calcmode="lin" valueType="num">
                                      <p:cBhvr>
                                        <p:cTn id="8" dur="500" fill="hold"/>
                                        <p:tgtEl>
                                          <p:spTgt spid="10"/>
                                        </p:tgtEl>
                                        <p:attrNameLst>
                                          <p:attrName>ppt_h</p:attrName>
                                        </p:attrNameLst>
                                      </p:cBhvr>
                                      <p:tavLst>
                                        <p:tav tm="0">
                                          <p:val>
                                            <p:fltVal val="0"/>
                                          </p:val>
                                        </p:tav>
                                        <p:tav tm="100000">
                                          <p:val>
                                            <p:strVal val="#ppt_h"/>
                                          </p:val>
                                        </p:tav>
                                      </p:tavLst>
                                    </p:anim>
                                    <p:animEffect transition="in" filter="fade">
                                      <p:cBhvr>
                                        <p:cTn id="9"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Le CLAUDE.md qui grossit</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Ça marche… au début</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Chaque règle ajoutée pour tous, chargée à chaque session</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Un monolithe : Docker, Terragrunt, commits, tests… tout mélangé</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Coûteux en tokens, et du bruit pour l'IA</a:t>
            </a:r>
          </a:p>
        </p:txBody>
      </p:sp>
      <p:sp>
        <p:nvSpPr>
          <p:cNvPr id="18" name="Hexagon 17"/>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4340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Personne n'ose plus y toucher</a:t>
            </a:r>
          </a:p>
        </p:txBody>
      </p:sp>
      <p:sp>
        <p:nvSpPr>
          <p:cNvPr id="20" name="Rectangle 19"/>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On a recréé le monolithe qu'on refuse dans notre code.</a:t>
            </a:r>
          </a:p>
        </p:txBody>
      </p:sp>
      <p:pic>
        <p:nvPicPr>
          <p:cNvPr id="22" name="bee_cool.png" descr="bee_cool.png"/>
          <p:cNvPicPr>
            <a:picLocks noChangeAspect="1"/>
          </p:cNvPicPr>
          <p:nvPr/>
        </p:nvPicPr>
        <p:blipFill>
          <a:blip r:embed="rId3"/>
          <a:stretch>
            <a:fillRect/>
          </a:stretch>
        </p:blipFill>
        <p:spPr>
          <a:xfrm rot="21120000">
            <a:off x="10789920" y="274320"/>
            <a:ext cx="907143" cy="914400"/>
          </a:xfrm>
          <a:prstGeom prst="rect">
            <a:avLst/>
          </a:prstGeom>
        </p:spPr>
      </p:pic>
      <p:pic>
        <p:nvPicPr>
          <p:cNvPr id="23"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4" name="TextBox 23"/>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6/28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p:cTn id="7" dur="500" fill="hold"/>
                                        <p:tgtEl>
                                          <p:spTgt spid="22"/>
                                        </p:tgtEl>
                                        <p:attrNameLst>
                                          <p:attrName>ppt_w</p:attrName>
                                        </p:attrNameLst>
                                      </p:cBhvr>
                                      <p:tavLst>
                                        <p:tav tm="0">
                                          <p:val>
                                            <p:fltVal val="0"/>
                                          </p:val>
                                        </p:tav>
                                        <p:tav tm="100000">
                                          <p:val>
                                            <p:strVal val="#ppt_w"/>
                                          </p:val>
                                        </p:tav>
                                      </p:tavLst>
                                    </p:anim>
                                    <p:anim calcmode="lin" valueType="num">
                                      <p:cBhvr>
                                        <p:cTn id="8" dur="500" fill="hold"/>
                                        <p:tgtEl>
                                          <p:spTgt spid="22"/>
                                        </p:tgtEl>
                                        <p:attrNameLst>
                                          <p:attrName>ppt_h</p:attrName>
                                        </p:attrNameLst>
                                      </p:cBhvr>
                                      <p:tavLst>
                                        <p:tav tm="0">
                                          <p:val>
                                            <p:fltVal val="0"/>
                                          </p:val>
                                        </p:tav>
                                        <p:tav tm="100000">
                                          <p:val>
                                            <p:strVal val="#ppt_h"/>
                                          </p:val>
                                        </p:tav>
                                      </p:tavLst>
                                    </p:anim>
                                    <p:animEffect transition="in" filter="fade">
                                      <p:cBhvr>
                                        <p:cTn id="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Du monolithe aux modules : les skills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17320" y="3223260"/>
            <a:ext cx="9326880" cy="45720"/>
          </a:xfrm>
          <a:prstGeom prst="rect">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417320" y="3218688"/>
            <a:ext cx="4663440" cy="54864"/>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6070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1</a:t>
            </a:r>
          </a:p>
        </p:txBody>
      </p:sp>
      <p:sp>
        <p:nvSpPr>
          <p:cNvPr id="7" name="TextBox 6"/>
          <p:cNvSpPr txBox="1"/>
          <p:nvPr/>
        </p:nvSpPr>
        <p:spPr>
          <a:xfrm>
            <a:off x="27432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perso</a:t>
            </a:r>
          </a:p>
          <a:p>
            <a:pPr algn="ctr">
              <a:spcAft>
                <a:spcPts val="0"/>
              </a:spcAft>
            </a:pPr>
            <a:r>
              <a:rPr sz="1300">
                <a:solidFill>
                  <a:srgbClr val="5B6372"/>
                </a:solidFill>
                <a:latin typeface="Avenir Next"/>
              </a:rPr>
              <a:t>chacun son Claude</a:t>
            </a:r>
          </a:p>
        </p:txBody>
      </p:sp>
      <p:sp>
        <p:nvSpPr>
          <p:cNvPr id="8" name="Hexagon 7"/>
          <p:cNvSpPr/>
          <p:nvPr/>
        </p:nvSpPr>
        <p:spPr>
          <a:xfrm>
            <a:off x="3392424" y="2889504"/>
            <a:ext cx="713232" cy="713232"/>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2</a:t>
            </a:r>
          </a:p>
        </p:txBody>
      </p:sp>
      <p:sp>
        <p:nvSpPr>
          <p:cNvPr id="9" name="TextBox 8"/>
          <p:cNvSpPr txBox="1"/>
          <p:nvPr/>
        </p:nvSpPr>
        <p:spPr>
          <a:xfrm>
            <a:off x="260604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partagé</a:t>
            </a:r>
          </a:p>
          <a:p>
            <a:pPr algn="ctr">
              <a:spcAft>
                <a:spcPts val="0"/>
              </a:spcAft>
            </a:pPr>
            <a:r>
              <a:rPr sz="1300">
                <a:solidFill>
                  <a:srgbClr val="5B6372"/>
                </a:solidFill>
                <a:latin typeface="Avenir Next"/>
              </a:rPr>
              <a:t>un fichier pour tous</a:t>
            </a:r>
          </a:p>
        </p:txBody>
      </p:sp>
      <p:sp>
        <p:nvSpPr>
          <p:cNvPr id="10" name="Hexagon 9"/>
          <p:cNvSpPr/>
          <p:nvPr/>
        </p:nvSpPr>
        <p:spPr>
          <a:xfrm>
            <a:off x="5600700" y="2766060"/>
            <a:ext cx="960120" cy="960120"/>
          </a:xfrm>
          <a:prstGeom prst="hexagon">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600" b="1">
                <a:solidFill>
                  <a:srgbClr val="FFFFFF"/>
                </a:solidFill>
                <a:latin typeface="Avenir Next"/>
              </a:rPr>
              <a:t>3</a:t>
            </a:r>
          </a:p>
        </p:txBody>
      </p:sp>
      <p:sp>
        <p:nvSpPr>
          <p:cNvPr id="11" name="TextBox 10"/>
          <p:cNvSpPr txBox="1"/>
          <p:nvPr/>
        </p:nvSpPr>
        <p:spPr>
          <a:xfrm>
            <a:off x="4937760" y="3931920"/>
            <a:ext cx="2286000" cy="1280160"/>
          </a:xfrm>
          <a:prstGeom prst="rect">
            <a:avLst/>
          </a:prstGeom>
          <a:noFill/>
        </p:spPr>
        <p:txBody>
          <a:bodyPr wrap="square" lIns="0" rIns="0" tIns="0" bIns="0">
            <a:spAutoFit/>
          </a:bodyPr>
          <a:lstStyle/>
          <a:p>
            <a:pPr algn="ctr">
              <a:spcAft>
                <a:spcPts val="400"/>
              </a:spcAft>
            </a:pPr>
            <a:r>
              <a:rPr sz="1700" b="1">
                <a:solidFill>
                  <a:srgbClr val="14141A"/>
                </a:solidFill>
                <a:latin typeface="Avenir Next"/>
              </a:rPr>
              <a:t>Skills modulaires</a:t>
            </a:r>
          </a:p>
          <a:p>
            <a:pPr algn="ctr">
              <a:spcAft>
                <a:spcPts val="0"/>
              </a:spcAft>
            </a:pPr>
            <a:r>
              <a:rPr sz="1300">
                <a:solidFill>
                  <a:srgbClr val="2A2F3A"/>
                </a:solidFill>
                <a:latin typeface="Avenir Next"/>
              </a:rPr>
              <a:t>chargés à la demande</a:t>
            </a:r>
          </a:p>
        </p:txBody>
      </p:sp>
      <p:pic>
        <p:nvPicPr>
          <p:cNvPr id="12" name="bee.png" descr="bee.png"/>
          <p:cNvPicPr>
            <a:picLocks noChangeAspect="1"/>
          </p:cNvPicPr>
          <p:nvPr/>
        </p:nvPicPr>
        <p:blipFill>
          <a:blip r:embed="rId2"/>
          <a:stretch>
            <a:fillRect/>
          </a:stretch>
        </p:blipFill>
        <p:spPr>
          <a:xfrm>
            <a:off x="5669280" y="1371601"/>
            <a:ext cx="1006846" cy="1188720"/>
          </a:xfrm>
          <a:prstGeom prst="rect">
            <a:avLst/>
          </a:prstGeom>
        </p:spPr>
      </p:pic>
      <p:sp>
        <p:nvSpPr>
          <p:cNvPr id="13" name="Hexagon 12"/>
          <p:cNvSpPr/>
          <p:nvPr/>
        </p:nvSpPr>
        <p:spPr>
          <a:xfrm>
            <a:off x="805586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4</a:t>
            </a:r>
          </a:p>
        </p:txBody>
      </p:sp>
      <p:sp>
        <p:nvSpPr>
          <p:cNvPr id="14" name="TextBox 13"/>
          <p:cNvSpPr txBox="1"/>
          <p:nvPr/>
        </p:nvSpPr>
        <p:spPr>
          <a:xfrm>
            <a:off x="726948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Sync global</a:t>
            </a:r>
          </a:p>
          <a:p>
            <a:pPr algn="ctr">
              <a:spcAft>
                <a:spcPts val="0"/>
              </a:spcAft>
            </a:pPr>
            <a:r>
              <a:rPr sz="1300">
                <a:solidFill>
                  <a:srgbClr val="5B6372"/>
                </a:solidFill>
                <a:latin typeface="Avenir Next"/>
              </a:rPr>
              <a:t>~/.claude/skills</a:t>
            </a:r>
          </a:p>
        </p:txBody>
      </p:sp>
      <p:sp>
        <p:nvSpPr>
          <p:cNvPr id="15" name="Hexagon 14"/>
          <p:cNvSpPr/>
          <p:nvPr/>
        </p:nvSpPr>
        <p:spPr>
          <a:xfrm>
            <a:off x="1038758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5</a:t>
            </a:r>
          </a:p>
        </p:txBody>
      </p:sp>
      <p:sp>
        <p:nvSpPr>
          <p:cNvPr id="16" name="TextBox 15"/>
          <p:cNvSpPr txBox="1"/>
          <p:nvPr/>
        </p:nvSpPr>
        <p:spPr>
          <a:xfrm>
            <a:off x="960120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Skills par projet</a:t>
            </a:r>
          </a:p>
          <a:p>
            <a:pPr algn="ctr">
              <a:spcAft>
                <a:spcPts val="0"/>
              </a:spcAft>
            </a:pPr>
            <a:r>
              <a:rPr sz="1300">
                <a:solidFill>
                  <a:srgbClr val="5B6372"/>
                </a:solidFill>
                <a:latin typeface="Avenir Next"/>
              </a:rPr>
              <a:t>pollen.yaml</a:t>
            </a:r>
          </a:p>
        </p:txBody>
      </p:sp>
      <p:sp>
        <p:nvSpPr>
          <p:cNvPr id="17" name="Rectangle 16"/>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Découper, et ne charger que ce dont la tâche a besoin.</a:t>
            </a:r>
          </a:p>
        </p:txBody>
      </p:sp>
      <p:pic>
        <p:nvPicPr>
          <p:cNvPr id="19"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0" name="TextBox 19"/>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7/28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p:cTn id="7" dur="500" fill="hold"/>
                                        <p:tgtEl>
                                          <p:spTgt spid="12"/>
                                        </p:tgtEl>
                                        <p:attrNameLst>
                                          <p:attrName>ppt_w</p:attrName>
                                        </p:attrNameLst>
                                      </p:cBhvr>
                                      <p:tavLst>
                                        <p:tav tm="0">
                                          <p:val>
                                            <p:fltVal val="0"/>
                                          </p:val>
                                        </p:tav>
                                        <p:tav tm="100000">
                                          <p:val>
                                            <p:strVal val="#ppt_w"/>
                                          </p:val>
                                        </p:tav>
                                      </p:tavLst>
                                    </p:anim>
                                    <p:anim calcmode="lin" valueType="num">
                                      <p:cBhvr>
                                        <p:cTn id="8" dur="500" fill="hold"/>
                                        <p:tgtEl>
                                          <p:spTgt spid="12"/>
                                        </p:tgtEl>
                                        <p:attrNameLst>
                                          <p:attrName>ppt_h</p:attrName>
                                        </p:attrNameLst>
                                      </p:cBhvr>
                                      <p:tavLst>
                                        <p:tav tm="0">
                                          <p:val>
                                            <p:fltVal val="0"/>
                                          </p:val>
                                        </p:tav>
                                        <p:tav tm="100000">
                                          <p:val>
                                            <p:strVal val="#ppt_h"/>
                                          </p:val>
                                        </p:tav>
                                      </p:tavLst>
                                    </p:anim>
                                    <p:animEffect transition="in" filter="fade">
                                      <p:cBhvr>
                                        <p:cTn id="9"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Anatomie d'un skill</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255264"/>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skills/docker/docker-image-conventions/SKILL.md</a:t>
            </a:r>
          </a:p>
          <a:p>
            <a:pPr algn="l">
              <a:spcAft>
                <a:spcPts val="0"/>
              </a:spcAft>
            </a:pPr>
            <a:r>
              <a:rPr sz="1400">
                <a:solidFill>
                  <a:srgbClr val="E8EAF2"/>
                </a:solidFill>
                <a:latin typeface="Consolas"/>
              </a:rPr>
              <a:t>---</a:t>
            </a:r>
          </a:p>
          <a:p>
            <a:pPr algn="l">
              <a:spcAft>
                <a:spcPts val="0"/>
              </a:spcAft>
            </a:pPr>
            <a:r>
              <a:rPr sz="1400">
                <a:solidFill>
                  <a:srgbClr val="E8EAF2"/>
                </a:solidFill>
                <a:latin typeface="Consolas"/>
              </a:rPr>
              <a:t>name: docker-image-conventions</a:t>
            </a:r>
          </a:p>
          <a:p>
            <a:pPr algn="l">
              <a:spcAft>
                <a:spcPts val="0"/>
              </a:spcAft>
            </a:pPr>
            <a:r>
              <a:rPr sz="1400">
                <a:solidFill>
                  <a:srgbClr val="E8EAF2"/>
                </a:solidFill>
                <a:latin typeface="Consolas"/>
              </a:rPr>
              <a:t>description: Stack-agnostic conventions for production Dockerfiles —</a:t>
            </a:r>
          </a:p>
          <a:p>
            <a:pPr algn="l">
              <a:spcAft>
                <a:spcPts val="0"/>
              </a:spcAft>
            </a:pPr>
            <a:r>
              <a:rPr sz="1400">
                <a:solidFill>
                  <a:srgbClr val="E8EAF2"/>
                </a:solidFill>
                <a:latin typeface="Consolas"/>
              </a:rPr>
              <a:t>  multi-stage, non-root at runtime, smallest viable base image...</a:t>
            </a:r>
          </a:p>
          <a:p>
            <a:pPr algn="l">
              <a:spcAft>
                <a:spcPts val="0"/>
              </a:spcAft>
            </a:pPr>
            <a:r>
              <a:rPr sz="1400">
                <a:solidFill>
                  <a:srgbClr val="E8EAF2"/>
                </a:solidFill>
                <a:latin typeface="Consolas"/>
              </a:rPr>
              <a:t>  Trigger when creating, editing, or reviewing any Dockerfile.</a:t>
            </a:r>
          </a:p>
          <a:p>
            <a:pPr algn="l">
              <a:spcAft>
                <a:spcPts val="0"/>
              </a:spcAft>
            </a:pPr>
            <a:r>
              <a:rPr sz="1400">
                <a:solidFill>
                  <a:srgbClr val="E8EAF2"/>
                </a:solidFill>
                <a:latin typeface="Consolas"/>
              </a:rPr>
              <a:t>---</a:t>
            </a:r>
          </a:p>
          <a:p>
            <a:pPr algn="l">
              <a:spcAft>
                <a:spcPts val="0"/>
              </a:spcAft>
            </a:pPr>
            <a:r>
              <a:rPr sz="1400">
                <a:solidFill>
                  <a:srgbClr val="E8EAF2"/>
                </a:solidFill>
                <a:latin typeface="Consolas"/>
              </a:rPr>
              <a:t> </a:t>
            </a:r>
          </a:p>
          <a:p>
            <a:pPr algn="l">
              <a:spcAft>
                <a:spcPts val="0"/>
              </a:spcAft>
            </a:pPr>
            <a:r>
              <a:rPr sz="1400">
                <a:solidFill>
                  <a:srgbClr val="00B5FB"/>
                </a:solidFill>
                <a:latin typeface="Consolas"/>
              </a:rPr>
              <a:t># Production Docker images — multi-stage + non-root</a:t>
            </a:r>
          </a:p>
          <a:p>
            <a:pPr algn="l">
              <a:spcAft>
                <a:spcPts val="0"/>
              </a:spcAft>
            </a:pPr>
            <a:r>
              <a:rPr sz="1400">
                <a:solidFill>
                  <a:srgbClr val="E8EAF2"/>
                </a:solidFill>
                <a:latin typeface="Consolas"/>
              </a:rPr>
              <a:t>1. Multi-stage build : builder + runtime</a:t>
            </a:r>
          </a:p>
          <a:p>
            <a:pPr algn="l">
              <a:spcAft>
                <a:spcPts val="0"/>
              </a:spcAft>
            </a:pPr>
            <a:r>
              <a:rPr sz="1400">
                <a:solidFill>
                  <a:srgbClr val="E8EAF2"/>
                </a:solidFill>
                <a:latin typeface="Consolas"/>
              </a:rPr>
              <a:t>2. Non-root user at runtime</a:t>
            </a:r>
          </a:p>
          <a:p>
            <a:pPr algn="l">
              <a:spcAft>
                <a:spcPts val="0"/>
              </a:spcAft>
            </a:pPr>
            <a:r>
              <a:rPr sz="1400">
                <a:solidFill>
                  <a:srgbClr val="E8EAF2"/>
                </a:solidFill>
                <a:latin typeface="Consolas"/>
              </a:rPr>
              <a:t>...</a:t>
            </a:r>
          </a:p>
        </p:txBody>
      </p:sp>
      <p:sp>
        <p:nvSpPr>
          <p:cNvPr id="5" name="Rectangle 4"/>
          <p:cNvSpPr/>
          <p:nvPr/>
        </p:nvSpPr>
        <p:spPr>
          <a:xfrm>
            <a:off x="640080" y="1481328"/>
            <a:ext cx="64008" cy="3255264"/>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937760"/>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Seule la description est toujours chargée. Le corps, à la demande.</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8/28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Un skill, c'est un dossier</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721608"/>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E8EAF2"/>
                </a:solidFill>
                <a:latin typeface="Consolas"/>
              </a:rPr>
              <a:t>skills/</a:t>
            </a:r>
          </a:p>
          <a:p>
            <a:pPr algn="l">
              <a:spcAft>
                <a:spcPts val="0"/>
              </a:spcAft>
            </a:pPr>
            <a:r>
              <a:rPr sz="1400">
                <a:solidFill>
                  <a:srgbClr val="E8EAF2"/>
                </a:solidFill>
                <a:latin typeface="Consolas"/>
              </a:rPr>
              <a:t>├── docker/python-docker-multistage/</a:t>
            </a:r>
          </a:p>
          <a:p>
            <a:pPr algn="l">
              <a:spcAft>
                <a:spcPts val="0"/>
              </a:spcAft>
            </a:pPr>
            <a:r>
              <a:rPr sz="1400">
                <a:solidFill>
                  <a:srgbClr val="E8EAF2"/>
                </a:solidFill>
                <a:latin typeface="Consolas"/>
              </a:rPr>
              <a:t>│   ├── SKILL.md          # les règles : lu au déclenchement</a:t>
            </a:r>
          </a:p>
          <a:p>
            <a:pPr algn="l">
              <a:spcAft>
                <a:spcPts val="0"/>
              </a:spcAft>
            </a:pPr>
            <a:r>
              <a:rPr sz="1400">
                <a:solidFill>
                  <a:srgbClr val="E8EAF2"/>
                </a:solidFill>
                <a:latin typeface="Consolas"/>
              </a:rPr>
              <a:t>│   └── assets/           # copié dans le projet, puis adapté</a:t>
            </a:r>
          </a:p>
          <a:p>
            <a:pPr algn="l">
              <a:spcAft>
                <a:spcPts val="0"/>
              </a:spcAft>
            </a:pPr>
            <a:r>
              <a:rPr sz="1400">
                <a:solidFill>
                  <a:srgbClr val="E8EAF2"/>
                </a:solidFill>
                <a:latin typeface="Consolas"/>
              </a:rPr>
              <a:t>│       ├── Dockerfile</a:t>
            </a:r>
          </a:p>
          <a:p>
            <a:pPr algn="l">
              <a:spcAft>
                <a:spcPts val="0"/>
              </a:spcAft>
            </a:pPr>
            <a:r>
              <a:rPr sz="1400">
                <a:solidFill>
                  <a:srgbClr val="E8EAF2"/>
                </a:solidFill>
                <a:latin typeface="Consolas"/>
              </a:rPr>
              <a:t>│       └── dockerignore</a:t>
            </a:r>
          </a:p>
          <a:p>
            <a:pPr algn="l">
              <a:spcAft>
                <a:spcPts val="0"/>
              </a:spcAft>
            </a:pPr>
            <a:r>
              <a:rPr sz="1400">
                <a:solidFill>
                  <a:srgbClr val="E8EAF2"/>
                </a:solidFill>
                <a:latin typeface="Consolas"/>
              </a:rPr>
              <a:t>├── docker/docker-image-conventions/</a:t>
            </a:r>
          </a:p>
          <a:p>
            <a:pPr algn="l">
              <a:spcAft>
                <a:spcPts val="0"/>
              </a:spcAft>
            </a:pPr>
            <a:r>
              <a:rPr sz="1400">
                <a:solidFill>
                  <a:srgbClr val="E8EAF2"/>
                </a:solidFill>
                <a:latin typeface="Consolas"/>
              </a:rPr>
              <a:t>│   ├── SKILL.md</a:t>
            </a:r>
          </a:p>
          <a:p>
            <a:pPr algn="l">
              <a:spcAft>
                <a:spcPts val="0"/>
              </a:spcAft>
            </a:pPr>
            <a:r>
              <a:rPr sz="1400">
                <a:solidFill>
                  <a:srgbClr val="E8EAF2"/>
                </a:solidFill>
                <a:latin typeface="Consolas"/>
              </a:rPr>
              <a:t>│   └── references/       # lu seulement si la tâche le demande</a:t>
            </a:r>
          </a:p>
          <a:p>
            <a:pPr algn="l">
              <a:spcAft>
                <a:spcPts val="0"/>
              </a:spcAft>
            </a:pPr>
            <a:r>
              <a:rPr sz="1400">
                <a:solidFill>
                  <a:srgbClr val="E8EAF2"/>
                </a:solidFill>
                <a:latin typeface="Consolas"/>
              </a:rPr>
              <a:t>│       └── node.md  jvm.md  go.md  rust.md  nginx.md</a:t>
            </a:r>
          </a:p>
          <a:p>
            <a:pPr algn="l">
              <a:spcAft>
                <a:spcPts val="0"/>
              </a:spcAft>
            </a:pPr>
            <a:r>
              <a:rPr sz="1400">
                <a:solidFill>
                  <a:srgbClr val="E8EAF2"/>
                </a:solidFill>
                <a:latin typeface="Consolas"/>
              </a:rPr>
              <a:t>└── git/tag-groupbees/</a:t>
            </a:r>
          </a:p>
          <a:p>
            <a:pPr algn="l">
              <a:spcAft>
                <a:spcPts val="0"/>
              </a:spcAft>
            </a:pPr>
            <a:r>
              <a:rPr sz="1400">
                <a:solidFill>
                  <a:srgbClr val="E8EAF2"/>
                </a:solidFill>
                <a:latin typeface="Consolas"/>
              </a:rPr>
              <a:t>    ├── SKILL.md</a:t>
            </a:r>
          </a:p>
          <a:p>
            <a:pPr algn="l">
              <a:spcAft>
                <a:spcPts val="0"/>
              </a:spcAft>
            </a:pPr>
            <a:r>
              <a:rPr sz="1400">
                <a:solidFill>
                  <a:srgbClr val="E8EAF2"/>
                </a:solidFill>
                <a:latin typeface="Consolas"/>
              </a:rPr>
              <a:t>    └── scripts/          # exécuté, jamais lu : 0 token</a:t>
            </a:r>
          </a:p>
          <a:p>
            <a:pPr algn="l">
              <a:spcAft>
                <a:spcPts val="0"/>
              </a:spcAft>
            </a:pPr>
            <a:r>
              <a:rPr sz="1400">
                <a:solidFill>
                  <a:srgbClr val="E8EAF2"/>
                </a:solidFill>
                <a:latin typeface="Consolas"/>
              </a:rPr>
              <a:t>        └── pre-tag-check.sh</a:t>
            </a:r>
          </a:p>
        </p:txBody>
      </p:sp>
      <p:sp>
        <p:nvSpPr>
          <p:cNvPr id="5" name="Rectangle 4"/>
          <p:cNvSpPr/>
          <p:nvPr/>
        </p:nvSpPr>
        <p:spPr>
          <a:xfrm>
            <a:off x="640080" y="1481328"/>
            <a:ext cx="64008" cy="3721608"/>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404104"/>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SKILL.md dit quoi faire. scripts/, references/, assets/ : avec quoi.</a:t>
            </a:r>
          </a:p>
        </p:txBody>
      </p:sp>
      <p:pic>
        <p:nvPicPr>
          <p:cNvPr id="7" name="bee_cool.png" descr="bee_cool.png"/>
          <p:cNvPicPr>
            <a:picLocks noChangeAspect="1"/>
          </p:cNvPicPr>
          <p:nvPr/>
        </p:nvPicPr>
        <p:blipFill>
          <a:blip r:embed="rId3"/>
          <a:stretch>
            <a:fillRect/>
          </a:stretch>
        </p:blipFill>
        <p:spPr>
          <a:xfrm rot="480000">
            <a:off x="10835640" y="228600"/>
            <a:ext cx="907143" cy="914400"/>
          </a:xfrm>
          <a:prstGeom prst="rect">
            <a:avLst/>
          </a:prstGeom>
        </p:spPr>
      </p:pic>
      <p:pic>
        <p:nvPicPr>
          <p:cNvPr id="8"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9" name="TextBox 8"/>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9/28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p:cTn id="7" dur="500" fill="hold"/>
                                        <p:tgtEl>
                                          <p:spTgt spid="7"/>
                                        </p:tgtEl>
                                        <p:attrNameLst>
                                          <p:attrName>ppt_w</p:attrName>
                                        </p:attrNameLst>
                                      </p:cBhvr>
                                      <p:tavLst>
                                        <p:tav tm="0">
                                          <p:val>
                                            <p:fltVal val="0"/>
                                          </p:val>
                                        </p:tav>
                                        <p:tav tm="100000">
                                          <p:val>
                                            <p:strVal val="#ppt_w"/>
                                          </p:val>
                                        </p:tav>
                                      </p:tavLst>
                                    </p:anim>
                                    <p:anim calcmode="lin" valueType="num">
                                      <p:cBhvr>
                                        <p:cTn id="8" dur="500" fill="hold"/>
                                        <p:tgtEl>
                                          <p:spTgt spid="7"/>
                                        </p:tgtEl>
                                        <p:attrNameLst>
                                          <p:attrName>ppt_h</p:attrName>
                                        </p:attrNameLst>
                                      </p:cBhvr>
                                      <p:tavLst>
                                        <p:tav tm="0">
                                          <p:val>
                                            <p:fltVal val="0"/>
                                          </p:val>
                                        </p:tav>
                                        <p:tav tm="100000">
                                          <p:val>
                                            <p:strVal val="#ppt_h"/>
                                          </p:val>
                                        </p:tav>
                                      </p:tavLst>
                                    </p:anim>
                                    <p:animEffect transition="in" filter="fade">
                                      <p:cBhvr>
                                        <p:cTn id="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CLAUDE.md monolithe vs skills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600200"/>
            <a:ext cx="5257800" cy="3794760"/>
          </a:xfrm>
          <a:prstGeom prst="rect">
            <a:avLst/>
          </a:prstGeom>
          <a:solidFill>
            <a:srgbClr val="F3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00200"/>
            <a:ext cx="5257800" cy="64008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CLAUDE.md monolithe</a:t>
            </a:r>
          </a:p>
        </p:txBody>
      </p:sp>
      <p:sp>
        <p:nvSpPr>
          <p:cNvPr id="6" name="Hexagon 5"/>
          <p:cNvSpPr/>
          <p:nvPr/>
        </p:nvSpPr>
        <p:spPr>
          <a:xfrm>
            <a:off x="914400" y="2606040"/>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2514600"/>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Tout chargé, tout le temps</a:t>
            </a:r>
          </a:p>
        </p:txBody>
      </p:sp>
      <p:sp>
        <p:nvSpPr>
          <p:cNvPr id="8" name="Hexagon 7"/>
          <p:cNvSpPr/>
          <p:nvPr/>
        </p:nvSpPr>
        <p:spPr>
          <a:xfrm>
            <a:off x="914400" y="3172968"/>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3081528"/>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Un fichier, tous les sujets</a:t>
            </a:r>
          </a:p>
        </p:txBody>
      </p:sp>
      <p:sp>
        <p:nvSpPr>
          <p:cNvPr id="10" name="Hexagon 9"/>
          <p:cNvSpPr/>
          <p:nvPr/>
        </p:nvSpPr>
        <p:spPr>
          <a:xfrm>
            <a:off x="914400" y="3739896"/>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3648456"/>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Relu par personne</a:t>
            </a:r>
          </a:p>
        </p:txBody>
      </p:sp>
      <p:sp>
        <p:nvSpPr>
          <p:cNvPr id="12" name="Hexagon 11"/>
          <p:cNvSpPr/>
          <p:nvPr/>
        </p:nvSpPr>
        <p:spPr>
          <a:xfrm>
            <a:off x="914400" y="4306824"/>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4440" y="4215384"/>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Spécifique à un outil</a:t>
            </a:r>
          </a:p>
        </p:txBody>
      </p:sp>
      <p:sp>
        <p:nvSpPr>
          <p:cNvPr id="14" name="Rectangle 13"/>
          <p:cNvSpPr/>
          <p:nvPr/>
        </p:nvSpPr>
        <p:spPr>
          <a:xfrm>
            <a:off x="6263640" y="1600200"/>
            <a:ext cx="5257800" cy="3794760"/>
          </a:xfrm>
          <a:prstGeom prst="rect">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1600200"/>
            <a:ext cx="5257800" cy="64008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Skills</a:t>
            </a:r>
          </a:p>
        </p:txBody>
      </p:sp>
      <p:sp>
        <p:nvSpPr>
          <p:cNvPr id="16" name="Hexagon 15"/>
          <p:cNvSpPr/>
          <p:nvPr/>
        </p:nvSpPr>
        <p:spPr>
          <a:xfrm>
            <a:off x="6537960" y="2606040"/>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0" y="2514600"/>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Chargés quand la tâche le demande</a:t>
            </a:r>
          </a:p>
        </p:txBody>
      </p:sp>
      <p:sp>
        <p:nvSpPr>
          <p:cNvPr id="18" name="Hexagon 17"/>
          <p:cNvSpPr/>
          <p:nvPr/>
        </p:nvSpPr>
        <p:spPr>
          <a:xfrm>
            <a:off x="6537960" y="3172968"/>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0" y="3081528"/>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Un skill = une convention</a:t>
            </a:r>
          </a:p>
        </p:txBody>
      </p:sp>
      <p:sp>
        <p:nvSpPr>
          <p:cNvPr id="20" name="Hexagon 19"/>
          <p:cNvSpPr/>
          <p:nvPr/>
        </p:nvSpPr>
        <p:spPr>
          <a:xfrm>
            <a:off x="6537960" y="3739896"/>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0" y="3648456"/>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Versionnés et relus en PR</a:t>
            </a:r>
          </a:p>
        </p:txBody>
      </p:sp>
      <p:sp>
        <p:nvSpPr>
          <p:cNvPr id="22" name="Hexagon 21"/>
          <p:cNvSpPr/>
          <p:nvPr/>
        </p:nvSpPr>
        <p:spPr>
          <a:xfrm>
            <a:off x="6537960" y="4306824"/>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0" y="4215384"/>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Standard ouvert, multi-agents</a:t>
            </a:r>
          </a:p>
        </p:txBody>
      </p:sp>
      <p:sp>
        <p:nvSpPr>
          <p:cNvPr id="24" name="Rectangle 23"/>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Le CLAUDE.md reste : fin, pour le contexte du projet.</a:t>
            </a:r>
          </a:p>
        </p:txBody>
      </p:sp>
      <p:pic>
        <p:nvPicPr>
          <p:cNvPr id="26"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27" name="TextBox 26"/>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10/28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Modulariser : des domaines qui se composent</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255264"/>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E8EAF2"/>
                </a:solidFill>
                <a:latin typeface="Consolas"/>
              </a:rPr>
              <a:t>skills/</a:t>
            </a:r>
          </a:p>
          <a:p>
            <a:pPr algn="l">
              <a:spcAft>
                <a:spcPts val="0"/>
              </a:spcAft>
            </a:pPr>
            <a:r>
              <a:rPr sz="1400">
                <a:solidFill>
                  <a:srgbClr val="E8EAF2"/>
                </a:solidFill>
                <a:latin typeface="Consolas"/>
              </a:rPr>
              <a:t>├── docker/</a:t>
            </a:r>
          </a:p>
          <a:p>
            <a:pPr algn="l">
              <a:spcAft>
                <a:spcPts val="0"/>
              </a:spcAft>
            </a:pPr>
            <a:r>
              <a:rPr sz="1400">
                <a:solidFill>
                  <a:srgbClr val="E8EAF2"/>
                </a:solidFill>
                <a:latin typeface="Consolas"/>
              </a:rPr>
              <a:t>│   ├── docker-image-conventions/   # universel : multi-stage, non-root</a:t>
            </a:r>
          </a:p>
          <a:p>
            <a:pPr algn="l">
              <a:spcAft>
                <a:spcPts val="0"/>
              </a:spcAft>
            </a:pPr>
            <a:r>
              <a:rPr sz="1400">
                <a:solidFill>
                  <a:srgbClr val="E8EAF2"/>
                </a:solidFill>
                <a:latin typeface="Consolas"/>
              </a:rPr>
              <a:t>│   └── python-docker-multistage/   # + Python : uv, slim vs alpine</a:t>
            </a:r>
          </a:p>
          <a:p>
            <a:pPr algn="l">
              <a:spcAft>
                <a:spcPts val="0"/>
              </a:spcAft>
            </a:pPr>
            <a:r>
              <a:rPr sz="1400">
                <a:solidFill>
                  <a:srgbClr val="E8EAF2"/>
                </a:solidFill>
                <a:latin typeface="Consolas"/>
              </a:rPr>
              <a:t>├── env/</a:t>
            </a:r>
          </a:p>
          <a:p>
            <a:pPr algn="l">
              <a:spcAft>
                <a:spcPts val="0"/>
              </a:spcAft>
            </a:pPr>
            <a:r>
              <a:rPr sz="1400">
                <a:solidFill>
                  <a:srgbClr val="E8EAF2"/>
                </a:solidFill>
                <a:latin typeface="Consolas"/>
              </a:rPr>
              <a:t>│   └── direnv-local-env/           # universel : .envrc, pas de .env</a:t>
            </a:r>
          </a:p>
          <a:p>
            <a:pPr algn="l">
              <a:spcAft>
                <a:spcPts val="0"/>
              </a:spcAft>
            </a:pPr>
            <a:r>
              <a:rPr sz="1400">
                <a:solidFill>
                  <a:srgbClr val="E8EAF2"/>
                </a:solidFill>
                <a:latin typeface="Consolas"/>
              </a:rPr>
              <a:t>├── python/</a:t>
            </a:r>
          </a:p>
          <a:p>
            <a:pPr algn="l">
              <a:spcAft>
                <a:spcPts val="0"/>
              </a:spcAft>
            </a:pPr>
            <a:r>
              <a:rPr sz="1400">
                <a:solidFill>
                  <a:srgbClr val="E8EAF2"/>
                </a:solidFill>
                <a:latin typeface="Consolas"/>
              </a:rPr>
              <a:t>│   ├── python-uv-direnv/           # + Python : venv uv via direnv</a:t>
            </a:r>
          </a:p>
          <a:p>
            <a:pPr algn="l">
              <a:spcAft>
                <a:spcPts val="0"/>
              </a:spcAft>
            </a:pPr>
            <a:r>
              <a:rPr sz="1400">
                <a:solidFill>
                  <a:srgbClr val="E8EAF2"/>
                </a:solidFill>
                <a:latin typeface="Consolas"/>
              </a:rPr>
              <a:t>│   └── python-hexagonal-clean-archi/</a:t>
            </a:r>
          </a:p>
          <a:p>
            <a:pPr algn="l">
              <a:spcAft>
                <a:spcPts val="0"/>
              </a:spcAft>
            </a:pPr>
            <a:r>
              <a:rPr sz="1400">
                <a:solidFill>
                  <a:srgbClr val="E8EAF2"/>
                </a:solidFill>
                <a:latin typeface="Consolas"/>
              </a:rPr>
              <a:t>├── git/        # commit-, pr-, tag-groupbees</a:t>
            </a:r>
          </a:p>
          <a:p>
            <a:pPr algn="l">
              <a:spcAft>
                <a:spcPts val="0"/>
              </a:spcAft>
            </a:pPr>
            <a:r>
              <a:rPr sz="1400">
                <a:solidFill>
                  <a:srgbClr val="E8EAF2"/>
                </a:solidFill>
                <a:latin typeface="Consolas"/>
              </a:rPr>
              <a:t>├── gcp/        # cloud-run-iap</a:t>
            </a:r>
          </a:p>
          <a:p>
            <a:pPr algn="l">
              <a:spcAft>
                <a:spcPts val="0"/>
              </a:spcAft>
            </a:pPr>
            <a:r>
              <a:rPr sz="1400">
                <a:solidFill>
                  <a:srgbClr val="E8EAF2"/>
                </a:solidFill>
                <a:latin typeface="Consolas"/>
              </a:rPr>
              <a:t>└── terraform/  # terragrunt-modular-style</a:t>
            </a:r>
          </a:p>
        </p:txBody>
      </p:sp>
      <p:sp>
        <p:nvSpPr>
          <p:cNvPr id="5" name="Rectangle 4"/>
          <p:cNvSpPr/>
          <p:nvPr/>
        </p:nvSpPr>
        <p:spPr>
          <a:xfrm>
            <a:off x="640080" y="1481328"/>
            <a:ext cx="64008" cy="3255264"/>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937760"/>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Un skill générique + un skill qui le spécialise, plutôt qu'un gros skill.</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11/28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Partager : un catalogue synchronisé en global</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17320" y="3223260"/>
            <a:ext cx="9326880" cy="45720"/>
          </a:xfrm>
          <a:prstGeom prst="rect">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417320" y="3218688"/>
            <a:ext cx="6995160" cy="54864"/>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6070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1</a:t>
            </a:r>
          </a:p>
        </p:txBody>
      </p:sp>
      <p:sp>
        <p:nvSpPr>
          <p:cNvPr id="7" name="TextBox 6"/>
          <p:cNvSpPr txBox="1"/>
          <p:nvPr/>
        </p:nvSpPr>
        <p:spPr>
          <a:xfrm>
            <a:off x="27432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perso</a:t>
            </a:r>
          </a:p>
          <a:p>
            <a:pPr algn="ctr">
              <a:spcAft>
                <a:spcPts val="0"/>
              </a:spcAft>
            </a:pPr>
            <a:r>
              <a:rPr sz="1300">
                <a:solidFill>
                  <a:srgbClr val="5B6372"/>
                </a:solidFill>
                <a:latin typeface="Avenir Next"/>
              </a:rPr>
              <a:t>chacun son Claude</a:t>
            </a:r>
          </a:p>
        </p:txBody>
      </p:sp>
      <p:sp>
        <p:nvSpPr>
          <p:cNvPr id="8" name="Hexagon 7"/>
          <p:cNvSpPr/>
          <p:nvPr/>
        </p:nvSpPr>
        <p:spPr>
          <a:xfrm>
            <a:off x="3392424" y="2889504"/>
            <a:ext cx="713232" cy="713232"/>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2</a:t>
            </a:r>
          </a:p>
        </p:txBody>
      </p:sp>
      <p:sp>
        <p:nvSpPr>
          <p:cNvPr id="9" name="TextBox 8"/>
          <p:cNvSpPr txBox="1"/>
          <p:nvPr/>
        </p:nvSpPr>
        <p:spPr>
          <a:xfrm>
            <a:off x="260604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partagé</a:t>
            </a:r>
          </a:p>
          <a:p>
            <a:pPr algn="ctr">
              <a:spcAft>
                <a:spcPts val="0"/>
              </a:spcAft>
            </a:pPr>
            <a:r>
              <a:rPr sz="1300">
                <a:solidFill>
                  <a:srgbClr val="5B6372"/>
                </a:solidFill>
                <a:latin typeface="Avenir Next"/>
              </a:rPr>
              <a:t>un fichier pour tous</a:t>
            </a:r>
          </a:p>
        </p:txBody>
      </p:sp>
      <p:sp>
        <p:nvSpPr>
          <p:cNvPr id="10" name="Hexagon 9"/>
          <p:cNvSpPr/>
          <p:nvPr/>
        </p:nvSpPr>
        <p:spPr>
          <a:xfrm>
            <a:off x="572414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3</a:t>
            </a:r>
          </a:p>
        </p:txBody>
      </p:sp>
      <p:sp>
        <p:nvSpPr>
          <p:cNvPr id="11" name="TextBox 10"/>
          <p:cNvSpPr txBox="1"/>
          <p:nvPr/>
        </p:nvSpPr>
        <p:spPr>
          <a:xfrm>
            <a:off x="493776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Skills modulaires</a:t>
            </a:r>
          </a:p>
          <a:p>
            <a:pPr algn="ctr">
              <a:spcAft>
                <a:spcPts val="0"/>
              </a:spcAft>
            </a:pPr>
            <a:r>
              <a:rPr sz="1300">
                <a:solidFill>
                  <a:srgbClr val="5B6372"/>
                </a:solidFill>
                <a:latin typeface="Avenir Next"/>
              </a:rPr>
              <a:t>chargés à la demande</a:t>
            </a:r>
          </a:p>
        </p:txBody>
      </p:sp>
      <p:sp>
        <p:nvSpPr>
          <p:cNvPr id="12" name="Hexagon 11"/>
          <p:cNvSpPr/>
          <p:nvPr/>
        </p:nvSpPr>
        <p:spPr>
          <a:xfrm>
            <a:off x="7932420" y="2766060"/>
            <a:ext cx="960120" cy="960120"/>
          </a:xfrm>
          <a:prstGeom prst="hexagon">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600" b="1">
                <a:solidFill>
                  <a:srgbClr val="FFFFFF"/>
                </a:solidFill>
                <a:latin typeface="Avenir Next"/>
              </a:rPr>
              <a:t>4</a:t>
            </a:r>
          </a:p>
        </p:txBody>
      </p:sp>
      <p:sp>
        <p:nvSpPr>
          <p:cNvPr id="13" name="TextBox 12"/>
          <p:cNvSpPr txBox="1"/>
          <p:nvPr/>
        </p:nvSpPr>
        <p:spPr>
          <a:xfrm>
            <a:off x="7269480" y="3931920"/>
            <a:ext cx="2286000" cy="1280160"/>
          </a:xfrm>
          <a:prstGeom prst="rect">
            <a:avLst/>
          </a:prstGeom>
          <a:noFill/>
        </p:spPr>
        <p:txBody>
          <a:bodyPr wrap="square" lIns="0" rIns="0" tIns="0" bIns="0">
            <a:spAutoFit/>
          </a:bodyPr>
          <a:lstStyle/>
          <a:p>
            <a:pPr algn="ctr">
              <a:spcAft>
                <a:spcPts val="400"/>
              </a:spcAft>
            </a:pPr>
            <a:r>
              <a:rPr sz="1700" b="1">
                <a:solidFill>
                  <a:srgbClr val="14141A"/>
                </a:solidFill>
                <a:latin typeface="Avenir Next"/>
              </a:rPr>
              <a:t>Sync global</a:t>
            </a:r>
          </a:p>
          <a:p>
            <a:pPr algn="ctr">
              <a:spcAft>
                <a:spcPts val="0"/>
              </a:spcAft>
            </a:pPr>
            <a:r>
              <a:rPr sz="1300">
                <a:solidFill>
                  <a:srgbClr val="2A2F3A"/>
                </a:solidFill>
                <a:latin typeface="Avenir Next"/>
              </a:rPr>
              <a:t>~/.claude/skills</a:t>
            </a:r>
          </a:p>
        </p:txBody>
      </p:sp>
      <p:pic>
        <p:nvPicPr>
          <p:cNvPr id="14" name="bee_cool.png" descr="bee_cool.png"/>
          <p:cNvPicPr>
            <a:picLocks noChangeAspect="1"/>
          </p:cNvPicPr>
          <p:nvPr/>
        </p:nvPicPr>
        <p:blipFill>
          <a:blip r:embed="rId2"/>
          <a:stretch>
            <a:fillRect/>
          </a:stretch>
        </p:blipFill>
        <p:spPr>
          <a:xfrm>
            <a:off x="8001000" y="1371601"/>
            <a:ext cx="1179286" cy="1188720"/>
          </a:xfrm>
          <a:prstGeom prst="rect">
            <a:avLst/>
          </a:prstGeom>
        </p:spPr>
      </p:pic>
      <p:sp>
        <p:nvSpPr>
          <p:cNvPr id="15" name="Hexagon 14"/>
          <p:cNvSpPr/>
          <p:nvPr/>
        </p:nvSpPr>
        <p:spPr>
          <a:xfrm>
            <a:off x="1038758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5</a:t>
            </a:r>
          </a:p>
        </p:txBody>
      </p:sp>
      <p:sp>
        <p:nvSpPr>
          <p:cNvPr id="16" name="TextBox 15"/>
          <p:cNvSpPr txBox="1"/>
          <p:nvPr/>
        </p:nvSpPr>
        <p:spPr>
          <a:xfrm>
            <a:off x="960120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Skills par projet</a:t>
            </a:r>
          </a:p>
          <a:p>
            <a:pPr algn="ctr">
              <a:spcAft>
                <a:spcPts val="0"/>
              </a:spcAft>
            </a:pPr>
            <a:r>
              <a:rPr sz="1300">
                <a:solidFill>
                  <a:srgbClr val="5B6372"/>
                </a:solidFill>
                <a:latin typeface="Avenir Next"/>
              </a:rPr>
              <a:t>pollen.yaml</a:t>
            </a:r>
          </a:p>
        </p:txBody>
      </p:sp>
      <p:sp>
        <p:nvSpPr>
          <p:cNvPr id="17" name="Rectangle 16"/>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Un catalogue git, installé sur chaque poste.</a:t>
            </a:r>
          </a:p>
        </p:txBody>
      </p:sp>
      <p:pic>
        <p:nvPicPr>
          <p:cNvPr id="19"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0" name="TextBox 19"/>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12/28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p:cTn id="7" dur="500" fill="hold"/>
                                        <p:tgtEl>
                                          <p:spTgt spid="14"/>
                                        </p:tgtEl>
                                        <p:attrNameLst>
                                          <p:attrName>ppt_w</p:attrName>
                                        </p:attrNameLst>
                                      </p:cBhvr>
                                      <p:tavLst>
                                        <p:tav tm="0">
                                          <p:val>
                                            <p:fltVal val="0"/>
                                          </p:val>
                                        </p:tav>
                                        <p:tav tm="100000">
                                          <p:val>
                                            <p:strVal val="#ppt_w"/>
                                          </p:val>
                                        </p:tav>
                                      </p:tavLst>
                                    </p:anim>
                                    <p:anim calcmode="lin" valueType="num">
                                      <p:cBhvr>
                                        <p:cTn id="8" dur="500" fill="hold"/>
                                        <p:tgtEl>
                                          <p:spTgt spid="14"/>
                                        </p:tgtEl>
                                        <p:attrNameLst>
                                          <p:attrName>ppt_h</p:attrName>
                                        </p:attrNameLst>
                                      </p:cBhvr>
                                      <p:tavLst>
                                        <p:tav tm="0">
                                          <p:val>
                                            <p:fltVal val="0"/>
                                          </p:val>
                                        </p:tav>
                                        <p:tav tm="100000">
                                          <p:val>
                                            <p:strVal val="#ppt_h"/>
                                          </p:val>
                                        </p:tav>
                                      </p:tavLst>
                                    </p:anim>
                                    <p:animEffect transition="in" filter="fade">
                                      <p:cBhvr>
                                        <p:cTn id="9"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Un module de skills, synchronisé en global</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022092"/>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skills-core/  (+ skills-slides, skills-articles, …)</a:t>
            </a:r>
          </a:p>
          <a:p>
            <a:pPr algn="l">
              <a:spcAft>
                <a:spcPts val="0"/>
              </a:spcAft>
            </a:pPr>
            <a:r>
              <a:rPr sz="1400">
                <a:solidFill>
                  <a:srgbClr val="00B5FB"/>
                </a:solidFill>
                <a:latin typeface="Consolas"/>
              </a:rPr>
              <a:t>#   skills-module.json   → { name, description }</a:t>
            </a:r>
          </a:p>
          <a:p>
            <a:pPr algn="l">
              <a:spcAft>
                <a:spcPts val="0"/>
              </a:spcAft>
            </a:pPr>
            <a:r>
              <a:rPr sz="1400">
                <a:solidFill>
                  <a:srgbClr val="00B5FB"/>
                </a:solidFill>
                <a:latin typeface="Consolas"/>
              </a:rPr>
              <a:t>#   skills/&lt;domaine&gt;/&lt;skill&gt;/SKILL.md</a:t>
            </a:r>
          </a:p>
          <a:p>
            <a:pPr algn="l">
              <a:spcAft>
                <a:spcPts val="0"/>
              </a:spcAft>
            </a:pPr>
            <a:r>
              <a:rPr sz="1400">
                <a:solidFill>
                  <a:srgbClr val="E8EAF2"/>
                </a:solidFill>
                <a:latin typeface="Consolas"/>
              </a:rPr>
              <a:t> </a:t>
            </a:r>
          </a:p>
          <a:p>
            <a:pPr algn="l">
              <a:spcAft>
                <a:spcPts val="0"/>
              </a:spcAft>
            </a:pPr>
            <a:r>
              <a:rPr sz="1400">
                <a:solidFill>
                  <a:srgbClr val="E8EAF2"/>
                </a:solidFill>
                <a:latin typeface="Consolas"/>
              </a:rPr>
              <a:t>git pull &amp;&amp; ./sync-skills.sh --prune</a:t>
            </a:r>
          </a:p>
          <a:p>
            <a:pPr algn="l">
              <a:spcAft>
                <a:spcPts val="0"/>
              </a:spcAft>
            </a:pPr>
            <a:r>
              <a:rPr sz="1400">
                <a:solidFill>
                  <a:srgbClr val="E8EAF2"/>
                </a:solidFill>
                <a:latin typeface="Consolas"/>
              </a:rPr>
              <a:t> </a:t>
            </a:r>
          </a:p>
          <a:p>
            <a:pPr algn="l">
              <a:spcAft>
                <a:spcPts val="0"/>
              </a:spcAft>
            </a:pPr>
            <a:r>
              <a:rPr sz="1400">
                <a:solidFill>
                  <a:srgbClr val="00B5FB"/>
                </a:solidFill>
                <a:latin typeface="Consolas"/>
              </a:rPr>
              <a:t># → ~/.claude/skills/   Claude Code, Copilot VS Code, Cursor</a:t>
            </a:r>
          </a:p>
          <a:p>
            <a:pPr algn="l">
              <a:spcAft>
                <a:spcPts val="0"/>
              </a:spcAft>
            </a:pPr>
            <a:r>
              <a:rPr sz="1400">
                <a:solidFill>
                  <a:srgbClr val="00B5FB"/>
                </a:solidFill>
                <a:latin typeface="Consolas"/>
              </a:rPr>
              <a:t># → ~/.agents/skills/   Copilot JetBrains / CLI</a:t>
            </a:r>
          </a:p>
          <a:p>
            <a:pPr algn="l">
              <a:spcAft>
                <a:spcPts val="0"/>
              </a:spcAft>
            </a:pPr>
            <a:r>
              <a:rPr sz="1400">
                <a:solidFill>
                  <a:srgbClr val="00B5FB"/>
                </a:solidFill>
                <a:latin typeface="Consolas"/>
              </a:rPr>
              <a:t># ledger par module : --prune / --uninstall ne touchent que lui</a:t>
            </a:r>
          </a:p>
          <a:p>
            <a:pPr algn="l">
              <a:spcAft>
                <a:spcPts val="0"/>
              </a:spcAft>
            </a:pPr>
            <a:r>
              <a:rPr sz="1400">
                <a:solidFill>
                  <a:srgbClr val="E8EAF2"/>
                </a:solidFill>
                <a:latin typeface="Consolas"/>
              </a:rPr>
              <a:t> </a:t>
            </a:r>
          </a:p>
          <a:p>
            <a:pPr algn="l">
              <a:spcAft>
                <a:spcPts val="0"/>
              </a:spcAft>
            </a:pPr>
            <a:r>
              <a:rPr sz="1400">
                <a:solidFill>
                  <a:srgbClr val="E8EAF2"/>
                </a:solidFill>
                <a:latin typeface="Consolas"/>
              </a:rPr>
              <a:t>git checkout v1.2.0 &amp;&amp; ./sync-skills.sh --prune   # épingler</a:t>
            </a:r>
          </a:p>
        </p:txBody>
      </p:sp>
      <p:sp>
        <p:nvSpPr>
          <p:cNvPr id="5" name="Rectangle 4"/>
          <p:cNvSpPr/>
          <p:nvPr/>
        </p:nvSpPr>
        <p:spPr>
          <a:xfrm>
            <a:off x="640080" y="1481328"/>
            <a:ext cx="64008" cy="3022092"/>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704588"/>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Versionné par tags git, validé en CI. Simple, et ça marche.</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13/28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Global : la limite</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600200"/>
            <a:ext cx="5257800" cy="3794760"/>
          </a:xfrm>
          <a:prstGeom prst="rect">
            <a:avLst/>
          </a:prstGeom>
          <a:solidFill>
            <a:srgbClr val="F3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00200"/>
            <a:ext cx="5257800" cy="64008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Skills en global</a:t>
            </a:r>
          </a:p>
        </p:txBody>
      </p:sp>
      <p:sp>
        <p:nvSpPr>
          <p:cNvPr id="6" name="Hexagon 5"/>
          <p:cNvSpPr/>
          <p:nvPr/>
        </p:nvSpPr>
        <p:spPr>
          <a:xfrm>
            <a:off x="914400" y="2606040"/>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2514600"/>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Actifs sur TOUS les projets</a:t>
            </a:r>
          </a:p>
        </p:txBody>
      </p:sp>
      <p:sp>
        <p:nvSpPr>
          <p:cNvPr id="8" name="Hexagon 7"/>
          <p:cNvSpPr/>
          <p:nvPr/>
        </p:nvSpPr>
        <p:spPr>
          <a:xfrm>
            <a:off x="914400" y="3172968"/>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3081528"/>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Conventions GroupBees chez le client</a:t>
            </a:r>
          </a:p>
        </p:txBody>
      </p:sp>
      <p:sp>
        <p:nvSpPr>
          <p:cNvPr id="10" name="Hexagon 9"/>
          <p:cNvSpPr/>
          <p:nvPr/>
        </p:nvSpPr>
        <p:spPr>
          <a:xfrm>
            <a:off x="914400" y="3739896"/>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3648456"/>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Une seule version pour tous les repos</a:t>
            </a:r>
          </a:p>
        </p:txBody>
      </p:sp>
      <p:sp>
        <p:nvSpPr>
          <p:cNvPr id="12" name="Hexagon 11"/>
          <p:cNvSpPr/>
          <p:nvPr/>
        </p:nvSpPr>
        <p:spPr>
          <a:xfrm>
            <a:off x="914400" y="4306824"/>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4440" y="4215384"/>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Le repo ne dit pas ce qu'il attend</a:t>
            </a:r>
          </a:p>
        </p:txBody>
      </p:sp>
      <p:sp>
        <p:nvSpPr>
          <p:cNvPr id="14" name="Rectangle 13"/>
          <p:cNvSpPr/>
          <p:nvPr/>
        </p:nvSpPr>
        <p:spPr>
          <a:xfrm>
            <a:off x="6263640" y="1600200"/>
            <a:ext cx="5257800" cy="3794760"/>
          </a:xfrm>
          <a:prstGeom prst="rect">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1600200"/>
            <a:ext cx="5257800" cy="64008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Skills par projet</a:t>
            </a:r>
          </a:p>
        </p:txBody>
      </p:sp>
      <p:sp>
        <p:nvSpPr>
          <p:cNvPr id="16" name="Hexagon 15"/>
          <p:cNvSpPr/>
          <p:nvPr/>
        </p:nvSpPr>
        <p:spPr>
          <a:xfrm>
            <a:off x="6537960" y="2606040"/>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0" y="2514600"/>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Chaque projet choisit ses modules</a:t>
            </a:r>
          </a:p>
        </p:txBody>
      </p:sp>
      <p:sp>
        <p:nvSpPr>
          <p:cNvPr id="18" name="Hexagon 17"/>
          <p:cNvSpPr/>
          <p:nvPr/>
        </p:nvSpPr>
        <p:spPr>
          <a:xfrm>
            <a:off x="6537960" y="3172968"/>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0" y="3081528"/>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GroupBees, client, perso : sans mélange</a:t>
            </a:r>
          </a:p>
        </p:txBody>
      </p:sp>
      <p:sp>
        <p:nvSpPr>
          <p:cNvPr id="20" name="Hexagon 19"/>
          <p:cNvSpPr/>
          <p:nvPr/>
        </p:nvSpPr>
        <p:spPr>
          <a:xfrm>
            <a:off x="6537960" y="3739896"/>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0" y="3648456"/>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Version épinglée par projet</a:t>
            </a:r>
          </a:p>
        </p:txBody>
      </p:sp>
      <p:sp>
        <p:nvSpPr>
          <p:cNvPr id="22" name="Hexagon 21"/>
          <p:cNvSpPr/>
          <p:nvPr/>
        </p:nvSpPr>
        <p:spPr>
          <a:xfrm>
            <a:off x="6537960" y="4306824"/>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0" y="4215384"/>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Déclaré et versionné avec le code</a:t>
            </a:r>
          </a:p>
        </p:txBody>
      </p:sp>
      <p:sp>
        <p:nvSpPr>
          <p:cNvPr id="24" name="Rectangle 23"/>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De bonnes pratiques… mais on veut choisir où elles s'appliquent.</a:t>
            </a:r>
          </a:p>
        </p:txBody>
      </p:sp>
      <p:pic>
        <p:nvPicPr>
          <p:cNvPr id="26" name="bee_happy.png" descr="bee_happy.png"/>
          <p:cNvPicPr>
            <a:picLocks noChangeAspect="1"/>
          </p:cNvPicPr>
          <p:nvPr/>
        </p:nvPicPr>
        <p:blipFill>
          <a:blip r:embed="rId3"/>
          <a:stretch>
            <a:fillRect/>
          </a:stretch>
        </p:blipFill>
        <p:spPr>
          <a:xfrm rot="600000">
            <a:off x="10881360" y="274320"/>
            <a:ext cx="733633" cy="914400"/>
          </a:xfrm>
          <a:prstGeom prst="rect">
            <a:avLst/>
          </a:prstGeom>
        </p:spPr>
      </p:pic>
      <p:pic>
        <p:nvPicPr>
          <p:cNvPr id="27"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8" name="TextBox 2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14/28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6"/>
                                        </p:tgtEl>
                                        <p:attrNameLst>
                                          <p:attrName>style.visibility</p:attrName>
                                        </p:attrNameLst>
                                      </p:cBhvr>
                                      <p:to>
                                        <p:strVal val="visible"/>
                                      </p:to>
                                    </p:set>
                                    <p:anim calcmode="lin" valueType="num">
                                      <p:cBhvr>
                                        <p:cTn id="7" dur="500" fill="hold"/>
                                        <p:tgtEl>
                                          <p:spTgt spid="26"/>
                                        </p:tgtEl>
                                        <p:attrNameLst>
                                          <p:attrName>ppt_w</p:attrName>
                                        </p:attrNameLst>
                                      </p:cBhvr>
                                      <p:tavLst>
                                        <p:tav tm="0">
                                          <p:val>
                                            <p:fltVal val="0"/>
                                          </p:val>
                                        </p:tav>
                                        <p:tav tm="100000">
                                          <p:val>
                                            <p:strVal val="#ppt_w"/>
                                          </p:val>
                                        </p:tav>
                                      </p:tavLst>
                                    </p:anim>
                                    <p:anim calcmode="lin" valueType="num">
                                      <p:cBhvr>
                                        <p:cTn id="8" dur="500" fill="hold"/>
                                        <p:tgtEl>
                                          <p:spTgt spid="26"/>
                                        </p:tgtEl>
                                        <p:attrNameLst>
                                          <p:attrName>ppt_h</p:attrName>
                                        </p:attrNameLst>
                                      </p:cBhvr>
                                      <p:tavLst>
                                        <p:tav tm="0">
                                          <p:val>
                                            <p:fltVal val="0"/>
                                          </p:val>
                                        </p:tav>
                                        <p:tav tm="100000">
                                          <p:val>
                                            <p:strVal val="#ppt_h"/>
                                          </p:val>
                                        </p:tav>
                                      </p:tavLst>
                                    </p:anim>
                                    <p:animEffect transition="in" filter="fade">
                                      <p:cBhvr>
                                        <p:cTn id="9"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Par projet : un gestionnaire de skills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17320" y="3223260"/>
            <a:ext cx="9326880" cy="45720"/>
          </a:xfrm>
          <a:prstGeom prst="rect">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417320" y="3218688"/>
            <a:ext cx="9326880" cy="54864"/>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6070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1</a:t>
            </a:r>
          </a:p>
        </p:txBody>
      </p:sp>
      <p:sp>
        <p:nvSpPr>
          <p:cNvPr id="7" name="TextBox 6"/>
          <p:cNvSpPr txBox="1"/>
          <p:nvPr/>
        </p:nvSpPr>
        <p:spPr>
          <a:xfrm>
            <a:off x="27432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perso</a:t>
            </a:r>
          </a:p>
          <a:p>
            <a:pPr algn="ctr">
              <a:spcAft>
                <a:spcPts val="0"/>
              </a:spcAft>
            </a:pPr>
            <a:r>
              <a:rPr sz="1300">
                <a:solidFill>
                  <a:srgbClr val="5B6372"/>
                </a:solidFill>
                <a:latin typeface="Avenir Next"/>
              </a:rPr>
              <a:t>chacun son Claude</a:t>
            </a:r>
          </a:p>
        </p:txBody>
      </p:sp>
      <p:sp>
        <p:nvSpPr>
          <p:cNvPr id="8" name="Hexagon 7"/>
          <p:cNvSpPr/>
          <p:nvPr/>
        </p:nvSpPr>
        <p:spPr>
          <a:xfrm>
            <a:off x="3392424" y="2889504"/>
            <a:ext cx="713232" cy="713232"/>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2</a:t>
            </a:r>
          </a:p>
        </p:txBody>
      </p:sp>
      <p:sp>
        <p:nvSpPr>
          <p:cNvPr id="9" name="TextBox 8"/>
          <p:cNvSpPr txBox="1"/>
          <p:nvPr/>
        </p:nvSpPr>
        <p:spPr>
          <a:xfrm>
            <a:off x="260604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partagé</a:t>
            </a:r>
          </a:p>
          <a:p>
            <a:pPr algn="ctr">
              <a:spcAft>
                <a:spcPts val="0"/>
              </a:spcAft>
            </a:pPr>
            <a:r>
              <a:rPr sz="1300">
                <a:solidFill>
                  <a:srgbClr val="5B6372"/>
                </a:solidFill>
                <a:latin typeface="Avenir Next"/>
              </a:rPr>
              <a:t>un fichier pour tous</a:t>
            </a:r>
          </a:p>
        </p:txBody>
      </p:sp>
      <p:sp>
        <p:nvSpPr>
          <p:cNvPr id="10" name="Hexagon 9"/>
          <p:cNvSpPr/>
          <p:nvPr/>
        </p:nvSpPr>
        <p:spPr>
          <a:xfrm>
            <a:off x="572414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3</a:t>
            </a:r>
          </a:p>
        </p:txBody>
      </p:sp>
      <p:sp>
        <p:nvSpPr>
          <p:cNvPr id="11" name="TextBox 10"/>
          <p:cNvSpPr txBox="1"/>
          <p:nvPr/>
        </p:nvSpPr>
        <p:spPr>
          <a:xfrm>
            <a:off x="493776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Skills modulaires</a:t>
            </a:r>
          </a:p>
          <a:p>
            <a:pPr algn="ctr">
              <a:spcAft>
                <a:spcPts val="0"/>
              </a:spcAft>
            </a:pPr>
            <a:r>
              <a:rPr sz="1300">
                <a:solidFill>
                  <a:srgbClr val="5B6372"/>
                </a:solidFill>
                <a:latin typeface="Avenir Next"/>
              </a:rPr>
              <a:t>chargés à la demande</a:t>
            </a:r>
          </a:p>
        </p:txBody>
      </p:sp>
      <p:sp>
        <p:nvSpPr>
          <p:cNvPr id="12" name="Hexagon 11"/>
          <p:cNvSpPr/>
          <p:nvPr/>
        </p:nvSpPr>
        <p:spPr>
          <a:xfrm>
            <a:off x="8055864" y="2889504"/>
            <a:ext cx="713232" cy="713232"/>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4</a:t>
            </a:r>
          </a:p>
        </p:txBody>
      </p:sp>
      <p:sp>
        <p:nvSpPr>
          <p:cNvPr id="13" name="TextBox 12"/>
          <p:cNvSpPr txBox="1"/>
          <p:nvPr/>
        </p:nvSpPr>
        <p:spPr>
          <a:xfrm>
            <a:off x="726948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Sync global</a:t>
            </a:r>
          </a:p>
          <a:p>
            <a:pPr algn="ctr">
              <a:spcAft>
                <a:spcPts val="0"/>
              </a:spcAft>
            </a:pPr>
            <a:r>
              <a:rPr sz="1300">
                <a:solidFill>
                  <a:srgbClr val="5B6372"/>
                </a:solidFill>
                <a:latin typeface="Avenir Next"/>
              </a:rPr>
              <a:t>~/.claude/skills</a:t>
            </a:r>
          </a:p>
        </p:txBody>
      </p:sp>
      <p:sp>
        <p:nvSpPr>
          <p:cNvPr id="14" name="Hexagon 13"/>
          <p:cNvSpPr/>
          <p:nvPr/>
        </p:nvSpPr>
        <p:spPr>
          <a:xfrm>
            <a:off x="10264140" y="2766060"/>
            <a:ext cx="960120" cy="960120"/>
          </a:xfrm>
          <a:prstGeom prst="hexagon">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600" b="1">
                <a:solidFill>
                  <a:srgbClr val="FFFFFF"/>
                </a:solidFill>
                <a:latin typeface="Avenir Next"/>
              </a:rPr>
              <a:t>5</a:t>
            </a:r>
          </a:p>
        </p:txBody>
      </p:sp>
      <p:sp>
        <p:nvSpPr>
          <p:cNvPr id="15" name="TextBox 14"/>
          <p:cNvSpPr txBox="1"/>
          <p:nvPr/>
        </p:nvSpPr>
        <p:spPr>
          <a:xfrm>
            <a:off x="9601200" y="3931920"/>
            <a:ext cx="2286000" cy="1280160"/>
          </a:xfrm>
          <a:prstGeom prst="rect">
            <a:avLst/>
          </a:prstGeom>
          <a:noFill/>
        </p:spPr>
        <p:txBody>
          <a:bodyPr wrap="square" lIns="0" rIns="0" tIns="0" bIns="0">
            <a:spAutoFit/>
          </a:bodyPr>
          <a:lstStyle/>
          <a:p>
            <a:pPr algn="ctr">
              <a:spcAft>
                <a:spcPts val="400"/>
              </a:spcAft>
            </a:pPr>
            <a:r>
              <a:rPr sz="1700" b="1">
                <a:solidFill>
                  <a:srgbClr val="14141A"/>
                </a:solidFill>
                <a:latin typeface="Avenir Next"/>
              </a:rPr>
              <a:t>Skills par projet</a:t>
            </a:r>
          </a:p>
          <a:p>
            <a:pPr algn="ctr">
              <a:spcAft>
                <a:spcPts val="0"/>
              </a:spcAft>
            </a:pPr>
            <a:r>
              <a:rPr sz="1300">
                <a:solidFill>
                  <a:srgbClr val="2A2F3A"/>
                </a:solidFill>
                <a:latin typeface="Avenir Next"/>
              </a:rPr>
              <a:t>pollen.yaml</a:t>
            </a:r>
          </a:p>
        </p:txBody>
      </p:sp>
      <p:pic>
        <p:nvPicPr>
          <p:cNvPr id="16" name="bee_astro.png" descr="bee_astro.png"/>
          <p:cNvPicPr>
            <a:picLocks noChangeAspect="1"/>
          </p:cNvPicPr>
          <p:nvPr/>
        </p:nvPicPr>
        <p:blipFill>
          <a:blip r:embed="rId2"/>
          <a:stretch>
            <a:fillRect/>
          </a:stretch>
        </p:blipFill>
        <p:spPr>
          <a:xfrm>
            <a:off x="10332720" y="1371601"/>
            <a:ext cx="953723" cy="1188720"/>
          </a:xfrm>
          <a:prstGeom prst="rect">
            <a:avLst/>
          </a:prstGeom>
        </p:spPr>
      </p:pic>
      <p:sp>
        <p:nvSpPr>
          <p:cNvPr id="17" name="Rectangle 16"/>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Importer des modules de skills, comme des dépendances.</a:t>
            </a:r>
          </a:p>
        </p:txBody>
      </p:sp>
      <p:pic>
        <p:nvPicPr>
          <p:cNvPr id="19"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0" name="TextBox 19"/>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15/28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6"/>
                                        </p:tgtEl>
                                        <p:attrNameLst>
                                          <p:attrName>style.visibility</p:attrName>
                                        </p:attrNameLst>
                                      </p:cBhvr>
                                      <p:to>
                                        <p:strVal val="visible"/>
                                      </p:to>
                                    </p:set>
                                    <p:anim calcmode="lin" valueType="num">
                                      <p:cBhvr>
                                        <p:cTn id="7" dur="500" fill="hold"/>
                                        <p:tgtEl>
                                          <p:spTgt spid="16"/>
                                        </p:tgtEl>
                                        <p:attrNameLst>
                                          <p:attrName>ppt_w</p:attrName>
                                        </p:attrNameLst>
                                      </p:cBhvr>
                                      <p:tavLst>
                                        <p:tav tm="0">
                                          <p:val>
                                            <p:fltVal val="0"/>
                                          </p:val>
                                        </p:tav>
                                        <p:tav tm="100000">
                                          <p:val>
                                            <p:strVal val="#ppt_w"/>
                                          </p:val>
                                        </p:tav>
                                      </p:tavLst>
                                    </p:anim>
                                    <p:anim calcmode="lin" valueType="num">
                                      <p:cBhvr>
                                        <p:cTn id="8" dur="500" fill="hold"/>
                                        <p:tgtEl>
                                          <p:spTgt spid="16"/>
                                        </p:tgtEl>
                                        <p:attrNameLst>
                                          <p:attrName>ppt_h</p:attrName>
                                        </p:attrNameLst>
                                      </p:cBhvr>
                                      <p:tavLst>
                                        <p:tav tm="0">
                                          <p:val>
                                            <p:fltVal val="0"/>
                                          </p:val>
                                        </p:tav>
                                        <p:tav tm="100000">
                                          <p:val>
                                            <p:strVal val="#ppt_h"/>
                                          </p:val>
                                        </p:tav>
                                      </p:tavLst>
                                    </p:anim>
                                    <p:animEffect transition="in" filter="fade">
                                      <p:cBhvr>
                                        <p:cTn id="9"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S'appuyer sur les standards</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Agent Skills : le format SKILL.md (agentskills.io)</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Agent Plugins : un format de paquet — plugin.json + skills/</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Portés par Vercel, Google, Microsoft, OpenAI, AWS, Cursor…</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Ni installeur, ni épinglage : c'est le rôle d'un outil</a:t>
            </a:r>
          </a:p>
        </p:txBody>
      </p:sp>
      <p:sp>
        <p:nvSpPr>
          <p:cNvPr id="18" name="Rectangle 17"/>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Agent Skills pour le format. Agent Plugins quand un client en aura besoin.</a:t>
            </a:r>
          </a:p>
        </p:txBody>
      </p:sp>
      <p:pic>
        <p:nvPicPr>
          <p:cNvPr id="20" name="bee.png" descr="bee.png"/>
          <p:cNvPicPr>
            <a:picLocks noChangeAspect="1"/>
          </p:cNvPicPr>
          <p:nvPr/>
        </p:nvPicPr>
        <p:blipFill>
          <a:blip r:embed="rId3"/>
          <a:stretch>
            <a:fillRect/>
          </a:stretch>
        </p:blipFill>
        <p:spPr>
          <a:xfrm rot="21000000" flipH="1">
            <a:off x="10789920" y="274320"/>
            <a:ext cx="774497" cy="914400"/>
          </a:xfrm>
          <a:prstGeom prst="rect">
            <a:avLst/>
          </a:prstGeom>
        </p:spPr>
      </p:pic>
      <p:pic>
        <p:nvPicPr>
          <p:cNvPr id="21"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2" name="TextBox 21"/>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16/28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0"/>
                                        </p:tgtEl>
                                        <p:attrNameLst>
                                          <p:attrName>style.visibility</p:attrName>
                                        </p:attrNameLst>
                                      </p:cBhvr>
                                      <p:to>
                                        <p:strVal val="visible"/>
                                      </p:to>
                                    </p:set>
                                    <p:anim calcmode="lin" valueType="num">
                                      <p:cBhvr>
                                        <p:cTn id="7" dur="500" fill="hold"/>
                                        <p:tgtEl>
                                          <p:spTgt spid="20"/>
                                        </p:tgtEl>
                                        <p:attrNameLst>
                                          <p:attrName>ppt_w</p:attrName>
                                        </p:attrNameLst>
                                      </p:cBhvr>
                                      <p:tavLst>
                                        <p:tav tm="0">
                                          <p:val>
                                            <p:fltVal val="0"/>
                                          </p:val>
                                        </p:tav>
                                        <p:tav tm="100000">
                                          <p:val>
                                            <p:strVal val="#ppt_w"/>
                                          </p:val>
                                        </p:tav>
                                      </p:tavLst>
                                    </p:anim>
                                    <p:anim calcmode="lin" valueType="num">
                                      <p:cBhvr>
                                        <p:cTn id="8" dur="500" fill="hold"/>
                                        <p:tgtEl>
                                          <p:spTgt spid="20"/>
                                        </p:tgtEl>
                                        <p:attrNameLst>
                                          <p:attrName>ppt_h</p:attrName>
                                        </p:attrNameLst>
                                      </p:cBhvr>
                                      <p:tavLst>
                                        <p:tav tm="0">
                                          <p:val>
                                            <p:fltVal val="0"/>
                                          </p:val>
                                        </p:tav>
                                        <p:tav tm="100000">
                                          <p:val>
                                            <p:strVal val="#ppt_h"/>
                                          </p:val>
                                        </p:tav>
                                      </p:tavLst>
                                    </p:anim>
                                    <p:animEffect transition="in" filter="fade">
                                      <p:cBhvr>
                                        <p:cTn id="9"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pollen : les skills comme des dépendances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255264"/>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pollen.yaml — committé à la racine du projet</a:t>
            </a:r>
          </a:p>
          <a:p>
            <a:pPr algn="l">
              <a:spcAft>
                <a:spcPts val="0"/>
              </a:spcAft>
            </a:pPr>
            <a:r>
              <a:rPr sz="1400">
                <a:solidFill>
                  <a:srgbClr val="E8EAF2"/>
                </a:solidFill>
                <a:latin typeface="Consolas"/>
              </a:rPr>
              <a:t>repos:</a:t>
            </a:r>
          </a:p>
          <a:p>
            <a:pPr algn="l">
              <a:spcAft>
                <a:spcPts val="0"/>
              </a:spcAft>
            </a:pPr>
            <a:r>
              <a:rPr sz="1400">
                <a:solidFill>
                  <a:srgbClr val="E8EAF2"/>
                </a:solidFill>
                <a:latin typeface="Consolas"/>
              </a:rPr>
              <a:t>  - repo: git@github.com:groupbees/skills-core.git</a:t>
            </a:r>
          </a:p>
          <a:p>
            <a:pPr algn="l">
              <a:spcAft>
                <a:spcPts val="0"/>
              </a:spcAft>
            </a:pPr>
            <a:r>
              <a:rPr sz="1400">
                <a:solidFill>
                  <a:srgbClr val="E8EAF2"/>
                </a:solidFill>
                <a:latin typeface="Consolas"/>
              </a:rPr>
              <a:t>    revision: e674d360…  # v0.2.5</a:t>
            </a:r>
          </a:p>
          <a:p>
            <a:pPr algn="l">
              <a:spcAft>
                <a:spcPts val="0"/>
              </a:spcAft>
            </a:pPr>
            <a:r>
              <a:rPr sz="1400">
                <a:solidFill>
                  <a:srgbClr val="E8EAF2"/>
                </a:solidFill>
                <a:latin typeface="Consolas"/>
              </a:rPr>
              <a:t>    paths:</a:t>
            </a:r>
          </a:p>
          <a:p>
            <a:pPr algn="l">
              <a:spcAft>
                <a:spcPts val="0"/>
              </a:spcAft>
            </a:pPr>
            <a:r>
              <a:rPr sz="1400">
                <a:solidFill>
                  <a:srgbClr val="E8EAF2"/>
                </a:solidFill>
                <a:latin typeface="Consolas"/>
              </a:rPr>
              <a:t>      - path: skills/python      # on choisit ses domaines</a:t>
            </a:r>
          </a:p>
          <a:p>
            <a:pPr algn="l">
              <a:spcAft>
                <a:spcPts val="0"/>
              </a:spcAft>
            </a:pPr>
            <a:r>
              <a:rPr sz="1400">
                <a:solidFill>
                  <a:srgbClr val="E8EAF2"/>
                </a:solidFill>
                <a:latin typeface="Consolas"/>
              </a:rPr>
              <a:t>      - path: skills/docker</a:t>
            </a:r>
          </a:p>
          <a:p>
            <a:pPr algn="l">
              <a:spcAft>
                <a:spcPts val="0"/>
              </a:spcAft>
            </a:pPr>
            <a:r>
              <a:rPr sz="1400">
                <a:solidFill>
                  <a:srgbClr val="E8EAF2"/>
                </a:solidFill>
                <a:latin typeface="Consolas"/>
              </a:rPr>
              <a:t>  - repo: local                    # skills propres au projet</a:t>
            </a:r>
          </a:p>
          <a:p>
            <a:pPr algn="l">
              <a:spcAft>
                <a:spcPts val="0"/>
              </a:spcAft>
            </a:pPr>
            <a:r>
              <a:rPr sz="1400">
                <a:solidFill>
                  <a:srgbClr val="E8EAF2"/>
                </a:solidFill>
                <a:latin typeface="Consolas"/>
              </a:rPr>
              <a:t>    paths:</a:t>
            </a:r>
          </a:p>
          <a:p>
            <a:pPr algn="l">
              <a:spcAft>
                <a:spcPts val="0"/>
              </a:spcAft>
            </a:pPr>
            <a:r>
              <a:rPr sz="1400">
                <a:solidFill>
                  <a:srgbClr val="E8EAF2"/>
                </a:solidFill>
                <a:latin typeface="Consolas"/>
              </a:rPr>
              <a:t>      - path: .skills</a:t>
            </a:r>
          </a:p>
          <a:p>
            <a:pPr algn="l">
              <a:spcAft>
                <a:spcPts val="0"/>
              </a:spcAft>
            </a:pPr>
            <a:r>
              <a:rPr sz="1400">
                <a:solidFill>
                  <a:srgbClr val="E8EAF2"/>
                </a:solidFill>
                <a:latin typeface="Consolas"/>
              </a:rPr>
              <a:t> </a:t>
            </a:r>
          </a:p>
          <a:p>
            <a:pPr algn="l">
              <a:spcAft>
                <a:spcPts val="0"/>
              </a:spcAft>
            </a:pPr>
            <a:r>
              <a:rPr sz="1400">
                <a:solidFill>
                  <a:srgbClr val="E8EAF2"/>
                </a:solidFill>
                <a:latin typeface="Consolas"/>
              </a:rPr>
              <a:t>$ pollen update   # → .claude/skills/ + .agents/skills/</a:t>
            </a:r>
          </a:p>
        </p:txBody>
      </p:sp>
      <p:sp>
        <p:nvSpPr>
          <p:cNvPr id="5" name="Rectangle 4"/>
          <p:cNvSpPr/>
          <p:nvPr/>
        </p:nvSpPr>
        <p:spPr>
          <a:xfrm>
            <a:off x="640080" y="1481328"/>
            <a:ext cx="64008" cy="3255264"/>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937760"/>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Le projet déclare ses conventions. Un seul fichier, relu en PR.</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17/28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pollen, en pratique</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bee_cool.png" descr="bee_cool.png"/>
          <p:cNvPicPr>
            <a:picLocks noChangeAspect="1"/>
          </p:cNvPicPr>
          <p:nvPr/>
        </p:nvPicPr>
        <p:blipFill>
          <a:blip r:embed="rId2"/>
          <a:stretch>
            <a:fillRect/>
          </a:stretch>
        </p:blipFill>
        <p:spPr>
          <a:xfrm>
            <a:off x="8778240" y="2011680"/>
            <a:ext cx="2902857" cy="2926080"/>
          </a:xfrm>
          <a:prstGeom prst="rect">
            <a:avLst/>
          </a:prstGeom>
        </p:spPr>
      </p:pic>
      <p:sp>
        <p:nvSpPr>
          <p:cNvPr id="11" name="Hexagon 10"/>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178308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Déclaratif : install, refresh, prune</a:t>
            </a:r>
          </a:p>
        </p:txBody>
      </p:sp>
      <p:sp>
        <p:nvSpPr>
          <p:cNvPr id="13" name="Hexagon 12"/>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242316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Par projet, ou pour la machine : pollen update -g</a:t>
            </a:r>
          </a:p>
        </p:txBody>
      </p:sp>
      <p:sp>
        <p:nvSpPr>
          <p:cNvPr id="15" name="Hexagon 14"/>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306324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Ne touche jamais un skill qu'il n'a pas installé</a:t>
            </a:r>
          </a:p>
        </p:txBody>
      </p:sp>
      <p:sp>
        <p:nvSpPr>
          <p:cNvPr id="17" name="Hexagon 16"/>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370332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Une config par dossier cible, pas de suppression croisée</a:t>
            </a:r>
          </a:p>
        </p:txBody>
      </p:sp>
      <p:sp>
        <p:nvSpPr>
          <p:cNvPr id="19" name="Hexagon 18"/>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34340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Pas un registre, pas de résolution de dépendances</a:t>
            </a:r>
          </a:p>
        </p:txBody>
      </p:sp>
      <p:pic>
        <p:nvPicPr>
          <p:cNvPr id="21"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2" name="TextBox 21"/>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18/28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p:cTn id="7" dur="500" fill="hold"/>
                                        <p:tgtEl>
                                          <p:spTgt spid="10"/>
                                        </p:tgtEl>
                                        <p:attrNameLst>
                                          <p:attrName>ppt_w</p:attrName>
                                        </p:attrNameLst>
                                      </p:cBhvr>
                                      <p:tavLst>
                                        <p:tav tm="0">
                                          <p:val>
                                            <p:fltVal val="0"/>
                                          </p:val>
                                        </p:tav>
                                        <p:tav tm="100000">
                                          <p:val>
                                            <p:strVal val="#ppt_w"/>
                                          </p:val>
                                        </p:tav>
                                      </p:tavLst>
                                    </p:anim>
                                    <p:anim calcmode="lin" valueType="num">
                                      <p:cBhvr>
                                        <p:cTn id="8" dur="500" fill="hold"/>
                                        <p:tgtEl>
                                          <p:spTgt spid="10"/>
                                        </p:tgtEl>
                                        <p:attrNameLst>
                                          <p:attrName>ppt_h</p:attrName>
                                        </p:attrNameLst>
                                      </p:cBhvr>
                                      <p:tavLst>
                                        <p:tav tm="0">
                                          <p:val>
                                            <p:fltVal val="0"/>
                                          </p:val>
                                        </p:tav>
                                        <p:tav tm="100000">
                                          <p:val>
                                            <p:strVal val="#ppt_h"/>
                                          </p:val>
                                        </p:tav>
                                      </p:tavLst>
                                    </p:anim>
                                    <p:animEffect transition="in" filter="fade">
                                      <p:cBhvr>
                                        <p:cTn id="9"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Épingler un commit… et pas de lockfile</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2322576"/>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un commit ne bouge pas — un tag peut, une branche bouge à chaque push</a:t>
            </a:r>
          </a:p>
          <a:p>
            <a:pPr algn="l">
              <a:spcAft>
                <a:spcPts val="0"/>
              </a:spcAft>
            </a:pPr>
            <a:r>
              <a:rPr sz="1400">
                <a:solidFill>
                  <a:srgbClr val="E8EAF2"/>
                </a:solidFill>
                <a:latin typeface="Consolas"/>
              </a:rPr>
              <a:t>revision: 4e1e8e25a2f32d8311cd52c5d9a703bad990e525  # v0.2.0</a:t>
            </a:r>
          </a:p>
          <a:p>
            <a:pPr algn="l">
              <a:spcAft>
                <a:spcPts val="0"/>
              </a:spcAft>
            </a:pPr>
            <a:r>
              <a:rPr sz="1400">
                <a:solidFill>
                  <a:srgbClr val="E8EAF2"/>
                </a:solidFill>
                <a:latin typeface="Consolas"/>
              </a:rPr>
              <a:t> </a:t>
            </a:r>
          </a:p>
          <a:p>
            <a:pPr algn="l">
              <a:spcAft>
                <a:spcPts val="0"/>
              </a:spcAft>
            </a:pPr>
            <a:r>
              <a:rPr sz="1400">
                <a:solidFill>
                  <a:srgbClr val="E8EAF2"/>
                </a:solidFill>
                <a:latin typeface="Consolas"/>
              </a:rPr>
              <a:t>$ pollen outdated</a:t>
            </a:r>
          </a:p>
          <a:p>
            <a:pPr algn="l">
              <a:spcAft>
                <a:spcPts val="0"/>
              </a:spcAft>
            </a:pPr>
            <a:r>
              <a:rPr sz="1400">
                <a:solidFill>
                  <a:srgbClr val="E8EAF2"/>
                </a:solidFill>
                <a:latin typeface="Consolas"/>
              </a:rPr>
              <a:t>skills-core  4e1e8e25 (v0.2.0)  -&gt; v0.2.5</a:t>
            </a:r>
          </a:p>
          <a:p>
            <a:pPr algn="l">
              <a:spcAft>
                <a:spcPts val="0"/>
              </a:spcAft>
            </a:pPr>
            <a:r>
              <a:rPr sz="1400">
                <a:solidFill>
                  <a:srgbClr val="E8EAF2"/>
                </a:solidFill>
                <a:latin typeface="Consolas"/>
              </a:rPr>
              <a:t> </a:t>
            </a:r>
          </a:p>
          <a:p>
            <a:pPr algn="l">
              <a:spcAft>
                <a:spcPts val="0"/>
              </a:spcAft>
            </a:pPr>
            <a:r>
              <a:rPr sz="1400">
                <a:solidFill>
                  <a:srgbClr val="E8EAF2"/>
                </a:solidFill>
                <a:latin typeface="Consolas"/>
              </a:rPr>
              <a:t>$ pollen autoupdate --freeze     # réécrit le SHA et le tag</a:t>
            </a:r>
          </a:p>
          <a:p>
            <a:pPr algn="l">
              <a:spcAft>
                <a:spcPts val="0"/>
              </a:spcAft>
            </a:pPr>
            <a:r>
              <a:rPr sz="1400">
                <a:solidFill>
                  <a:srgbClr val="E8EAF2"/>
                </a:solidFill>
                <a:latin typeface="Consolas"/>
              </a:rPr>
              <a:t>$ pollen validate --pinned       # en CI : refuse tags et branches</a:t>
            </a:r>
          </a:p>
        </p:txBody>
      </p:sp>
      <p:sp>
        <p:nvSpPr>
          <p:cNvPr id="5" name="Rectangle 4"/>
          <p:cNvSpPr/>
          <p:nvPr/>
        </p:nvSpPr>
        <p:spPr>
          <a:xfrm>
            <a:off x="640080" y="1481328"/>
            <a:ext cx="64008" cy="2322576"/>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005072"/>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Ni plage de versions, ni dépendance transitive : le SHA est le lock.</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19/28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Un fichier, trois propriétaires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255264"/>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~/.config/pollen/pollen.yaml  →  pollen update -g</a:t>
            </a:r>
          </a:p>
          <a:p>
            <a:pPr algn="l">
              <a:spcAft>
                <a:spcPts val="0"/>
              </a:spcAft>
            </a:pPr>
            <a:r>
              <a:rPr sz="1400">
                <a:solidFill>
                  <a:srgbClr val="E8EAF2"/>
                </a:solidFill>
                <a:latin typeface="Consolas"/>
              </a:rPr>
              <a:t>repos:</a:t>
            </a:r>
          </a:p>
          <a:p>
            <a:pPr algn="l">
              <a:spcAft>
                <a:spcPts val="0"/>
              </a:spcAft>
            </a:pPr>
            <a:r>
              <a:rPr sz="1400">
                <a:solidFill>
                  <a:srgbClr val="E8EAF2"/>
                </a:solidFill>
                <a:latin typeface="Consolas"/>
              </a:rPr>
              <a:t>  - repo: git@github.com:groupbees/skills-core.git     # orga, privé</a:t>
            </a:r>
          </a:p>
          <a:p>
            <a:pPr algn="l">
              <a:spcAft>
                <a:spcPts val="0"/>
              </a:spcAft>
            </a:pPr>
            <a:r>
              <a:rPr sz="1400">
                <a:solidFill>
                  <a:srgbClr val="E8EAF2"/>
                </a:solidFill>
                <a:latin typeface="Consolas"/>
              </a:rPr>
              <a:t>    revision: e674d360…  # v0.2.5</a:t>
            </a:r>
          </a:p>
          <a:p>
            <a:pPr algn="l">
              <a:spcAft>
                <a:spcPts val="0"/>
              </a:spcAft>
            </a:pPr>
            <a:r>
              <a:rPr sz="1400">
                <a:solidFill>
                  <a:srgbClr val="E8EAF2"/>
                </a:solidFill>
                <a:latin typeface="Consolas"/>
              </a:rPr>
              <a:t>  - repo: git@github.com:groupbees/skills-slides.git   # orga, privé</a:t>
            </a:r>
          </a:p>
          <a:p>
            <a:pPr algn="l">
              <a:spcAft>
                <a:spcPts val="0"/>
              </a:spcAft>
            </a:pPr>
            <a:r>
              <a:rPr sz="1400">
                <a:solidFill>
                  <a:srgbClr val="E8EAF2"/>
                </a:solidFill>
                <a:latin typeface="Consolas"/>
              </a:rPr>
              <a:t>    revision: 0233458c…  # v0.2.0</a:t>
            </a:r>
          </a:p>
          <a:p>
            <a:pPr algn="l">
              <a:spcAft>
                <a:spcPts val="0"/>
              </a:spcAft>
            </a:pPr>
            <a:r>
              <a:rPr sz="1400">
                <a:solidFill>
                  <a:srgbClr val="E8EAF2"/>
                </a:solidFill>
                <a:latin typeface="Consolas"/>
              </a:rPr>
              <a:t>  - repo: https://github.com/groupbees/skills-opensource  # orga, public</a:t>
            </a:r>
          </a:p>
          <a:p>
            <a:pPr algn="l">
              <a:spcAft>
                <a:spcPts val="0"/>
              </a:spcAft>
            </a:pPr>
            <a:r>
              <a:rPr sz="1400">
                <a:solidFill>
                  <a:srgbClr val="E8EAF2"/>
                </a:solidFill>
                <a:latin typeface="Consolas"/>
              </a:rPr>
              <a:t>    revision: acad0f52…  # v0.1.0</a:t>
            </a:r>
          </a:p>
          <a:p>
            <a:pPr algn="l">
              <a:spcAft>
                <a:spcPts val="0"/>
              </a:spcAft>
            </a:pPr>
            <a:r>
              <a:rPr sz="1400">
                <a:solidFill>
                  <a:srgbClr val="E8EAF2"/>
                </a:solidFill>
                <a:latin typeface="Consolas"/>
              </a:rPr>
              <a:t>  - repo: https://github.com/groupbees/pollen           # le skill pollen</a:t>
            </a:r>
          </a:p>
          <a:p>
            <a:pPr algn="l">
              <a:spcAft>
                <a:spcPts val="0"/>
              </a:spcAft>
            </a:pPr>
            <a:r>
              <a:rPr sz="1400">
                <a:solidFill>
                  <a:srgbClr val="E8EAF2"/>
                </a:solidFill>
                <a:latin typeface="Consolas"/>
              </a:rPr>
              <a:t>    revision: c49400b8…  # v0.4.0</a:t>
            </a:r>
          </a:p>
          <a:p>
            <a:pPr algn="l">
              <a:spcAft>
                <a:spcPts val="0"/>
              </a:spcAft>
            </a:pPr>
            <a:r>
              <a:rPr sz="1400">
                <a:solidFill>
                  <a:srgbClr val="E8EAF2"/>
                </a:solidFill>
                <a:latin typeface="Consolas"/>
              </a:rPr>
              <a:t>  - repo: https://github.com/tosun-si/skills-articles   # perso</a:t>
            </a:r>
          </a:p>
          <a:p>
            <a:pPr algn="l">
              <a:spcAft>
                <a:spcPts val="0"/>
              </a:spcAft>
            </a:pPr>
            <a:r>
              <a:rPr sz="1400">
                <a:solidFill>
                  <a:srgbClr val="E8EAF2"/>
                </a:solidFill>
                <a:latin typeface="Consolas"/>
              </a:rPr>
              <a:t>    revision: 5ff0ccf9…  # v0.1.0</a:t>
            </a:r>
          </a:p>
        </p:txBody>
      </p:sp>
      <p:sp>
        <p:nvSpPr>
          <p:cNvPr id="5" name="Rectangle 4"/>
          <p:cNvSpPr/>
          <p:nvPr/>
        </p:nvSpPr>
        <p:spPr>
          <a:xfrm>
            <a:off x="640080" y="1481328"/>
            <a:ext cx="64008" cy="3255264"/>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937760"/>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Mes conventions perso ne polluent pas l'équipe : un fichier, cinq commits.</a:t>
            </a:r>
          </a:p>
        </p:txBody>
      </p:sp>
      <p:pic>
        <p:nvPicPr>
          <p:cNvPr id="7" name="bee_happy.png" descr="bee_happy.png"/>
          <p:cNvPicPr>
            <a:picLocks noChangeAspect="1"/>
          </p:cNvPicPr>
          <p:nvPr/>
        </p:nvPicPr>
        <p:blipFill>
          <a:blip r:embed="rId3"/>
          <a:stretch>
            <a:fillRect/>
          </a:stretch>
        </p:blipFill>
        <p:spPr>
          <a:xfrm rot="600000">
            <a:off x="10881360" y="274320"/>
            <a:ext cx="696951" cy="868680"/>
          </a:xfrm>
          <a:prstGeom prst="rect">
            <a:avLst/>
          </a:prstGeom>
        </p:spPr>
      </p:pic>
      <p:pic>
        <p:nvPicPr>
          <p:cNvPr id="8"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9" name="TextBox 8"/>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20/28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p:cTn id="7" dur="500" fill="hold"/>
                                        <p:tgtEl>
                                          <p:spTgt spid="7"/>
                                        </p:tgtEl>
                                        <p:attrNameLst>
                                          <p:attrName>ppt_w</p:attrName>
                                        </p:attrNameLst>
                                      </p:cBhvr>
                                      <p:tavLst>
                                        <p:tav tm="0">
                                          <p:val>
                                            <p:fltVal val="0"/>
                                          </p:val>
                                        </p:tav>
                                        <p:tav tm="100000">
                                          <p:val>
                                            <p:strVal val="#ppt_w"/>
                                          </p:val>
                                        </p:tav>
                                      </p:tavLst>
                                    </p:anim>
                                    <p:anim calcmode="lin" valueType="num">
                                      <p:cBhvr>
                                        <p:cTn id="8" dur="500" fill="hold"/>
                                        <p:tgtEl>
                                          <p:spTgt spid="7"/>
                                        </p:tgtEl>
                                        <p:attrNameLst>
                                          <p:attrName>ppt_h</p:attrName>
                                        </p:attrNameLst>
                                      </p:cBhvr>
                                      <p:tavLst>
                                        <p:tav tm="0">
                                          <p:val>
                                            <p:fltVal val="0"/>
                                          </p:val>
                                        </p:tav>
                                        <p:tav tm="100000">
                                          <p:val>
                                            <p:strVal val="#ppt_h"/>
                                          </p:val>
                                        </p:tav>
                                      </p:tavLst>
                                    </p:anim>
                                    <p:animEffect transition="in" filter="fade">
                                      <p:cBhvr>
                                        <p:cTn id="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Et Spec Kit, BMAD ?</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600200"/>
            <a:ext cx="5257800" cy="3794760"/>
          </a:xfrm>
          <a:prstGeom prst="rect">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00200"/>
            <a:ext cx="5257800" cy="640080"/>
          </a:xfrm>
          <a:prstGeom prst="rect">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Skills de processus</a:t>
            </a:r>
          </a:p>
        </p:txBody>
      </p:sp>
      <p:sp>
        <p:nvSpPr>
          <p:cNvPr id="6" name="Hexagon 5"/>
          <p:cNvSpPr/>
          <p:nvPr/>
        </p:nvSpPr>
        <p:spPr>
          <a:xfrm>
            <a:off x="914400" y="2606040"/>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2514600"/>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Spec Kit, BMAD : le quoi et le quand</a:t>
            </a:r>
          </a:p>
        </p:txBody>
      </p:sp>
      <p:sp>
        <p:nvSpPr>
          <p:cNvPr id="8" name="Hexagon 7"/>
          <p:cNvSpPr/>
          <p:nvPr/>
        </p:nvSpPr>
        <p:spPr>
          <a:xfrm>
            <a:off x="914400" y="3172968"/>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3081528"/>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spec · plan · tasks · implement</a:t>
            </a:r>
          </a:p>
        </p:txBody>
      </p:sp>
      <p:sp>
        <p:nvSpPr>
          <p:cNvPr id="10" name="Hexagon 9"/>
          <p:cNvSpPr/>
          <p:nvPr/>
        </p:nvSpPr>
        <p:spPr>
          <a:xfrm>
            <a:off x="914400" y="3739896"/>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3648456"/>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Un cycle par feature</a:t>
            </a:r>
          </a:p>
        </p:txBody>
      </p:sp>
      <p:sp>
        <p:nvSpPr>
          <p:cNvPr id="12" name="Hexagon 11"/>
          <p:cNvSpPr/>
          <p:nvPr/>
        </p:nvSpPr>
        <p:spPr>
          <a:xfrm>
            <a:off x="914400" y="4306824"/>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4440" y="4215384"/>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Nos conventions ? En prose, à injecter</a:t>
            </a:r>
          </a:p>
        </p:txBody>
      </p:sp>
      <p:sp>
        <p:nvSpPr>
          <p:cNvPr id="14" name="Rectangle 13"/>
          <p:cNvSpPr/>
          <p:nvPr/>
        </p:nvSpPr>
        <p:spPr>
          <a:xfrm>
            <a:off x="6263640" y="1600200"/>
            <a:ext cx="5257800" cy="3794760"/>
          </a:xfrm>
          <a:prstGeom prst="rect">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1600200"/>
            <a:ext cx="5257800" cy="64008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Skills de conventions</a:t>
            </a:r>
          </a:p>
        </p:txBody>
      </p:sp>
      <p:sp>
        <p:nvSpPr>
          <p:cNvPr id="16" name="Hexagon 15"/>
          <p:cNvSpPr/>
          <p:nvPr/>
        </p:nvSpPr>
        <p:spPr>
          <a:xfrm>
            <a:off x="6537960" y="2606040"/>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0" y="2514600"/>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GroupBees : le comment</a:t>
            </a:r>
          </a:p>
        </p:txBody>
      </p:sp>
      <p:sp>
        <p:nvSpPr>
          <p:cNvPr id="18" name="Hexagon 17"/>
          <p:cNvSpPr/>
          <p:nvPr/>
        </p:nvSpPr>
        <p:spPr>
          <a:xfrm>
            <a:off x="6537960" y="3172968"/>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0" y="3081528"/>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Archi, Dockerfile, CI, Git, IaC</a:t>
            </a:r>
          </a:p>
        </p:txBody>
      </p:sp>
      <p:sp>
        <p:nvSpPr>
          <p:cNvPr id="20" name="Hexagon 19"/>
          <p:cNvSpPr/>
          <p:nvPr/>
        </p:nvSpPr>
        <p:spPr>
          <a:xfrm>
            <a:off x="6537960" y="3739896"/>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0" y="3648456"/>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Actifs sur tout le projet</a:t>
            </a:r>
          </a:p>
        </p:txBody>
      </p:sp>
      <p:sp>
        <p:nvSpPr>
          <p:cNvPr id="22" name="Hexagon 21"/>
          <p:cNvSpPr/>
          <p:nvPr/>
        </p:nvSpPr>
        <p:spPr>
          <a:xfrm>
            <a:off x="6537960" y="4306824"/>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0" y="4215384"/>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Une convention = un skill, à la demande</a:t>
            </a:r>
          </a:p>
        </p:txBody>
      </p:sp>
      <p:sp>
        <p:nvSpPr>
          <p:cNvPr id="24" name="Rectangle 23"/>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Même format SKILL.md, autre contenu : ils se composent.</a:t>
            </a:r>
          </a:p>
        </p:txBody>
      </p:sp>
      <p:pic>
        <p:nvPicPr>
          <p:cNvPr id="26" name="bee_cool.png" descr="bee_cool.png"/>
          <p:cNvPicPr>
            <a:picLocks noChangeAspect="1"/>
          </p:cNvPicPr>
          <p:nvPr/>
        </p:nvPicPr>
        <p:blipFill>
          <a:blip r:embed="rId3"/>
          <a:stretch>
            <a:fillRect/>
          </a:stretch>
        </p:blipFill>
        <p:spPr>
          <a:xfrm rot="21120000">
            <a:off x="10835640" y="274320"/>
            <a:ext cx="907143" cy="914400"/>
          </a:xfrm>
          <a:prstGeom prst="rect">
            <a:avLst/>
          </a:prstGeom>
        </p:spPr>
      </p:pic>
      <p:pic>
        <p:nvPicPr>
          <p:cNvPr id="27"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8" name="TextBox 2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21/28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6"/>
                                        </p:tgtEl>
                                        <p:attrNameLst>
                                          <p:attrName>style.visibility</p:attrName>
                                        </p:attrNameLst>
                                      </p:cBhvr>
                                      <p:to>
                                        <p:strVal val="visible"/>
                                      </p:to>
                                    </p:set>
                                    <p:anim calcmode="lin" valueType="num">
                                      <p:cBhvr>
                                        <p:cTn id="7" dur="500" fill="hold"/>
                                        <p:tgtEl>
                                          <p:spTgt spid="26"/>
                                        </p:tgtEl>
                                        <p:attrNameLst>
                                          <p:attrName>ppt_w</p:attrName>
                                        </p:attrNameLst>
                                      </p:cBhvr>
                                      <p:tavLst>
                                        <p:tav tm="0">
                                          <p:val>
                                            <p:fltVal val="0"/>
                                          </p:val>
                                        </p:tav>
                                        <p:tav tm="100000">
                                          <p:val>
                                            <p:strVal val="#ppt_w"/>
                                          </p:val>
                                        </p:tav>
                                      </p:tavLst>
                                    </p:anim>
                                    <p:anim calcmode="lin" valueType="num">
                                      <p:cBhvr>
                                        <p:cTn id="8" dur="500" fill="hold"/>
                                        <p:tgtEl>
                                          <p:spTgt spid="26"/>
                                        </p:tgtEl>
                                        <p:attrNameLst>
                                          <p:attrName>ppt_h</p:attrName>
                                        </p:attrNameLst>
                                      </p:cBhvr>
                                      <p:tavLst>
                                        <p:tav tm="0">
                                          <p:val>
                                            <p:fltVal val="0"/>
                                          </p:val>
                                        </p:tav>
                                        <p:tav tm="100000">
                                          <p:val>
                                            <p:strVal val="#ppt_h"/>
                                          </p:val>
                                        </p:tav>
                                      </p:tavLst>
                                    </p:anim>
                                    <p:animEffect transition="in" filter="fade">
                                      <p:cBhvr>
                                        <p:cTn id="9"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bee.png" descr="bee.png"/>
          <p:cNvPicPr>
            <a:picLocks noChangeAspect="1"/>
          </p:cNvPicPr>
          <p:nvPr/>
        </p:nvPicPr>
        <p:blipFill>
          <a:blip r:embed="rId2"/>
          <a:stretch>
            <a:fillRect/>
          </a:stretch>
        </p:blipFill>
        <p:spPr>
          <a:xfrm>
            <a:off x="9326880" y="2103120"/>
            <a:ext cx="2788188" cy="3291840"/>
          </a:xfrm>
          <a:prstGeom prst="rect">
            <a:avLst/>
          </a:prstGeom>
        </p:spPr>
      </p:pic>
      <p:sp>
        <p:nvSpPr>
          <p:cNvPr id="5" name="TextBox 4"/>
          <p:cNvSpPr txBox="1"/>
          <p:nvPr/>
        </p:nvSpPr>
        <p:spPr>
          <a:xfrm>
            <a:off x="731520" y="1005840"/>
            <a:ext cx="7772400" cy="1371600"/>
          </a:xfrm>
          <a:prstGeom prst="rect">
            <a:avLst/>
          </a:prstGeom>
          <a:noFill/>
        </p:spPr>
        <p:txBody>
          <a:bodyPr wrap="square" lIns="0" rIns="0" tIns="0" bIns="0">
            <a:spAutoFit/>
          </a:bodyPr>
          <a:lstStyle/>
          <a:p>
            <a:pPr algn="l">
              <a:spcAft>
                <a:spcPts val="0"/>
              </a:spcAft>
            </a:pPr>
            <a:r>
              <a:rPr sz="8800" b="1">
                <a:solidFill>
                  <a:srgbClr val="FFFFFF"/>
                </a:solidFill>
                <a:latin typeface="Avenir Next"/>
              </a:rPr>
              <a:t>DÉMO</a:t>
            </a:r>
          </a:p>
        </p:txBody>
      </p:sp>
      <p:sp>
        <p:nvSpPr>
          <p:cNvPr id="6" name="Rectangle 5"/>
          <p:cNvSpPr/>
          <p:nvPr/>
        </p:nvSpPr>
        <p:spPr>
          <a:xfrm>
            <a:off x="777240" y="2331720"/>
            <a:ext cx="2926080" cy="109728"/>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697480"/>
            <a:ext cx="7680960" cy="731520"/>
          </a:xfrm>
          <a:prstGeom prst="rect">
            <a:avLst/>
          </a:prstGeom>
          <a:noFill/>
        </p:spPr>
        <p:txBody>
          <a:bodyPr wrap="square" lIns="0" rIns="0" tIns="0" bIns="0">
            <a:spAutoFit/>
          </a:bodyPr>
          <a:lstStyle/>
          <a:p>
            <a:pPr algn="l">
              <a:spcAft>
                <a:spcPts val="0"/>
              </a:spcAft>
            </a:pPr>
            <a:r>
              <a:rPr sz="2600">
                <a:solidFill>
                  <a:srgbClr val="00B5FB"/>
                </a:solidFill>
                <a:latin typeface="Avenir Next"/>
              </a:rPr>
              <a:t>Même prompt, sans puis avec les skills</a:t>
            </a:r>
          </a:p>
        </p:txBody>
      </p:sp>
      <p:sp>
        <p:nvSpPr>
          <p:cNvPr id="8" name="Hexagon 7"/>
          <p:cNvSpPr/>
          <p:nvPr/>
        </p:nvSpPr>
        <p:spPr>
          <a:xfrm>
            <a:off x="804672" y="3657600"/>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8720" y="3566160"/>
            <a:ext cx="7680960" cy="457200"/>
          </a:xfrm>
          <a:prstGeom prst="rect">
            <a:avLst/>
          </a:prstGeom>
          <a:noFill/>
        </p:spPr>
        <p:txBody>
          <a:bodyPr wrap="square" lIns="0" rIns="0" tIns="0" bIns="0">
            <a:spAutoFit/>
          </a:bodyPr>
          <a:lstStyle/>
          <a:p>
            <a:pPr algn="l">
              <a:spcAft>
                <a:spcPts val="0"/>
              </a:spcAft>
            </a:pPr>
            <a:r>
              <a:rPr sz="1900">
                <a:solidFill>
                  <a:srgbClr val="C9CFDC"/>
                </a:solidFill>
                <a:latin typeface="Avenir Next"/>
              </a:rPr>
              <a:t>Session vierge : le prompt, la sortie générique</a:t>
            </a:r>
          </a:p>
        </p:txBody>
      </p:sp>
      <p:sp>
        <p:nvSpPr>
          <p:cNvPr id="10" name="Hexagon 9"/>
          <p:cNvSpPr/>
          <p:nvPr/>
        </p:nvSpPr>
        <p:spPr>
          <a:xfrm>
            <a:off x="804672" y="4224528"/>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4133088"/>
            <a:ext cx="7680960" cy="457200"/>
          </a:xfrm>
          <a:prstGeom prst="rect">
            <a:avLst/>
          </a:prstGeom>
          <a:noFill/>
        </p:spPr>
        <p:txBody>
          <a:bodyPr wrap="square" lIns="0" rIns="0" tIns="0" bIns="0">
            <a:spAutoFit/>
          </a:bodyPr>
          <a:lstStyle/>
          <a:p>
            <a:pPr algn="l">
              <a:spcAft>
                <a:spcPts val="0"/>
              </a:spcAft>
            </a:pPr>
            <a:r>
              <a:rPr sz="1900">
                <a:solidFill>
                  <a:srgbClr val="C9CFDC"/>
                </a:solidFill>
                <a:latin typeface="Avenir Next"/>
              </a:rPr>
              <a:t>pollen update : les skills du projet arrivent</a:t>
            </a:r>
          </a:p>
        </p:txBody>
      </p:sp>
      <p:sp>
        <p:nvSpPr>
          <p:cNvPr id="12" name="Hexagon 11"/>
          <p:cNvSpPr/>
          <p:nvPr/>
        </p:nvSpPr>
        <p:spPr>
          <a:xfrm>
            <a:off x="804672" y="4791456"/>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4700016"/>
            <a:ext cx="7680960" cy="457200"/>
          </a:xfrm>
          <a:prstGeom prst="rect">
            <a:avLst/>
          </a:prstGeom>
          <a:noFill/>
        </p:spPr>
        <p:txBody>
          <a:bodyPr wrap="square" lIns="0" rIns="0" tIns="0" bIns="0">
            <a:spAutoFit/>
          </a:bodyPr>
          <a:lstStyle/>
          <a:p>
            <a:pPr algn="l">
              <a:spcAft>
                <a:spcPts val="0"/>
              </a:spcAft>
            </a:pPr>
            <a:r>
              <a:rPr sz="1900">
                <a:solidFill>
                  <a:srgbClr val="C9CFDC"/>
                </a:solidFill>
                <a:latin typeface="Avenir Next"/>
              </a:rPr>
              <a:t>Même prompt : hexagonal, Dockerfile, tests, CI</a:t>
            </a:r>
          </a:p>
        </p:txBody>
      </p:sp>
      <p:sp>
        <p:nvSpPr>
          <p:cNvPr id="14" name="Hexagon 13"/>
          <p:cNvSpPr/>
          <p:nvPr/>
        </p:nvSpPr>
        <p:spPr>
          <a:xfrm>
            <a:off x="804672" y="5358384"/>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88720" y="5266944"/>
            <a:ext cx="7680960" cy="457200"/>
          </a:xfrm>
          <a:prstGeom prst="rect">
            <a:avLst/>
          </a:prstGeom>
          <a:noFill/>
        </p:spPr>
        <p:txBody>
          <a:bodyPr wrap="square" lIns="0" rIns="0" tIns="0" bIns="0">
            <a:spAutoFit/>
          </a:bodyPr>
          <a:lstStyle/>
          <a:p>
            <a:pPr algn="l">
              <a:spcAft>
                <a:spcPts val="0"/>
              </a:spcAft>
            </a:pPr>
            <a:r>
              <a:rPr sz="1900">
                <a:solidFill>
                  <a:srgbClr val="C9CFDC"/>
                </a:solidFill>
                <a:latin typeface="Avenir Next"/>
              </a:rPr>
              <a:t>Commit squashé, PR labellisée, pipeline jusqu'à Cloud Run</a:t>
            </a:r>
          </a:p>
        </p:txBody>
      </p:sp>
      <p:pic>
        <p:nvPicPr>
          <p:cNvPr id="16" name="logo_light.png" descr="logo_light.png"/>
          <p:cNvPicPr>
            <a:picLocks noChangeAspect="1"/>
          </p:cNvPicPr>
          <p:nvPr/>
        </p:nvPicPr>
        <p:blipFill>
          <a:blip r:embed="rId4"/>
          <a:stretch>
            <a:fillRect/>
          </a:stretch>
        </p:blipFill>
        <p:spPr>
          <a:xfrm>
            <a:off x="566928" y="6263640"/>
            <a:ext cx="899514" cy="274320"/>
          </a:xfrm>
          <a:prstGeom prst="rect">
            <a:avLst/>
          </a:prstGeom>
        </p:spPr>
      </p:pic>
      <p:sp>
        <p:nvSpPr>
          <p:cNvPr id="17" name="TextBox 16"/>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C9CFDC"/>
                </a:solidFill>
                <a:latin typeface="Avenir Next"/>
              </a:rPr>
              <a:t>Industrialiser l'IA en équipe · DevFest Toulouse   ·   22/28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Une lib de skills, ça se gouverne</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Les skills sont du code : versionnés, relus en PR</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Blast radius : un skill s'applique à tout ce qui est généré</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L'IA drafte les mises à jour, l'humain relit et merge</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Capture à chaud : un gotcha rencontré remonte dans le skill</a:t>
            </a:r>
          </a:p>
        </p:txBody>
      </p:sp>
      <p:sp>
        <p:nvSpPr>
          <p:cNvPr id="18" name="Hexagon 17"/>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4340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Une PR, un relecteur (pas l'auteur), la CI fait le reste</a:t>
            </a:r>
          </a:p>
        </p:txBody>
      </p:sp>
      <p:sp>
        <p:nvSpPr>
          <p:cNvPr id="20" name="Rectangle 19"/>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Sans gouvernance, on recrée le monolithe… éclaté en N fichiers.</a:t>
            </a:r>
          </a:p>
        </p:txBody>
      </p:sp>
      <p:pic>
        <p:nvPicPr>
          <p:cNvPr id="22" name="bee_grad.png" descr="bee_grad.png"/>
          <p:cNvPicPr>
            <a:picLocks noChangeAspect="1"/>
          </p:cNvPicPr>
          <p:nvPr/>
        </p:nvPicPr>
        <p:blipFill>
          <a:blip r:embed="rId3"/>
          <a:stretch>
            <a:fillRect/>
          </a:stretch>
        </p:blipFill>
        <p:spPr>
          <a:xfrm rot="360000">
            <a:off x="10789920" y="182880"/>
            <a:ext cx="773206" cy="1051560"/>
          </a:xfrm>
          <a:prstGeom prst="rect">
            <a:avLst/>
          </a:prstGeom>
        </p:spPr>
      </p:pic>
      <p:pic>
        <p:nvPicPr>
          <p:cNvPr id="23"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4" name="TextBox 23"/>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23/28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p:cTn id="7" dur="500" fill="hold"/>
                                        <p:tgtEl>
                                          <p:spTgt spid="22"/>
                                        </p:tgtEl>
                                        <p:attrNameLst>
                                          <p:attrName>ppt_w</p:attrName>
                                        </p:attrNameLst>
                                      </p:cBhvr>
                                      <p:tavLst>
                                        <p:tav tm="0">
                                          <p:val>
                                            <p:fltVal val="0"/>
                                          </p:val>
                                        </p:tav>
                                        <p:tav tm="100000">
                                          <p:val>
                                            <p:strVal val="#ppt_w"/>
                                          </p:val>
                                        </p:tav>
                                      </p:tavLst>
                                    </p:anim>
                                    <p:anim calcmode="lin" valueType="num">
                                      <p:cBhvr>
                                        <p:cTn id="8" dur="500" fill="hold"/>
                                        <p:tgtEl>
                                          <p:spTgt spid="22"/>
                                        </p:tgtEl>
                                        <p:attrNameLst>
                                          <p:attrName>ppt_h</p:attrName>
                                        </p:attrNameLst>
                                      </p:cBhvr>
                                      <p:tavLst>
                                        <p:tav tm="0">
                                          <p:val>
                                            <p:fltVal val="0"/>
                                          </p:val>
                                        </p:tav>
                                        <p:tav tm="100000">
                                          <p:val>
                                            <p:strVal val="#ppt_h"/>
                                          </p:val>
                                        </p:tav>
                                      </p:tavLst>
                                    </p:anim>
                                    <p:animEffect transition="in" filter="fade">
                                      <p:cBhvr>
                                        <p:cTn id="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La CI d'un module de skills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2555748"/>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.github/workflows/ci.yml d'un module : une seule ligne utile</a:t>
            </a:r>
          </a:p>
          <a:p>
            <a:pPr algn="l">
              <a:spcAft>
                <a:spcPts val="0"/>
              </a:spcAft>
            </a:pPr>
            <a:r>
              <a:rPr sz="1400">
                <a:solidFill>
                  <a:srgbClr val="E8EAF2"/>
                </a:solidFill>
                <a:latin typeface="Consolas"/>
              </a:rPr>
              <a:t>jobs:</a:t>
            </a:r>
          </a:p>
          <a:p>
            <a:pPr algn="l">
              <a:spcAft>
                <a:spcPts val="0"/>
              </a:spcAft>
            </a:pPr>
            <a:r>
              <a:rPr sz="1400">
                <a:solidFill>
                  <a:srgbClr val="E8EAF2"/>
                </a:solidFill>
                <a:latin typeface="Consolas"/>
              </a:rPr>
              <a:t>  module:</a:t>
            </a:r>
          </a:p>
          <a:p>
            <a:pPr algn="l">
              <a:spcAft>
                <a:spcPts val="0"/>
              </a:spcAft>
            </a:pPr>
            <a:r>
              <a:rPr sz="1400">
                <a:solidFill>
                  <a:srgbClr val="E8EAF2"/>
                </a:solidFill>
                <a:latin typeface="Consolas"/>
              </a:rPr>
              <a:t>    uses: groupbees/.github/.github/workflows/skills-module.yml@3b24f023…  # v1.1.0</a:t>
            </a:r>
          </a:p>
          <a:p>
            <a:pPr algn="l">
              <a:spcAft>
                <a:spcPts val="0"/>
              </a:spcAft>
            </a:pPr>
            <a:r>
              <a:rPr sz="1400">
                <a:solidFill>
                  <a:srgbClr val="E8EAF2"/>
                </a:solidFill>
                <a:latin typeface="Consolas"/>
              </a:rPr>
              <a:t> </a:t>
            </a:r>
          </a:p>
          <a:p>
            <a:pPr algn="l">
              <a:spcAft>
                <a:spcPts val="0"/>
              </a:spcAft>
            </a:pPr>
            <a:r>
              <a:rPr sz="1400">
                <a:solidFill>
                  <a:srgbClr val="00B5FB"/>
                </a:solidFill>
                <a:latin typeface="Consolas"/>
              </a:rPr>
              <a:t># ce que vérifie le workflow partagé, à chaque PR :</a:t>
            </a:r>
          </a:p>
          <a:p>
            <a:pPr algn="l">
              <a:spcAft>
                <a:spcPts val="0"/>
              </a:spcAft>
            </a:pPr>
            <a:r>
              <a:rPr sz="1400">
                <a:solidFill>
                  <a:srgbClr val="00B5FB"/>
                </a:solidFill>
                <a:latin typeface="Consolas"/>
              </a:rPr>
              <a:t>#   skill-validator --strict   spec, tokens, liens, descriptions</a:t>
            </a:r>
          </a:p>
          <a:p>
            <a:pPr algn="l">
              <a:spcAft>
                <a:spcPts val="0"/>
              </a:spcAft>
            </a:pPr>
            <a:r>
              <a:rPr sz="1400">
                <a:solidFill>
                  <a:srgbClr val="00B5FB"/>
                </a:solidFill>
                <a:latin typeface="Consolas"/>
              </a:rPr>
              <a:t>#   pollen validate            se déploie comme chez un consommateur</a:t>
            </a:r>
          </a:p>
          <a:p>
            <a:pPr algn="l">
              <a:spcAft>
                <a:spcPts val="0"/>
              </a:spcAft>
            </a:pPr>
            <a:r>
              <a:rPr sz="1400">
                <a:solidFill>
                  <a:srgbClr val="00B5FB"/>
                </a:solidFill>
                <a:latin typeface="Consolas"/>
              </a:rPr>
              <a:t>#   README généré · noms uniques · shellcheck</a:t>
            </a:r>
          </a:p>
        </p:txBody>
      </p:sp>
      <p:sp>
        <p:nvSpPr>
          <p:cNvPr id="5" name="Rectangle 4"/>
          <p:cNvSpPr/>
          <p:nvPr/>
        </p:nvSpPr>
        <p:spPr>
          <a:xfrm>
            <a:off x="640080" y="1481328"/>
            <a:ext cx="64008" cy="2555748"/>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238244"/>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Barre de review plus haute que pour du code : ça s'applique à tout.</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24/28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La doc d'un outil est aussi un skill</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Chaque module réexpliquait pollen : 13 fichiers par version</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Le skill pollen vit dans le repo pollen, versionné avec lui</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Installé… par pollen, au niveau projet ou machine</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Les modules ne gardent qu'un lien</a:t>
            </a:r>
          </a:p>
        </p:txBody>
      </p:sp>
      <p:sp>
        <p:nvSpPr>
          <p:cNvPr id="18" name="Hexagon 17"/>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4340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Même règle pour la CI : un workflow partagé, épinglé</a:t>
            </a:r>
          </a:p>
        </p:txBody>
      </p:sp>
      <p:sp>
        <p:nvSpPr>
          <p:cNvPr id="20" name="Rectangle 19"/>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Une source par sujet. Sinon le monolithe revient, en N copies.</a:t>
            </a:r>
          </a:p>
        </p:txBody>
      </p:sp>
      <p:pic>
        <p:nvPicPr>
          <p:cNvPr id="22" name="bee_astro.png" descr="bee_astro.png"/>
          <p:cNvPicPr>
            <a:picLocks noChangeAspect="1"/>
          </p:cNvPicPr>
          <p:nvPr/>
        </p:nvPicPr>
        <p:blipFill>
          <a:blip r:embed="rId3"/>
          <a:stretch>
            <a:fillRect/>
          </a:stretch>
        </p:blipFill>
        <p:spPr>
          <a:xfrm rot="21120000">
            <a:off x="10835640" y="182880"/>
            <a:ext cx="806996" cy="1005840"/>
          </a:xfrm>
          <a:prstGeom prst="rect">
            <a:avLst/>
          </a:prstGeom>
        </p:spPr>
      </p:pic>
      <p:pic>
        <p:nvPicPr>
          <p:cNvPr id="23"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4" name="TextBox 23"/>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25/28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p:cTn id="7" dur="500" fill="hold"/>
                                        <p:tgtEl>
                                          <p:spTgt spid="22"/>
                                        </p:tgtEl>
                                        <p:attrNameLst>
                                          <p:attrName>ppt_w</p:attrName>
                                        </p:attrNameLst>
                                      </p:cBhvr>
                                      <p:tavLst>
                                        <p:tav tm="0">
                                          <p:val>
                                            <p:fltVal val="0"/>
                                          </p:val>
                                        </p:tav>
                                        <p:tav tm="100000">
                                          <p:val>
                                            <p:strVal val="#ppt_w"/>
                                          </p:val>
                                        </p:tav>
                                      </p:tavLst>
                                    </p:anim>
                                    <p:anim calcmode="lin" valueType="num">
                                      <p:cBhvr>
                                        <p:cTn id="8" dur="500" fill="hold"/>
                                        <p:tgtEl>
                                          <p:spTgt spid="22"/>
                                        </p:tgtEl>
                                        <p:attrNameLst>
                                          <p:attrName>ppt_h</p:attrName>
                                        </p:attrNameLst>
                                      </p:cBhvr>
                                      <p:tavLst>
                                        <p:tav tm="0">
                                          <p:val>
                                            <p:fltVal val="0"/>
                                          </p:val>
                                        </p:tav>
                                        <p:tav tm="100000">
                                          <p:val>
                                            <p:strVal val="#ppt_h"/>
                                          </p:val>
                                        </p:tav>
                                      </p:tavLst>
                                    </p:anim>
                                    <p:animEffect transition="in" filter="fade">
                                      <p:cBhvr>
                                        <p:cTn id="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Ce qu'on retient de Google</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 Skills are products, not snippets »</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Evals obligatoires à la soumission : prompts + grille de score</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Evals hebdomadaires sur toute la lib, sur plusieurs agents</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Deux axes : précision × efficacité (tokens, temps)</a:t>
            </a:r>
          </a:p>
        </p:txBody>
      </p:sp>
      <p:sp>
        <p:nvSpPr>
          <p:cNvPr id="18" name="Hexagon 17"/>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4340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Un owner par skill quand une API change ou qu'une eval régresse</a:t>
            </a:r>
          </a:p>
        </p:txBody>
      </p:sp>
      <p:sp>
        <p:nvSpPr>
          <p:cNvPr id="20" name="Rectangle 19"/>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Notre prochaine marche : des evals sur nos skills.</a:t>
            </a:r>
          </a:p>
        </p:txBody>
      </p:sp>
      <p:pic>
        <p:nvPicPr>
          <p:cNvPr id="22" name="bee_cool.png" descr="bee_cool.png"/>
          <p:cNvPicPr>
            <a:picLocks noChangeAspect="1"/>
          </p:cNvPicPr>
          <p:nvPr/>
        </p:nvPicPr>
        <p:blipFill>
          <a:blip r:embed="rId3"/>
          <a:stretch>
            <a:fillRect/>
          </a:stretch>
        </p:blipFill>
        <p:spPr>
          <a:xfrm rot="480000">
            <a:off x="10835640" y="228600"/>
            <a:ext cx="907143" cy="914400"/>
          </a:xfrm>
          <a:prstGeom prst="rect">
            <a:avLst/>
          </a:prstGeom>
        </p:spPr>
      </p:pic>
      <p:pic>
        <p:nvPicPr>
          <p:cNvPr id="23"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4" name="TextBox 23"/>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26/28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p:cTn id="7" dur="500" fill="hold"/>
                                        <p:tgtEl>
                                          <p:spTgt spid="22"/>
                                        </p:tgtEl>
                                        <p:attrNameLst>
                                          <p:attrName>ppt_w</p:attrName>
                                        </p:attrNameLst>
                                      </p:cBhvr>
                                      <p:tavLst>
                                        <p:tav tm="0">
                                          <p:val>
                                            <p:fltVal val="0"/>
                                          </p:val>
                                        </p:tav>
                                        <p:tav tm="100000">
                                          <p:val>
                                            <p:strVal val="#ppt_w"/>
                                          </p:val>
                                        </p:tav>
                                      </p:tavLst>
                                    </p:anim>
                                    <p:anim calcmode="lin" valueType="num">
                                      <p:cBhvr>
                                        <p:cTn id="8" dur="500" fill="hold"/>
                                        <p:tgtEl>
                                          <p:spTgt spid="22"/>
                                        </p:tgtEl>
                                        <p:attrNameLst>
                                          <p:attrName>ppt_h</p:attrName>
                                        </p:attrNameLst>
                                      </p:cBhvr>
                                      <p:tavLst>
                                        <p:tav tm="0">
                                          <p:val>
                                            <p:fltVal val="0"/>
                                          </p:val>
                                        </p:tav>
                                        <p:tav tm="100000">
                                          <p:val>
                                            <p:strVal val="#ppt_h"/>
                                          </p:val>
                                        </p:tav>
                                      </p:tavLst>
                                    </p:anim>
                                    <p:animEffect transition="in" filter="fade">
                                      <p:cBhvr>
                                        <p:cTn id="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À retenir</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658368" y="1828800"/>
            <a:ext cx="566928" cy="56692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200" b="1">
                <a:solidFill>
                  <a:srgbClr val="FFFFFF"/>
                </a:solidFill>
                <a:latin typeface="Avenir Next"/>
              </a:rPr>
              <a:t>1</a:t>
            </a:r>
          </a:p>
        </p:txBody>
      </p:sp>
      <p:sp>
        <p:nvSpPr>
          <p:cNvPr id="11" name="TextBox 10"/>
          <p:cNvSpPr txBox="1"/>
          <p:nvPr/>
        </p:nvSpPr>
        <p:spPr>
          <a:xfrm>
            <a:off x="1508760" y="1810512"/>
            <a:ext cx="9875520" cy="548640"/>
          </a:xfrm>
          <a:prstGeom prst="rect">
            <a:avLst/>
          </a:prstGeom>
          <a:noFill/>
        </p:spPr>
        <p:txBody>
          <a:bodyPr wrap="square" lIns="0" rIns="0" tIns="0" bIns="0">
            <a:spAutoFit/>
          </a:bodyPr>
          <a:lstStyle/>
          <a:p>
            <a:pPr algn="l">
              <a:spcAft>
                <a:spcPts val="0"/>
              </a:spcAft>
            </a:pPr>
            <a:r>
              <a:rPr sz="2700" b="1">
                <a:solidFill>
                  <a:srgbClr val="14141A"/>
                </a:solidFill>
                <a:latin typeface="Avenir Next"/>
              </a:rPr>
              <a:t>Vos conventions, en skills</a:t>
            </a:r>
          </a:p>
        </p:txBody>
      </p:sp>
      <p:sp>
        <p:nvSpPr>
          <p:cNvPr id="12" name="TextBox 11"/>
          <p:cNvSpPr txBox="1"/>
          <p:nvPr/>
        </p:nvSpPr>
        <p:spPr>
          <a:xfrm>
            <a:off x="1508760" y="2286000"/>
            <a:ext cx="987552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Petits, composables, chargés à la demande</a:t>
            </a:r>
          </a:p>
        </p:txBody>
      </p:sp>
      <p:sp>
        <p:nvSpPr>
          <p:cNvPr id="13" name="Hexagon 12"/>
          <p:cNvSpPr/>
          <p:nvPr/>
        </p:nvSpPr>
        <p:spPr>
          <a:xfrm>
            <a:off x="658368" y="3154680"/>
            <a:ext cx="566928" cy="56692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200" b="1">
                <a:solidFill>
                  <a:srgbClr val="FFFFFF"/>
                </a:solidFill>
                <a:latin typeface="Avenir Next"/>
              </a:rPr>
              <a:t>2</a:t>
            </a:r>
          </a:p>
        </p:txBody>
      </p:sp>
      <p:sp>
        <p:nvSpPr>
          <p:cNvPr id="14" name="TextBox 13"/>
          <p:cNvSpPr txBox="1"/>
          <p:nvPr/>
        </p:nvSpPr>
        <p:spPr>
          <a:xfrm>
            <a:off x="1508760" y="3136392"/>
            <a:ext cx="9875520" cy="548640"/>
          </a:xfrm>
          <a:prstGeom prst="rect">
            <a:avLst/>
          </a:prstGeom>
          <a:noFill/>
        </p:spPr>
        <p:txBody>
          <a:bodyPr wrap="square" lIns="0" rIns="0" tIns="0" bIns="0">
            <a:spAutoFit/>
          </a:bodyPr>
          <a:lstStyle/>
          <a:p>
            <a:pPr algn="l">
              <a:spcAft>
                <a:spcPts val="0"/>
              </a:spcAft>
            </a:pPr>
            <a:r>
              <a:rPr sz="2700" b="1">
                <a:solidFill>
                  <a:srgbClr val="14141A"/>
                </a:solidFill>
                <a:latin typeface="Avenir Next"/>
              </a:rPr>
              <a:t>Déclarés par projet, épinglés</a:t>
            </a:r>
          </a:p>
        </p:txBody>
      </p:sp>
      <p:sp>
        <p:nvSpPr>
          <p:cNvPr id="15" name="TextBox 14"/>
          <p:cNvSpPr txBox="1"/>
          <p:nvPr/>
        </p:nvSpPr>
        <p:spPr>
          <a:xfrm>
            <a:off x="1508760" y="3611880"/>
            <a:ext cx="987552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Un commit par source : le pollen.yaml est le lock</a:t>
            </a:r>
          </a:p>
        </p:txBody>
      </p:sp>
      <p:sp>
        <p:nvSpPr>
          <p:cNvPr id="16" name="Hexagon 15"/>
          <p:cNvSpPr/>
          <p:nvPr/>
        </p:nvSpPr>
        <p:spPr>
          <a:xfrm>
            <a:off x="658368" y="4480560"/>
            <a:ext cx="566928" cy="56692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200" b="1">
                <a:solidFill>
                  <a:srgbClr val="FFFFFF"/>
                </a:solidFill>
                <a:latin typeface="Avenir Next"/>
              </a:rPr>
              <a:t>3</a:t>
            </a:r>
          </a:p>
        </p:txBody>
      </p:sp>
      <p:sp>
        <p:nvSpPr>
          <p:cNvPr id="17" name="TextBox 16"/>
          <p:cNvSpPr txBox="1"/>
          <p:nvPr/>
        </p:nvSpPr>
        <p:spPr>
          <a:xfrm>
            <a:off x="1508760" y="4462272"/>
            <a:ext cx="9875520" cy="548640"/>
          </a:xfrm>
          <a:prstGeom prst="rect">
            <a:avLst/>
          </a:prstGeom>
          <a:noFill/>
        </p:spPr>
        <p:txBody>
          <a:bodyPr wrap="square" lIns="0" rIns="0" tIns="0" bIns="0">
            <a:spAutoFit/>
          </a:bodyPr>
          <a:lstStyle/>
          <a:p>
            <a:pPr algn="l">
              <a:spcAft>
                <a:spcPts val="0"/>
              </a:spcAft>
            </a:pPr>
            <a:r>
              <a:rPr sz="2700" b="1">
                <a:solidFill>
                  <a:srgbClr val="14141A"/>
                </a:solidFill>
                <a:latin typeface="Avenir Next"/>
              </a:rPr>
              <a:t>Gouvernés comme du code</a:t>
            </a:r>
          </a:p>
        </p:txBody>
      </p:sp>
      <p:sp>
        <p:nvSpPr>
          <p:cNvPr id="18" name="TextBox 17"/>
          <p:cNvSpPr txBox="1"/>
          <p:nvPr/>
        </p:nvSpPr>
        <p:spPr>
          <a:xfrm>
            <a:off x="1508760" y="4937760"/>
            <a:ext cx="987552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Relecture par un pair, CI… et bientôt des evals</a:t>
            </a:r>
          </a:p>
        </p:txBody>
      </p:sp>
      <p:pic>
        <p:nvPicPr>
          <p:cNvPr id="19"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20" name="TextBox 19"/>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27/28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bee_happy.png" descr="bee_happy.png"/>
          <p:cNvPicPr>
            <a:picLocks noChangeAspect="1"/>
          </p:cNvPicPr>
          <p:nvPr/>
        </p:nvPicPr>
        <p:blipFill>
          <a:blip r:embed="rId2"/>
          <a:stretch>
            <a:fillRect/>
          </a:stretch>
        </p:blipFill>
        <p:spPr>
          <a:xfrm>
            <a:off x="8778240" y="1645920"/>
            <a:ext cx="3081258" cy="3840480"/>
          </a:xfrm>
          <a:prstGeom prst="rect">
            <a:avLst/>
          </a:prstGeom>
        </p:spPr>
      </p:pic>
      <p:sp>
        <p:nvSpPr>
          <p:cNvPr id="5" name="TextBox 4"/>
          <p:cNvSpPr txBox="1"/>
          <p:nvPr/>
        </p:nvSpPr>
        <p:spPr>
          <a:xfrm>
            <a:off x="640080" y="2194560"/>
            <a:ext cx="7863840" cy="1280160"/>
          </a:xfrm>
          <a:prstGeom prst="rect">
            <a:avLst/>
          </a:prstGeom>
          <a:noFill/>
        </p:spPr>
        <p:txBody>
          <a:bodyPr wrap="square" lIns="0" rIns="0" tIns="0" bIns="0">
            <a:spAutoFit/>
          </a:bodyPr>
          <a:lstStyle/>
          <a:p>
            <a:pPr algn="l">
              <a:spcAft>
                <a:spcPts val="0"/>
              </a:spcAft>
            </a:pPr>
            <a:r>
              <a:rPr sz="5400" b="1">
                <a:solidFill>
                  <a:srgbClr val="FFFFFF"/>
                </a:solidFill>
                <a:latin typeface="Avenir Next"/>
              </a:rPr>
              <a:t>Pas par magie.</a:t>
            </a:r>
          </a:p>
        </p:txBody>
      </p:sp>
      <p:sp>
        <p:nvSpPr>
          <p:cNvPr id="6" name="Rectangle 5"/>
          <p:cNvSpPr/>
          <p:nvPr/>
        </p:nvSpPr>
        <p:spPr>
          <a:xfrm>
            <a:off x="640080" y="3566160"/>
            <a:ext cx="2194560" cy="9144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931920"/>
            <a:ext cx="7498079" cy="1828800"/>
          </a:xfrm>
          <a:prstGeom prst="rect">
            <a:avLst/>
          </a:prstGeom>
          <a:noFill/>
        </p:spPr>
        <p:txBody>
          <a:bodyPr wrap="square" lIns="0" rIns="0" tIns="0" bIns="0">
            <a:spAutoFit/>
          </a:bodyPr>
          <a:lstStyle/>
          <a:p>
            <a:pPr algn="l">
              <a:spcAft>
                <a:spcPts val="1000"/>
              </a:spcAft>
            </a:pPr>
            <a:r>
              <a:rPr sz="2000">
                <a:solidFill>
                  <a:srgbClr val="C9CFDC"/>
                </a:solidFill>
                <a:latin typeface="Avenir Next"/>
              </a:rPr>
              <a:t>Parce que les règles sont là.</a:t>
            </a:r>
          </a:p>
          <a:p>
            <a:pPr algn="l">
              <a:spcAft>
                <a:spcPts val="1000"/>
              </a:spcAft>
            </a:pPr>
            <a:r>
              <a:rPr sz="2000">
                <a:solidFill>
                  <a:srgbClr val="C9CFDC"/>
                </a:solidFill>
                <a:latin typeface="Avenir Next"/>
              </a:rPr>
              <a:t>github.com/groupbees/pollen</a:t>
            </a:r>
          </a:p>
          <a:p>
            <a:pPr algn="l">
              <a:spcAft>
                <a:spcPts val="1000"/>
              </a:spcAft>
            </a:pPr>
            <a:r>
              <a:rPr sz="2000">
                <a:solidFill>
                  <a:srgbClr val="C9CFDC"/>
                </a:solidFill>
                <a:latin typeface="Avenir Next"/>
              </a:rPr>
              <a:t>Merci ! Des questions ?</a:t>
            </a:r>
          </a:p>
        </p:txBody>
      </p:sp>
      <p:pic>
        <p:nvPicPr>
          <p:cNvPr id="8" name="logo_light.png" descr="logo_light.png"/>
          <p:cNvPicPr>
            <a:picLocks noChangeAspect="1"/>
          </p:cNvPicPr>
          <p:nvPr/>
        </p:nvPicPr>
        <p:blipFill>
          <a:blip r:embed="rId4"/>
          <a:stretch>
            <a:fillRect/>
          </a:stretch>
        </p:blipFill>
        <p:spPr>
          <a:xfrm>
            <a:off x="566928" y="6263640"/>
            <a:ext cx="899514" cy="274320"/>
          </a:xfrm>
          <a:prstGeom prst="rect">
            <a:avLst/>
          </a:prstGeom>
        </p:spPr>
      </p:pic>
      <p:sp>
        <p:nvSpPr>
          <p:cNvPr id="9" name="TextBox 8"/>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C9CFDC"/>
                </a:solidFill>
                <a:latin typeface="Avenir Next"/>
              </a:rPr>
              <a:t>Industrialiser l'IA en équipe · DevFest Toulouse   ·   28/28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