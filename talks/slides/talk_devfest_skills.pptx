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a:t>
            </a:r>
          </a:p>
          <a:p>
            <a:r>
              <a:t>• Générer du code avec une IA : trivial. Comme l'équipe l'attend : autre histoire.</a:t>
            </a:r>
          </a:p>
          <a:p>
            <a:r>
              <a:t>↪ Guillaume : « Et c'est cette histoire-là qu'on vient vous raconter. »</a:t>
            </a:r>
          </a:p>
          <a:p/>
          <a:p>
            <a:r>
              <a:t>────────</a:t>
            </a:r>
          </a:p>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Chacun présente l'autre</a:t>
            </a:r>
          </a:p>
          <a:p>
            <a:r>
              <a:t>• Mazlum présente Guillaume (« m'empêche de mettre en prod le vendredi »)</a:t>
            </a:r>
          </a:p>
          <a:p>
            <a:r>
              <a:t>• Guillaume présente Mazlum (« écrit les règles… et les oublie dans son Dockerfile »)</a:t>
            </a:r>
          </a:p>
          <a:p>
            <a:r>
              <a:t>↪ Mazlum : « C'est exactement le sujet du talk. »</a:t>
            </a:r>
          </a:p>
          <a:p/>
          <a:p>
            <a:r>
              <a:t>────────</a:t>
            </a:r>
          </a:p>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 10 secondes</a:t>
            </a:r>
          </a:p>
          <a:p>
            <a:r>
              <a:t>• Clin d'œil, on ne s'attarde pas : on lit le bandeau</a:t>
            </a:r>
          </a:p>
          <a:p>
            <a:r>
              <a:t>↪ Mazlum enchaîne sur le contexte GroupBees</a:t>
            </a:r>
          </a:p>
          <a:p/>
          <a:p>
            <a:r>
              <a:t>────────</a:t>
            </a:r>
          </a:p>
          <a:p>
            <a:r>
              <a:t>Clin d'œil façon Guignols de l'info, on ne s'y attarde pas : « Comment GroupBees a standardisé ses conventions avec les Agent Skills ? C'est notre sujet.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Registre d'API : producteurs publient, consommateurs découvrent, IA par-dessus</a:t>
            </a:r>
          </a:p>
          <a:p>
            <a:r>
              <a:t>• Stack exigeante : hexagonal, Terragrunt, Workload Identity, IAP</a:t>
            </a:r>
          </a:p>
          <a:p>
            <a:r>
              <a:t>↪ « Et derrière, une équipe qui n'a pas le même niveau sur tout ça. Guillaume ? »</a:t>
            </a:r>
          </a:p>
          <a:p/>
          <a:p>
            <a:r>
              <a:t>────────</a:t>
            </a:r>
          </a:p>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8 personnes : quelques seniors, un junior, un stagiaire</a:t>
            </a:r>
          </a:p>
          <a:p>
            <a:r>
              <a:t>• Grâce à Claude, tout le monde fait évoluer les stacks : la bonne nouvelle</a:t>
            </a:r>
          </a:p>
          <a:p>
            <a:r>
              <a:t>↪ Mazlum : « La mauvaise, c'est la suite. »</a:t>
            </a:r>
          </a:p>
          <a:p/>
          <a:p>
            <a:r>
              <a:t>────────</a:t>
            </a:r>
          </a:p>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Nouveau service, nouvelle stack IaC → nos conventions disparaissent</a:t>
            </a:r>
          </a:p>
          <a:p>
            <a:r>
              <a:t>• Chacun son Claude, son CLAUDE.md : l'IA ne connaît pas NOS règles</a:t>
            </a:r>
          </a:p>
          <a:p>
            <a:r>
              <a:t>↪ Guillaume : « Donc on a fait ce que tout le monde fait. »</a:t>
            </a:r>
          </a:p>
          <a:p/>
          <a:p>
            <a:r>
              <a:t>────────</a:t>
            </a:r>
          </a:p>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CLAUDE.md partagé, toutes les règles au même endroit</a:t>
            </a:r>
          </a:p>
          <a:p>
            <a:r>
              <a:t>↪ Mazlum : « Simple… pendant deux semaines. »</a:t>
            </a:r>
          </a:p>
          <a:p/>
          <a:p>
            <a:r>
              <a:t>────────</a:t>
            </a:r>
          </a:p>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(montrer le vrai fichier qui scrolle)</a:t>
            </a:r>
          </a:p>
          <a:p>
            <a:r>
              <a:t>• Chargé tout le temps : un commit relit les règles Dockerfile</a:t>
            </a:r>
          </a:p>
          <a:p>
            <a:r>
              <a:t>• Coûte des tokens, dilue l'attention</a:t>
            </a:r>
          </a:p>
          <a:p>
            <a:r>
              <a:t>↪ Mazlum : « Alors on l'a découpé. »</a:t>
            </a:r>
          </a:p>
          <a:p/>
          <a:p>
            <a:r>
              <a:t>────────</a:t>
            </a:r>
          </a:p>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skill = un CLAUDE.md modulaire, chargé à la demande</a:t>
            </a:r>
          </a:p>
          <a:p>
            <a:r>
              <a:t>• Une convention, un skill</a:t>
            </a:r>
          </a:p>
          <a:p/>
          <a:p>
            <a:r>
              <a:t>────────</a:t>
            </a:r>
          </a:p>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Un dossier, un SKILL.md, standard Agent Skills</a:t>
            </a:r>
          </a:p>
          <a:p>
            <a:r>
              <a:t>• La description est toujours vue ; le corps, seulement si la tâche correspond</a:t>
            </a:r>
          </a:p>
          <a:p>
            <a:r>
              <a:t>↪ Guillaume : « Et un skill, ce n'est pas que du texte. »</a:t>
            </a:r>
          </a:p>
          <a:p/>
          <a:p>
            <a:r>
              <a:t>────────</a:t>
            </a:r>
          </a:p>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references/ : lu à la demande · assets/ : fichiers à copier · scripts/ : contrôles</a:t>
            </a:r>
          </a:p>
          <a:p>
            <a:r>
              <a:t>↪ Mazlum : « Ce qui ne veut pas dire qu'on jette le CLAUDE.md. »</a:t>
            </a:r>
          </a:p>
          <a:p/>
          <a:p>
            <a:r>
              <a:t>────────</a:t>
            </a:r>
          </a:p>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CLAUDE.md redevient le contexte durable du projet (AGENTS.md + pont d'une ligne)</a:t>
            </a:r>
          </a:p>
          <a:p>
            <a:r>
              <a:t>• Les conventions vivent dans les skills</a:t>
            </a:r>
          </a:p>
          <a:p/>
          <a:p>
            <a:r>
              <a:t>────────</a:t>
            </a:r>
          </a:p>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Docker générique + Python par-dessus, qui n'ajoute que le spécifique</a:t>
            </a:r>
          </a:p>
          <a:p>
            <a:r>
              <a:t>↪ Mazlum : « Restait à les partager dans l'équipe. »</a:t>
            </a:r>
          </a:p>
          <a:p/>
          <a:p>
            <a:r>
              <a:t>────────</a:t>
            </a:r>
          </a:p>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Un repo git de skills, synchronisé sur la machine de chaque dev</a:t>
            </a:r>
          </a:p>
          <a:p/>
          <a:p>
            <a:r>
              <a:t>────────</a:t>
            </a:r>
          </a:p>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Script → dossiers perso des agents ; plusieurs modules ; version = tag git</a:t>
            </a:r>
          </a:p>
          <a:p>
            <a:r>
              <a:t>↪ Mazlum : « … jusqu'à ce que je l'utilise chez un client. »</a:t>
            </a:r>
          </a:p>
          <a:p/>
          <a:p>
            <a:r>
              <a:t>────────</a:t>
            </a:r>
          </a:p>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En global, nos règles s'appliquent partout : perso, clients</a:t>
            </a:r>
          </a:p>
          <a:p>
            <a:r>
              <a:t>• On veut choisir, projet par projet</a:t>
            </a:r>
          </a:p>
          <a:p>
            <a:r>
              <a:t>↪ Guillaume : « Et choisir des skills par projet, c'est gérer des dépendances. »</a:t>
            </a:r>
          </a:p>
          <a:p/>
          <a:p>
            <a:r>
              <a:t>────────</a:t>
            </a:r>
          </a:p>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On importe les skills comme des dépendances, + les skills du projet</a:t>
            </a:r>
          </a:p>
          <a:p>
            <a:r>
              <a:t>• La factory accueillera d'autres projets que Solis</a:t>
            </a:r>
          </a:p>
          <a:p>
            <a:r>
              <a:t>↪ Mazlum : « À une condition : ne rien inventer de propriétaire. »</a:t>
            </a:r>
          </a:p>
          <a:p/>
          <a:p>
            <a:r>
              <a:t>────────</a:t>
            </a:r>
          </a:p>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Agent Skills : Claude Code, Copilot, Cursor, Codex, Antigravity CLI</a:t>
            </a:r>
          </a:p>
          <a:p>
            <a:r>
              <a:t>• AGENTS.md pour le contexte ; on change d'agent, les skills restent</a:t>
            </a:r>
          </a:p>
          <a:p>
            <a:r>
              <a:t>↪ « Il manquait l'outil pour les installer. Guillaume, raconte-leur pollen. »</a:t>
            </a:r>
          </a:p>
          <a:p/>
          <a:p>
            <a:r>
              <a:t>────────</a:t>
            </a:r>
          </a:p>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CLI open source en Rust, pollen.yaml façon pre-commit</a:t>
            </a:r>
          </a:p>
          <a:p>
            <a:r>
              <a:t>• update : installe, rafraîchit, supprime ce qu'on a retiré</a:t>
            </a:r>
          </a:p>
          <a:p/>
          <a:p>
            <a:r>
              <a:t>────────</a:t>
            </a:r>
          </a:p>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Périmètre étroit : déplace des dossiers, valide la spec</a:t>
            </a:r>
          </a:p>
          <a:p>
            <a:r>
              <a:t>• Un skill écrit à la main n'est jamais écrasé</a:t>
            </a:r>
          </a:p>
          <a:p>
            <a:r>
              <a:t>↪ Mazlum : « Et la question à chaque fois : où est le lockfile ? »</a:t>
            </a:r>
          </a:p>
          <a:p/>
          <a:p>
            <a:r>
              <a:t>────────</a:t>
            </a:r>
          </a:p>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Pas de résolveur → pas de lockfile : le SHA épinglé EST le lock</a:t>
            </a:r>
          </a:p>
          <a:p>
            <a:r>
              <a:t>• outdated → autoupdate → PR</a:t>
            </a:r>
          </a:p>
          <a:p>
            <a:r>
              <a:t>↪ Mazlum : « Et l'autre question, sous mon post LinkedIn : pourquoi pas npx skills ? »</a:t>
            </a:r>
          </a:p>
          <a:p/>
          <a:p>
            <a:r>
              <a:t>────────</a:t>
            </a:r>
          </a:p>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 puis Guillaume, Mazlum conclut</a:t>
            </a:r>
          </a:p>
          <a:p>
            <a:r>
              <a:t>• Mazlum : super outil, bien plus large, sait installer nos catalogues privés</a:t>
            </a:r>
          </a:p>
          <a:p>
            <a:r>
              <a:t>• Guillaume : avant pollen, seul outil open source trouvé, on l'a regardé</a:t>
            </a:r>
          </a:p>
          <a:p>
            <a:r>
              <a:t>• Guillaume : CLI + lock vs fichier déclaratif, sans package.json, épinglé sur une release</a:t>
            </a:r>
          </a:p>
          <a:p>
            <a:r>
              <a:t>• Mazlum : les deux installent les mêmes skills, aucun lock-in</a:t>
            </a:r>
          </a:p>
          <a:p/>
          <a:p>
            <a:r>
              <a:t>────────</a:t>
            </a:r>
          </a:p>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Ma vraie config : modules de l'orga (privés + publics), skill pollen, module perso</a:t>
            </a:r>
          </a:p>
          <a:p>
            <a:r>
              <a:t>• Les règles de l'équipe et les miennes se composent sans se mélanger</a:t>
            </a:r>
          </a:p>
          <a:p>
            <a:r>
              <a:t>↪ Guillaume : « Et on nous demande aussi : vous réinventez Spec Kit ? »</a:t>
            </a:r>
          </a:p>
          <a:p/>
          <a:p>
            <a:r>
              <a:t>────────</a:t>
            </a:r>
          </a:p>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Eux aussi en Agent Skills, mais ils encodent un processus (spec → plan → tâches)</a:t>
            </a:r>
          </a:p>
          <a:p>
            <a:r>
              <a:t>• Nous, des conventions techniques : ils se composent</a:t>
            </a:r>
          </a:p>
          <a:p>
            <a:r>
              <a:t>↪ Mazlum : « Assez parlé. Montrons-le. »</a:t>
            </a:r>
          </a:p>
          <a:p/>
          <a:p>
            <a:r>
              <a:t>────────</a:t>
            </a:r>
          </a:p>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Démo, on alterne (script-demo.md) · le non-pilote décide de basculer sur les filets</a:t>
            </a:r>
          </a:p>
          <a:p>
            <a:r>
              <a:t>0 · Cadrage : Mazlum parle</a:t>
            </a:r>
          </a:p>
          <a:p>
            <a:r>
              <a:t>1 · Lancer SANS : Mazlum pilote, Guillaume commente</a:t>
            </a:r>
          </a:p>
          <a:p>
            <a:r>
              <a:t>2 · pollen update + lancer AVEC : Guillaume pilote, Mazlum commente (quote-domain)</a:t>
            </a:r>
          </a:p>
          <a:p>
            <a:r>
              <a:t>3 · Sortie SANS : pip, 1 stage, GetRandomQuote, README seul (PAS « root » ni « sans auteur »)</a:t>
            </a:r>
          </a:p>
          <a:p>
            <a:r>
              <a:t>4 · Sortie AVEC : 3 couches, UseCase, uv multi-stage, AGENTS.md, ?lang=fr</a:t>
            </a:r>
          </a:p>
          <a:p>
            <a:r>
              <a:t>5 · Delta : ping-pong → « Les règles sont là. »</a:t>
            </a:r>
          </a:p>
          <a:p>
            <a:r>
              <a:t>6 · Release dans le navigateur : Mazlum pilote, Guillaume commente</a:t>
            </a:r>
          </a:p>
          <a:p>
            <a:r>
              <a:t>↪ Guillaume : « Une bibliothèque de skills, ça se gouverne. »</a:t>
            </a:r>
          </a:p>
          <a:p/>
          <a:p>
            <a:r>
              <a:t>────────</a:t>
            </a:r>
          </a:p>
          <a:p>
            <a:r>
              <a:t>Session vierge = terminal gauche : claude --safe-mode --disable-slash-commands (ni CLAUDE.md, ni skills, même les built-in). Le moment clé, c'est le contraste. Ce ne sont pas les talents de l'IA qui font la différence, ce sont les règles. Pas de déploiement en live : une vraie release déjà publiée, dans le navigateur. Filets : sorties pré-capturées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Skills = code : versionnés, relus en PR, blast radius énorme</a:t>
            </a:r>
          </a:p>
          <a:p>
            <a:r>
              <a:t>• Transverses : Guillaume et moi · Domaine : ceux qui le connaissent · « On est huit, pas Google »</a:t>
            </a:r>
          </a:p>
          <a:p>
            <a:r>
              <a:t>↪ Guillaume : « Et même relu, un skill finit par vieillir. »</a:t>
            </a:r>
          </a:p>
          <a:p/>
          <a:p>
            <a:r>
              <a:t>────────</a:t>
            </a:r>
          </a:p>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 Mazlum, Guillaume</a:t>
            </a:r>
          </a:p>
          <a:p>
            <a:r>
              <a:t>• Une règle périmée n'échoue pas : elle apprend le mauvais pattern (run-all → run --all)</a:t>
            </a:r>
          </a:p>
          <a:p>
            <a:r>
              <a:t>• Mazlum : le factuel, un agent le repère ; « encore notre convention ? » reste humain</a:t>
            </a:r>
          </a:p>
          <a:p>
            <a:r>
              <a:t>• Guillaume : une règle qui peut devenir un check en devient un</a:t>
            </a:r>
          </a:p>
          <a:p/>
          <a:p>
            <a:r>
              <a:t>────────</a:t>
            </a:r>
          </a:p>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Guillaume</a:t>
            </a:r>
          </a:p>
          <a:p>
            <a:r>
              <a:t>• skill-validator : spec, liens, orphelins, taille</a:t>
            </a:r>
          </a:p>
          <a:p>
            <a:r>
              <a:t>• Workflow partagé épinglé par SHA, Dependabot</a:t>
            </a:r>
          </a:p>
          <a:p>
            <a:r>
              <a:t>↪ Mazlum : « Et on a appris une chose en route. »</a:t>
            </a:r>
          </a:p>
          <a:p/>
          <a:p>
            <a:r>
              <a:t>────────</a:t>
            </a:r>
          </a:p>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1re montée de version de pollen : 13 fichiers à retoucher</a:t>
            </a:r>
          </a:p>
          <a:p>
            <a:r>
              <a:t>• Désormais, la connaissance de pollen est un skill livré avec pollen</a:t>
            </a:r>
          </a:p>
          <a:p>
            <a:r>
              <a:t>↪ Guillaume : « Et pour aller plus loin, on a regardé chez les gros. »</a:t>
            </a:r>
          </a:p>
          <a:p/>
          <a:p>
            <a:r>
              <a:t>────────</a:t>
            </a:r>
          </a:p>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Mazlum</a:t>
            </a:r>
          </a:p>
          <a:p>
            <a:r>
              <a:t>• « Skills are products, not snippets » ; evals obligatoires et hebdo, multi-agents</a:t>
            </a:r>
          </a:p>
          <a:p>
            <a:r>
              <a:t>• Notre prochaine marche : les evals</a:t>
            </a:r>
          </a:p>
          <a:p>
            <a:r>
              <a:t>• Adaptez la gouvernance à votre taille, mais gardez-en une</a:t>
            </a:r>
          </a:p>
          <a:p/>
          <a:p>
            <a:r>
              <a:t>────────</a:t>
            </a:r>
          </a:p>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Un point chacun</a:t>
            </a:r>
          </a:p>
          <a:p>
            <a:r>
              <a:t>• Mazlum : conventions dans des skills, pas un CLAUDE.md géant</a:t>
            </a:r>
          </a:p>
          <a:p>
            <a:r>
              <a:t>• Guillaume : skills par projet, épinglés comme des dépendances</a:t>
            </a:r>
          </a:p>
          <a:p>
            <a:r>
              <a:t>• Mazlum : gouvernés comme du code · Guillaume : « relecture, CI… et bientôt des evals »</a:t>
            </a:r>
          </a:p>
          <a:p/>
          <a:p>
            <a:r>
              <a:t>────────</a:t>
            </a:r>
          </a:p>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Les deux</a:t>
            </a:r>
          </a:p>
          <a:p>
            <a:r>
              <a:t>• Mazlum : « Ce n'est pas par magie que l'IA a codé comme nous. »</a:t>
            </a:r>
          </a:p>
          <a:p>
            <a:r>
              <a:t>• Guillaume : « C'est parce que les règles sont là. »</a:t>
            </a:r>
          </a:p>
          <a:p>
            <a:r>
              <a:t>• Mazlum : « Merci ! On prend vos questions. »</a:t>
            </a:r>
          </a:p>
          <a:p/>
          <a:p>
            <a:r>
              <a:t>────────</a:t>
            </a:r>
          </a:p>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2.xml"/><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9.png"/><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9.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png"/><Relationship Id="rId4"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0.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3.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9.png"/><Relationship Id="rId4"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5.xml"/><Relationship Id="rId4"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0.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13.png"/><Relationship Id="rId4"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9.png"/><Relationship Id="rId4" Type="http://schemas.openxmlformats.org/officeDocument/2006/relationships/image" Target="../media/image1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pic>
        <p:nvPicPr>
          <p:cNvPr id="17" name="badge_psg.png" descr="badge_psg.png"/>
          <p:cNvPicPr>
            <a:picLocks noChangeAspect="1"/>
          </p:cNvPicPr>
          <p:nvPr/>
        </p:nvPicPr>
        <p:blipFill>
          <a:blip r:embed="rId5"/>
          <a:stretch>
            <a:fillRect/>
          </a:stretch>
        </p:blipFill>
        <p:spPr>
          <a:xfrm rot="720000">
            <a:off x="5246371" y="1339597"/>
            <a:ext cx="866508" cy="868680"/>
          </a:xfrm>
          <a:prstGeom prst="rect">
            <a:avLst/>
          </a:prstGeom>
        </p:spPr>
      </p:pic>
      <p:sp>
        <p:nvSpPr>
          <p:cNvPr id="18" name="Rounded Rectangle 17"/>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uillaume.png"/>
          <p:cNvPicPr>
            <a:picLocks noChangeAspect="1"/>
          </p:cNvPicPr>
          <p:nvPr/>
        </p:nvPicPr>
        <p:blipFill>
          <a:blip r:embed="rId6"/>
          <a:stretch>
            <a:fillRect/>
          </a:stretch>
        </p:blipFill>
        <p:spPr>
          <a:xfrm>
            <a:off x="6629400" y="2011680"/>
            <a:ext cx="1737360" cy="1737360"/>
          </a:xfrm>
          <a:prstGeom prst="ellipse">
            <a:avLst/>
          </a:prstGeom>
        </p:spPr>
      </p:pic>
      <p:sp>
        <p:nvSpPr>
          <p:cNvPr id="22" name="TextBox 21"/>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3" name="Hexagon 22"/>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5" name="Hexagon 24"/>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7" name="Hexagon 26"/>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9" name="bee_cool.png" descr="bee_cool.png"/>
          <p:cNvPicPr>
            <a:picLocks noChangeAspect="1"/>
          </p:cNvPicPr>
          <p:nvPr/>
        </p:nvPicPr>
        <p:blipFill>
          <a:blip r:embed="rId8"/>
          <a:stretch>
            <a:fillRect/>
          </a:stretch>
        </p:blipFill>
        <p:spPr>
          <a:xfrm rot="480000">
            <a:off x="10744200" y="228600"/>
            <a:ext cx="997857" cy="1005840"/>
          </a:xfrm>
          <a:prstGeom prst="rect">
            <a:avLst/>
          </a:prstGeom>
        </p:spPr>
      </p:pic>
      <p:pic>
        <p:nvPicPr>
          <p:cNvPr id="30" name="bee_grad.png" descr="bee_grad.png"/>
          <p:cNvPicPr>
            <a:picLocks noChangeAspect="1"/>
          </p:cNvPicPr>
          <p:nvPr/>
        </p:nvPicPr>
        <p:blipFill>
          <a:blip r:embed="rId9"/>
          <a:stretch>
            <a:fillRect/>
          </a:stretch>
        </p:blipFill>
        <p:spPr>
          <a:xfrm rot="21240000">
            <a:off x="10607040" y="4663440"/>
            <a:ext cx="840441" cy="1143000"/>
          </a:xfrm>
          <a:prstGeom prst="rect">
            <a:avLst/>
          </a:prstGeom>
        </p:spPr>
      </p:pic>
      <p:pic>
        <p:nvPicPr>
          <p:cNvPr id="31" name="logo.png" descr="logo.png"/>
          <p:cNvPicPr>
            <a:picLocks noChangeAspect="1"/>
          </p:cNvPicPr>
          <p:nvPr/>
        </p:nvPicPr>
        <p:blipFill>
          <a:blip r:embed="rId10"/>
          <a:stretch>
            <a:fillRect/>
          </a:stretch>
        </p:blipFill>
        <p:spPr>
          <a:xfrm>
            <a:off x="566928" y="6263640"/>
            <a:ext cx="899514" cy="274320"/>
          </a:xfrm>
          <a:prstGeom prst="rect">
            <a:avLst/>
          </a:prstGeom>
        </p:spPr>
      </p:pic>
      <p:sp>
        <p:nvSpPr>
          <p:cNvPr id="32" name="TextBox 3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9"/>
                                        </p:tgtEl>
                                        <p:attrNameLst>
                                          <p:attrName>style.visibility</p:attrName>
                                        </p:attrNameLst>
                                      </p:cBhvr>
                                      <p:to>
                                        <p:strVal val="visible"/>
                                      </p:to>
                                    </p:set>
                                    <p:anim calcmode="lin" valueType="num">
                                      <p:cBhvr>
                                        <p:cTn id="7" dur="500" fill="hold"/>
                                        <p:tgtEl>
                                          <p:spTgt spid="29"/>
                                        </p:tgtEl>
                                        <p:attrNameLst>
                                          <p:attrName>ppt_w</p:attrName>
                                        </p:attrNameLst>
                                      </p:cBhvr>
                                      <p:tavLst>
                                        <p:tav tm="0">
                                          <p:val>
                                            <p:fltVal val="0"/>
                                          </p:val>
                                        </p:tav>
                                        <p:tav tm="100000">
                                          <p:val>
                                            <p:strVal val="#ppt_w"/>
                                          </p:val>
                                        </p:tav>
                                      </p:tavLst>
                                    </p:anim>
                                    <p:anim calcmode="lin" valueType="num">
                                      <p:cBhvr>
                                        <p:cTn id="8" dur="500" fill="hold"/>
                                        <p:tgtEl>
                                          <p:spTgt spid="29"/>
                                        </p:tgtEl>
                                        <p:attrNameLst>
                                          <p:attrName>ppt_h</p:attrName>
                                        </p:attrNameLst>
                                      </p:cBhvr>
                                      <p:tavLst>
                                        <p:tav tm="0">
                                          <p:val>
                                            <p:fltVal val="0"/>
                                          </p:val>
                                        </p:tav>
                                        <p:tav tm="100000">
                                          <p:val>
                                            <p:strVal val="#ppt_h"/>
                                          </p:val>
                                        </p:tav>
                                      </p:tavLst>
                                    </p:anim>
                                    <p:animEffect transition="in" filter="fade">
                                      <p:cBhvr>
                                        <p:cTn id="9" dur="500"/>
                                        <p:tgtEl>
                                          <p:spTgt spid="29"/>
                                        </p:tgtEl>
                                      </p:cBhvr>
                                    </p:animEffect>
                                  </p:childTnLst>
                                </p:cTn>
                              </p:par>
                              <p:par>
                                <p:cTn id="10" presetID="53" presetClass="entr" presetSubtype="16" fill="hold" nodeType="withEffect">
                                  <p:stCondLst>
                                    <p:cond delay="0"/>
                                  </p:stCondLst>
                                  <p:childTnLst>
                                    <p:set>
                                      <p:cBhvr>
                                        <p:cTn id="11" dur="1" fill="hold">
                                          <p:stCondLst>
                                            <p:cond delay="0"/>
                                          </p:stCondLst>
                                        </p:cTn>
                                        <p:tgtEl>
                                          <p:spTgt spid="30"/>
                                        </p:tgtEl>
                                        <p:attrNameLst>
                                          <p:attrName>style.visibility</p:attrName>
                                        </p:attrNameLst>
                                      </p:cBhvr>
                                      <p:to>
                                        <p:strVal val="visible"/>
                                      </p:to>
                                    </p:set>
                                    <p:anim calcmode="lin" valueType="num">
                                      <p:cBhvr>
                                        <p:cTn id="12" dur="500" fill="hold"/>
                                        <p:tgtEl>
                                          <p:spTgt spid="30"/>
                                        </p:tgtEl>
                                        <p:attrNameLst>
                                          <p:attrName>ppt_w</p:attrName>
                                        </p:attrNameLst>
                                      </p:cBhvr>
                                      <p:tavLst>
                                        <p:tav tm="0">
                                          <p:val>
                                            <p:fltVal val="0"/>
                                          </p:val>
                                        </p:tav>
                                        <p:tav tm="100000">
                                          <p:val>
                                            <p:strVal val="#ppt_w"/>
                                          </p:val>
                                        </p:tav>
                                      </p:tavLst>
                                    </p:anim>
                                    <p:anim calcmode="lin" valueType="num">
                                      <p:cBhvr>
                                        <p:cTn id="13" dur="500" fill="hold"/>
                                        <p:tgtEl>
                                          <p:spTgt spid="30"/>
                                        </p:tgtEl>
                                        <p:attrNameLst>
                                          <p:attrName>ppt_h</p:attrName>
                                        </p:attrNameLst>
                                      </p:cBhvr>
                                      <p:tavLst>
                                        <p:tav tm="0">
                                          <p:val>
                                            <p:fltVal val="0"/>
                                          </p:val>
                                        </p:tav>
                                        <p:tav tm="100000">
                                          <p:val>
                                            <p:strVal val="#ppt_h"/>
                                          </p:val>
                                        </p:tav>
                                      </p:tavLst>
                                    </p:anim>
                                    <p:animEffect transition="in" filter="fade">
                                      <p:cBhvr>
                                        <p:cTn id="14"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En direct du TechCast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jt_satirique.jpg"/>
          <p:cNvPicPr>
            <a:picLocks noChangeAspect="1"/>
          </p:cNvPicPr>
          <p:nvPr/>
        </p:nvPicPr>
        <p:blipFill>
          <a:blip r:embed="rId2"/>
          <a:stretch>
            <a:fillRect/>
          </a:stretch>
        </p:blipFill>
        <p:spPr>
          <a:xfrm>
            <a:off x="2079409" y="1508760"/>
            <a:ext cx="8032876" cy="4480560"/>
          </a:xfrm>
          <a:prstGeom prst="rect">
            <a:avLst/>
          </a:prstGeom>
        </p:spPr>
      </p:pic>
      <p:pic>
        <p:nvPicPr>
          <p:cNvPr id="5"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6" name="TextBox 5"/>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uv, hexagonal, Dockerfile, tests, CI, AGENTS.md</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Le delta, puis une vraie release : tag, PR labellisées, notes</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24/31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Comment fait Google ?</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30/31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31/31</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