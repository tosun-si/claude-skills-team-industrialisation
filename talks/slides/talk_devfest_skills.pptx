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Bonjour à tous ! Générer du code avec une IA, aujourd'hui, c'est trivial. Le générer comme votre équipe l'attend, c'est une autre histoire. On va vous raconter comment on s'y est pris chez GroupBees.</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Mazlum : Head of Data chez GroupBees, GDE Cloud et Docker Captain. Guillaume : Platform Engineer &amp; SRE chez GroupBees, fondateur de THEREALM, et formateur à EPITECH et Polytech.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TODO : préciser en une phrase ce que l'IA génère sur la plateforme. L'idée : poser une stack moderne mais exigeante — hexagonal, Terragrunt, WIF, IAP. Pas triviale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seniors ont généré le premier backend, les fondations cloud et l'IaC — et, plus tard, les premiers skills transverses. Avec leur Claude, les autres ont réussi à faire évoluer ces stacks — c'est le côté positif.</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Dès qu'il fallait générer quelque chose de nouveau — un nouveau service back, une nouvelle stack IaC — les conventions n'étaient pas respectées. L'IA est douée, mais elle ne connaît pas NOS règles.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Premier réflexe, naturel : on écrit un CLAUDE.md qu'on se partage. Toutes nos règles au même endroit.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Montrer un vrai CLAUDE.md qui scrolle sans fin. Le problème n'est pas le contenu, c'est qu'il est chargé en permanence, même quand on écrit un commit et pas un Dockerfile.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Naturellement, on a découpé : c'est l'idée des skills. Un CLAUDE.md modulaire, chargé à la demande.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skill = un dossier, un SKILL.md, le standard ouvert Agent Skills (agentskills.io). La description sert de déclencheur : l'agent la voit en permanence, et ne lit le corps que si la tâche matche. C'est la progressive disclosure. Lu tel quel par Claude Code, Copilot, Cursor, Codex, Antigravity CLI.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standard Agent Skills prévoit trois dossiers optionnels à côté du SKILL.md. references/ : de la doc lue à la demande — sur un projet Node, l'agent lit node.md, pas les quatre autres. assets/ : des fichiers complets à copier — le Dockerfile Python, celui qui tourne en prod sur Solis. scripts/ : du code exécuté, jamais chargé dans le contexte — une convention vérifiable devient un script plutôt qu'une phrase. Trois niveaux de chargement : la description toujours, le SKILL.md au déclenchement, le reste seulement si besoin. Notre CI refuse tout autre dossier. → Bascule IDE sur skills-core pour ouvrir ces trois skills.</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ne jette pas le CLAUDE.md : il redevient ce qu'il doit être, le contexte durable du projet (chez nous un AGENTS.md + un pont CLAUDE.md). Les conventions, elles, partent dans les skills.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L'exemple de découpage : docker-image-conventions est agnostique du langage ; python-docker-multistage se compose par-dessus et n'ajoute que le spécifique Python. Même logique direnv / python-uv-direnv. Chaque skill reste petit, et le générique sert aux autres stacks.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Il fallait ensuite partager ces skills. Première approche : un catalogue git, synchronisé sur la machine de chaque dev.</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module = un repo git. Le script copie chaque skill dans les répertoires personnels que lisent les outils. Plusieurs modules cohabitent grâce à un ledger par module. Version = tag git.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Chargé en global, ça s'applique tout le temps, même sur nos projets non-GroupBees ou chez un client qui a ses propres règles. Même si ce sont de bonnes pratiques, on veut la flexibilité de choisir.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D'où l'idée : ne pas copier les skills dans chaque projet, mais garder des modules de skills et les importer, comme des dépendances. Et la factory va accueillir de nouveaux projets après Solis : chacun déclarera les skills d'équipe dont il a besoin, plus ses propres skills spécialisés.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s'appuie sur des standards ouverts, rien de propre à un outil. Un skill, c'est un dossier avec un SKILL.md : le même fichier est lu par Claude Code, Copilot, Cursor, Codex ou Antigravity CLI. pollen le déploie dans .claude/skills et .agents/skills, le dossier commun aux autres agents : Claude Code, lui, ne lit encore que .claude/skills (vérifié sur la v2.1.303), d'où les deux cibles — et dans .github/skills si on veut Copilot : une ligne dans pollen.yaml. Si l'équipe change d'agent demain, les skills restent. AGENTS.md, lui aussi standard, porte le contexte durable du projet ; les conventions vivent dans les skills. Claude Code lit AGENTS.md nativement depuis la v2.1.277, mais seulement quand le repo n'a pas de CLAUDE.md : on garde donc un CLAUDE.md d'une ligne, @AGENTS.md, qui marche dans toutes les sessions et ne fait jamais lire le fichier deux fois. Si on nous parle d'Agent Plugins (le format de paquet, v1.0 en août 2026) : on ne l'utilise pas. Il ne lit que skills/&lt;nom&gt;/, nos domaines y seraient invisibles, et pollen n'en a pas besoin pour déployer.</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pollen, notre CLI open source (Rust). Syntaxe inspirée de pre-commit : une liste de sources, chacune épinglée. Il installe, rafraîchit ce qui a bougé et supprime ce qu'on a retiré. Sources git — SSH pour les repos privés — ou dossier local. Déployé dans .claude/skills et .agents/skills : tous les agents sont servis.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assume un périmètre étroit : pollen déplace des dossiers qui existent et les valide contre la spec. Son état (.pollen.json) enregistre ce qu'il a installé et quelle config possède le dossier : un skill écrit à la main n'est jamais écrasé, et une seconde config sur le même dossier est refusée.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nous demande souvent : et le lockfile ? Un lockfile fige ce qu'un résolveur a choisi : des plages de versions et des dépendances transitives. pollen n'a ni l'un ni l'autre. Le commit épinglé dans pollen.yaml EST le lock, le tag en commentaire le rend lisible, et autoupdate --freeze (ou Renovate) le met à jour.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question qu'on nous pose le plus. npx skills (Vercel) installe aussi nos catalogues : repos privés en SSH, GitLab, chemins locaux, structure par domaines. La différence est dans le modèle. Eux : une CLI, des add successifs, un skills-lock.json qui retient le ref (souvent un tag) et un hash du contenu ; le déclaratif existe, en expérimental, dans le package.json. Nous : un pollen.yaml façon .pre-commit-config.yaml, à la racine de n'importe quel repo, Terraform, Python ou Java, sans package.json dans un repo qui n'a rien à voir avec npm. Chaque source est épinglée sur le commit d'une release, outdated part du dernier tag, et la montée de version se relit en PR. Eux sont bien plus larges ; nous, plus stricts pour une équipe. Les deux installent les mêmes skills : aucun lock-in.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 vraie config machine (les paths sont omis). Des modules de l'orga privés et publics, le skill de pollen lui-même, et un module perso sur mon compte : les règles d'équipe et les miennes se composent sans se mélanger. Un module perso vit sur le compte de celui qui le maintient ; un module d'équipe dans l'orga.</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Question qu'on nous pose souvent. Spec Kit (GitHub, v1.0) et BMAD (v6) sont eux-mêmes livrés en Agent Skills : /speckit-specify, plan, tasks… et les personas BMAD (analyste, PM, architecte, dev). Ils structurent le processus d'une feature. Nos conventions techniques, eux les prennent en prose : la constitution.md de Spec Kit, les persistent_facts de BMAD. Les deux se composent : un /speckit-plan dans un repo qui a nos skills sort un plan hexagonal, avec notre Dockerfile et notre CI. Et eux aussi ont leur CLI de distribution par projet : le problème qu'on résout avec pollen est le même pour tout le monde.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Session vierge = terminal gauche : claude --safe-mode --disable-slash-commands (ni CLAUDE.md, ni skills, même les built-in). Le moment clé, c'est le contraste. Ce ne sont pas les talents de l'IA qui font la différence, ce sont les règles. Filets : URL déjà déployée + screencast.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Qui relit ? Les skills transverses (Docker, CI, IaC, commits…) : les référents tech, Guillaume et moi, qui les avons posés au départ. Un skill spécialisé, comme celui de l'API Solis, est porté par les référents du domaine : Iliass, chercheur, qui implémente une bonne partie des features de Solis, avec Youssef, lead API et produit, et Rafik, entre tech et produit. Des profils tech, spécialisés sur ce sujet, qui en savent plus que nous : on relit avec eux. Chez Orange, notre client, même modèle : les modules transverses sont tenus par les référents tech et l'équipe platform, les repos spécialisés par le référent de leur domaine. Toujours une PR, jamais relue par son seul auteur, et la CI vérifie le mécanique.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vrai risque d'une lib de skills, c'est la règle périmée : elle ne casse rien, elle apprend en silence le mauvais pattern à l'agent. Ce qui pourrit, c'est le volatil : flags, versions, commandes. On l'isole du durable. War story : un skill Terragrunt référençait run-all, remplacé par run --all. Péremption factuelle, parfaite pour un scan IA. La péremption de jugement — est-ce encore notre convention ? — reste humaine, en revue. Quand une règle est mécanique, on en fait un check qui casse fort : le hook commit-msg qui refuse les co-auteurs IA, skill-validator sur chaque skill en CI. Ce qu'on n'a pas encore : des evals, un prompt de référence rejoué avec le skill pour prouver qu'il produit toujours le bon résultat. C'est notre démo avec et sans skills, automatisée. On va commencer par quelques skills mécaniques, Docker et commits.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skill-validator (agent-ecosystem, open source) : conformité à la spec, budget de tokens, liens cassés, fichiers orphelins, qualité des descriptions. La CI vit dans un workflow partagé public, épinglé par commit ; Dependabot ouvre la PR quand il évolue.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War story : à la première montée de version de pollen, il a fallu retoucher 13 fichiers dans nos modules. C'était exactement le CLAUDE.md monolithique qu'on dénonce, dupliqué. La connaissance de l'outil est devenue un skill livré avec l'outil ; les modules n'ont plus rien à retoucher.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 blog Google Cloud « Behind the scenes: how we build, test and scale Google agent skills » (août 2026). Leur CI : lint, vérification des liens, checklists assistées par IA, et surtout les evals. C'est là qu'on n'en est pas encore. Et un owner par skill : nous, on est huit, pas Google. Pas d'organigramme, mais ceux qui savent : les référents tech relisent le transverse, les référents d'un domaine portent ses skills spécialisés, et la CI vérifie le mécanique. Adaptez la gouvernance à votre taille, mais gardez-en une.</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idées à ramener lundi matin dans votre équipe.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Merci ! On prend vos questions.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xml"/><Relationship Id="rId5" Type="http://schemas.openxmlformats.org/officeDocument/2006/relationships/image" Target="../media/image3.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notesSlide" Target="../notesSlides/notesSlide2.xml"/><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xml"/><Relationship Id="rId4" Type="http://schemas.openxmlformats.org/officeDocument/2006/relationships/image" Target="../media/image10.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4.xml"/><Relationship Id="rId4" Type="http://schemas.openxmlformats.org/officeDocument/2006/relationships/image" Target="../media/image10.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2.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6.xml"/><Relationship Id="rId4" Type="http://schemas.openxmlformats.org/officeDocument/2006/relationships/image" Target="../media/image1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8.png"/><Relationship Id="rId4" Type="http://schemas.openxmlformats.org/officeDocument/2006/relationships/image" Target="../media/image10.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8.xml"/><Relationship Id="rId4" Type="http://schemas.openxmlformats.org/officeDocument/2006/relationships/image" Target="../media/image10.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8.png"/><Relationship Id="rId4" Type="http://schemas.openxmlformats.org/officeDocument/2006/relationships/image" Target="../media/image10.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 Id="rId3" Type="http://schemas.openxmlformats.org/officeDocument/2006/relationships/image" Target="../media/image1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10.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3.xml"/><Relationship Id="rId4" Type="http://schemas.openxmlformats.org/officeDocument/2006/relationships/image" Target="../media/image10.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10.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png"/><Relationship Id="rId4" Type="http://schemas.openxmlformats.org/officeDocument/2006/relationships/image" Target="../media/image10.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16.xml"/><Relationship Id="rId4" Type="http://schemas.openxmlformats.org/officeDocument/2006/relationships/image" Target="../media/image10.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 Id="rId3" Type="http://schemas.openxmlformats.org/officeDocument/2006/relationships/image" Target="../media/image2.png"/><Relationship Id="rId4"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19.xml"/><Relationship Id="rId4"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10.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 Id="rId3" Type="http://schemas.openxmlformats.org/officeDocument/2006/relationships/image" Target="../media/image3.png"/><Relationship Id="rId4"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8.png"/><Relationship Id="rId4" Type="http://schemas.openxmlformats.org/officeDocument/2006/relationships/image" Target="../media/image10.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4.xml"/><Relationship Id="rId4"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 Id="rId3" Type="http://schemas.openxmlformats.org/officeDocument/2006/relationships/image" Target="../media/image9.png"/><Relationship Id="rId4" Type="http://schemas.openxmlformats.org/officeDocument/2006/relationships/image" Target="../media/image10.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 Id="rId3" Type="http://schemas.openxmlformats.org/officeDocument/2006/relationships/image" Target="../media/image9.png"/><Relationship Id="rId4"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10.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11.png"/><Relationship Id="rId4" Type="http://schemas.openxmlformats.org/officeDocument/2006/relationships/image" Target="../media/image1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8.png"/><Relationship Id="rId4" Type="http://schemas.openxmlformats.org/officeDocument/2006/relationships/image" Target="../media/image10.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1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1.xml"/><Relationship Id="rId4" Type="http://schemas.openxmlformats.org/officeDocument/2006/relationships/image" Target="../media/image1.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logo_light.png" descr="logo_light.png"/>
          <p:cNvPicPr>
            <a:picLocks noChangeAspect="1"/>
          </p:cNvPicPr>
          <p:nvPr/>
        </p:nvPicPr>
        <p:blipFill>
          <a:blip r:embed="rId2"/>
          <a:stretch>
            <a:fillRect/>
          </a:stretch>
        </p:blipFill>
        <p:spPr>
          <a:xfrm>
            <a:off x="640080" y="566928"/>
            <a:ext cx="2286000" cy="697149"/>
          </a:xfrm>
          <a:prstGeom prst="rect">
            <a:avLst/>
          </a:prstGeom>
        </p:spPr>
      </p:pic>
      <p:pic>
        <p:nvPicPr>
          <p:cNvPr id="5" name="bee.png" descr="bee.png"/>
          <p:cNvPicPr>
            <a:picLocks noChangeAspect="1"/>
          </p:cNvPicPr>
          <p:nvPr/>
        </p:nvPicPr>
        <p:blipFill>
          <a:blip r:embed="rId3"/>
          <a:stretch>
            <a:fillRect/>
          </a:stretch>
        </p:blipFill>
        <p:spPr>
          <a:xfrm>
            <a:off x="8595360" y="1371600"/>
            <a:ext cx="3562685" cy="4206240"/>
          </a:xfrm>
          <a:prstGeom prst="rect">
            <a:avLst/>
          </a:prstGeom>
        </p:spPr>
      </p:pic>
      <p:sp>
        <p:nvSpPr>
          <p:cNvPr id="6" name="TextBox 5"/>
          <p:cNvSpPr txBox="1"/>
          <p:nvPr/>
        </p:nvSpPr>
        <p:spPr>
          <a:xfrm>
            <a:off x="640080" y="1737360"/>
            <a:ext cx="7863840" cy="1828800"/>
          </a:xfrm>
          <a:prstGeom prst="rect">
            <a:avLst/>
          </a:prstGeom>
          <a:noFill/>
        </p:spPr>
        <p:txBody>
          <a:bodyPr wrap="square" lIns="0" rIns="0" tIns="0" bIns="0" anchor="b">
            <a:spAutoFit/>
          </a:bodyPr>
          <a:lstStyle/>
          <a:p>
            <a:pPr algn="l">
              <a:spcAft>
                <a:spcPts val="0"/>
              </a:spcAft>
            </a:pPr>
            <a:r>
              <a:rPr sz="5400" b="1">
                <a:solidFill>
                  <a:srgbClr val="FFFFFF"/>
                </a:solidFill>
                <a:latin typeface="Avenir Next"/>
              </a:rPr>
              <a:t>Industrialiser l'IA</a:t>
            </a:r>
          </a:p>
          <a:p>
            <a:pPr algn="l">
              <a:spcAft>
                <a:spcPts val="0"/>
              </a:spcAft>
            </a:pPr>
            <a:r>
              <a:rPr sz="5400" b="1">
                <a:solidFill>
                  <a:srgbClr val="FFFFFF"/>
                </a:solidFill>
                <a:latin typeface="Avenir Next"/>
              </a:rPr>
              <a:t>en équipe</a:t>
            </a:r>
          </a:p>
        </p:txBody>
      </p:sp>
      <p:sp>
        <p:nvSpPr>
          <p:cNvPr id="7" name="TextBox 6"/>
          <p:cNvSpPr txBox="1"/>
          <p:nvPr/>
        </p:nvSpPr>
        <p:spPr>
          <a:xfrm>
            <a:off x="640080" y="3749039"/>
            <a:ext cx="7498079" cy="914400"/>
          </a:xfrm>
          <a:prstGeom prst="rect">
            <a:avLst/>
          </a:prstGeom>
          <a:noFill/>
        </p:spPr>
        <p:txBody>
          <a:bodyPr wrap="square" lIns="0" rIns="0" tIns="0" bIns="0">
            <a:spAutoFit/>
          </a:bodyPr>
          <a:lstStyle/>
          <a:p>
            <a:pPr algn="l">
              <a:spcAft>
                <a:spcPts val="0"/>
              </a:spcAft>
            </a:pPr>
            <a:r>
              <a:rPr sz="2400">
                <a:solidFill>
                  <a:srgbClr val="C9CFDC"/>
                </a:solidFill>
                <a:latin typeface="Avenir Next"/>
              </a:rPr>
              <a:t>Des skills qui encodent vos conventions</a:t>
            </a:r>
          </a:p>
        </p:txBody>
      </p:sp>
      <p:sp>
        <p:nvSpPr>
          <p:cNvPr id="8" name="Rectangle 7"/>
          <p:cNvSpPr/>
          <p:nvPr/>
        </p:nvSpPr>
        <p:spPr>
          <a:xfrm>
            <a:off x="640080" y="4709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20640"/>
            <a:ext cx="7863840" cy="457200"/>
          </a:xfrm>
          <a:prstGeom prst="rect">
            <a:avLst/>
          </a:prstGeom>
          <a:noFill/>
        </p:spPr>
        <p:txBody>
          <a:bodyPr wrap="square" lIns="0" rIns="0" tIns="0" bIns="0">
            <a:spAutoFit/>
          </a:bodyPr>
          <a:lstStyle/>
          <a:p>
            <a:pPr algn="l">
              <a:spcAft>
                <a:spcPts val="0"/>
              </a:spcAft>
            </a:pPr>
            <a:r>
              <a:rPr sz="1600">
                <a:solidFill>
                  <a:srgbClr val="00B5FB"/>
                </a:solidFill>
                <a:latin typeface="Avenir Next"/>
              </a:rPr>
              <a:t>Mazlum Tosun &amp; Guillaume Leroy · GroupBees · DevFest Toulouse 2026</a:t>
            </a:r>
          </a:p>
        </p:txBody>
      </p:sp>
      <p:pic>
        <p:nvPicPr>
          <p:cNvPr id="10" name="bee_happy.png" descr="bee_happy.png"/>
          <p:cNvPicPr>
            <a:picLocks noChangeAspect="1"/>
          </p:cNvPicPr>
          <p:nvPr/>
        </p:nvPicPr>
        <p:blipFill>
          <a:blip r:embed="rId5"/>
          <a:stretch>
            <a:fillRect/>
          </a:stretch>
        </p:blipFill>
        <p:spPr>
          <a:xfrm rot="20880000" flipH="1">
            <a:off x="6949440" y="411480"/>
            <a:ext cx="696951" cy="868680"/>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5"/>
                                        </p:tgtEl>
                                        <p:attrNameLst>
                                          <p:attrName>style.visibility</p:attrName>
                                        </p:attrNameLst>
                                      </p:cBhvr>
                                      <p:to>
                                        <p:strVal val="visible"/>
                                      </p:to>
                                    </p:set>
                                    <p:anim calcmode="lin" valueType="num">
                                      <p:cBhvr>
                                        <p:cTn id="7" dur="500" fill="hold"/>
                                        <p:tgtEl>
                                          <p:spTgt spid="5"/>
                                        </p:tgtEl>
                                        <p:attrNameLst>
                                          <p:attrName>ppt_w</p:attrName>
                                        </p:attrNameLst>
                                      </p:cBhvr>
                                      <p:tavLst>
                                        <p:tav tm="0">
                                          <p:val>
                                            <p:fltVal val="0"/>
                                          </p:val>
                                        </p:tav>
                                        <p:tav tm="100000">
                                          <p:val>
                                            <p:strVal val="#ppt_w"/>
                                          </p:val>
                                        </p:tav>
                                      </p:tavLst>
                                    </p:anim>
                                    <p:anim calcmode="lin" valueType="num">
                                      <p:cBhvr>
                                        <p:cTn id="8" dur="500" fill="hold"/>
                                        <p:tgtEl>
                                          <p:spTgt spid="5"/>
                                        </p:tgtEl>
                                        <p:attrNameLst>
                                          <p:attrName>ppt_h</p:attrName>
                                        </p:attrNameLst>
                                      </p:cBhvr>
                                      <p:tavLst>
                                        <p:tav tm="0">
                                          <p:val>
                                            <p:fltVal val="0"/>
                                          </p:val>
                                        </p:tav>
                                        <p:tav tm="100000">
                                          <p:val>
                                            <p:strVal val="#ppt_h"/>
                                          </p:val>
                                        </p:tav>
                                      </p:tavLst>
                                    </p:anim>
                                    <p:animEffect transition="in" filter="fade">
                                      <p:cBhvr>
                                        <p:cTn id="9" dur="500"/>
                                        <p:tgtEl>
                                          <p:spTgt spid="5"/>
                                        </p:tgtEl>
                                      </p:cBhvr>
                                    </p:animEffect>
                                  </p:childTnLst>
                                </p:cTn>
                              </p:par>
                              <p:par>
                                <p:cTn id="10" presetID="53" presetClass="entr" presetSubtype="16" fill="hold" nodeType="withEffect">
                                  <p:stCondLst>
                                    <p:cond delay="0"/>
                                  </p:stCondLst>
                                  <p:childTnLst>
                                    <p:set>
                                      <p:cBhvr>
                                        <p:cTn id="11" dur="1" fill="hold">
                                          <p:stCondLst>
                                            <p:cond delay="0"/>
                                          </p:stCondLst>
                                        </p:cTn>
                                        <p:tgtEl>
                                          <p:spTgt spid="10"/>
                                        </p:tgtEl>
                                        <p:attrNameLst>
                                          <p:attrName>style.visibility</p:attrName>
                                        </p:attrNameLst>
                                      </p:cBhvr>
                                      <p:to>
                                        <p:strVal val="visible"/>
                                      </p:to>
                                    </p:set>
                                    <p:anim calcmode="lin" valueType="num">
                                      <p:cBhvr>
                                        <p:cTn id="12" dur="500" fill="hold"/>
                                        <p:tgtEl>
                                          <p:spTgt spid="10"/>
                                        </p:tgtEl>
                                        <p:attrNameLst>
                                          <p:attrName>ppt_w</p:attrName>
                                        </p:attrNameLst>
                                      </p:cBhvr>
                                      <p:tavLst>
                                        <p:tav tm="0">
                                          <p:val>
                                            <p:fltVal val="0"/>
                                          </p:val>
                                        </p:tav>
                                        <p:tav tm="100000">
                                          <p:val>
                                            <p:strVal val="#ppt_w"/>
                                          </p:val>
                                        </p:tav>
                                      </p:tavLst>
                                    </p:anim>
                                    <p:anim calcmode="lin" valueType="num">
                                      <p:cBhvr>
                                        <p:cTn id="13" dur="500" fill="hold"/>
                                        <p:tgtEl>
                                          <p:spTgt spid="10"/>
                                        </p:tgtEl>
                                        <p:attrNameLst>
                                          <p:attrName>ppt_h</p:attrName>
                                        </p:attrNameLst>
                                      </p:cBhvr>
                                      <p:tavLst>
                                        <p:tav tm="0">
                                          <p:val>
                                            <p:fltVal val="0"/>
                                          </p:val>
                                        </p:tav>
                                        <p:tav tm="100000">
                                          <p:val>
                                            <p:strVal val="#ppt_h"/>
                                          </p:val>
                                        </p:tav>
                                      </p:tavLst>
                                    </p:anim>
                                    <p:animEffect transition="in" filter="fade">
                                      <p:cBhvr>
                                        <p:cTn id="14"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Qui sommes-nous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64008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92354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7" name="Picture 6" descr="mazlum.jpg"/>
          <p:cNvPicPr>
            <a:picLocks noChangeAspect="1"/>
          </p:cNvPicPr>
          <p:nvPr/>
        </p:nvPicPr>
        <p:blipFill>
          <a:blip r:embed="rId2"/>
          <a:stretch>
            <a:fillRect/>
          </a:stretch>
        </p:blipFill>
        <p:spPr>
          <a:xfrm>
            <a:off x="1005840" y="2011680"/>
            <a:ext cx="1737360" cy="1737360"/>
          </a:xfrm>
          <a:prstGeom prst="ellipse">
            <a:avLst/>
          </a:prstGeom>
        </p:spPr>
      </p:pic>
      <p:sp>
        <p:nvSpPr>
          <p:cNvPr id="8" name="TextBox 7"/>
          <p:cNvSpPr txBox="1"/>
          <p:nvPr/>
        </p:nvSpPr>
        <p:spPr>
          <a:xfrm>
            <a:off x="306324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Mazlum</a:t>
            </a:r>
          </a:p>
          <a:p>
            <a:pPr algn="l">
              <a:spcAft>
                <a:spcPts val="0"/>
              </a:spcAft>
            </a:pPr>
            <a:r>
              <a:rPr sz="3000" b="1">
                <a:solidFill>
                  <a:srgbClr val="14141A"/>
                </a:solidFill>
                <a:latin typeface="Avenir Next"/>
              </a:rPr>
              <a:t>Tosun</a:t>
            </a:r>
          </a:p>
        </p:txBody>
      </p:sp>
      <p:sp>
        <p:nvSpPr>
          <p:cNvPr id="9" name="Hexagon 8"/>
          <p:cNvSpPr/>
          <p:nvPr/>
        </p:nvSpPr>
        <p:spPr>
          <a:xfrm>
            <a:off x="105156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37160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Head of Data · GroupBees</a:t>
            </a:r>
          </a:p>
        </p:txBody>
      </p:sp>
      <p:sp>
        <p:nvSpPr>
          <p:cNvPr id="11" name="Hexagon 10"/>
          <p:cNvSpPr/>
          <p:nvPr/>
        </p:nvSpPr>
        <p:spPr>
          <a:xfrm>
            <a:off x="105156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37160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Google Developer Expert Cloud</a:t>
            </a:r>
          </a:p>
        </p:txBody>
      </p:sp>
      <p:sp>
        <p:nvSpPr>
          <p:cNvPr id="13" name="Hexagon 12"/>
          <p:cNvSpPr/>
          <p:nvPr/>
        </p:nvSpPr>
        <p:spPr>
          <a:xfrm>
            <a:off x="105156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37160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Docker Captain</a:t>
            </a:r>
          </a:p>
        </p:txBody>
      </p:sp>
      <p:pic>
        <p:nvPicPr>
          <p:cNvPr id="15" name="badge_gde.png" descr="badge_gde.png"/>
          <p:cNvPicPr>
            <a:picLocks noChangeAspect="1"/>
          </p:cNvPicPr>
          <p:nvPr/>
        </p:nvPicPr>
        <p:blipFill>
          <a:blip r:embed="rId3"/>
          <a:stretch>
            <a:fillRect/>
          </a:stretch>
        </p:blipFill>
        <p:spPr>
          <a:xfrm>
            <a:off x="3063240" y="3255264"/>
            <a:ext cx="1667116" cy="347472"/>
          </a:xfrm>
          <a:prstGeom prst="rect">
            <a:avLst/>
          </a:prstGeom>
        </p:spPr>
      </p:pic>
      <p:pic>
        <p:nvPicPr>
          <p:cNvPr id="16" name="badge_docker_captain.png" descr="badge_docker_captain.png"/>
          <p:cNvPicPr>
            <a:picLocks noChangeAspect="1"/>
          </p:cNvPicPr>
          <p:nvPr/>
        </p:nvPicPr>
        <p:blipFill>
          <a:blip r:embed="rId4"/>
          <a:stretch>
            <a:fillRect/>
          </a:stretch>
        </p:blipFill>
        <p:spPr>
          <a:xfrm>
            <a:off x="5050396" y="3108960"/>
            <a:ext cx="476922" cy="640080"/>
          </a:xfrm>
          <a:prstGeom prst="rect">
            <a:avLst/>
          </a:prstGeom>
        </p:spPr>
      </p:pic>
      <p:sp>
        <p:nvSpPr>
          <p:cNvPr id="17" name="Rounded Rectangle 16"/>
          <p:cNvSpPr/>
          <p:nvPr/>
        </p:nvSpPr>
        <p:spPr>
          <a:xfrm>
            <a:off x="6263640" y="1600200"/>
            <a:ext cx="5257800" cy="4343400"/>
          </a:xfrm>
          <a:prstGeom prst="roundRect">
            <a:avLst>
              <a:gd name="adj" fmla="val 6000"/>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63640" y="1600200"/>
            <a:ext cx="5257800" cy="82296"/>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6547104" y="1929384"/>
            <a:ext cx="1901952" cy="1901952"/>
          </a:xfrm>
          <a:prstGeom prst="ellipse">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guillaume.png"/>
          <p:cNvPicPr>
            <a:picLocks noChangeAspect="1"/>
          </p:cNvPicPr>
          <p:nvPr/>
        </p:nvPicPr>
        <p:blipFill>
          <a:blip r:embed="rId5"/>
          <a:stretch>
            <a:fillRect/>
          </a:stretch>
        </p:blipFill>
        <p:spPr>
          <a:xfrm>
            <a:off x="6629400" y="2011680"/>
            <a:ext cx="1737360" cy="1737360"/>
          </a:xfrm>
          <a:prstGeom prst="ellipse">
            <a:avLst/>
          </a:prstGeom>
        </p:spPr>
      </p:pic>
      <p:sp>
        <p:nvSpPr>
          <p:cNvPr id="21" name="TextBox 20"/>
          <p:cNvSpPr txBox="1"/>
          <p:nvPr/>
        </p:nvSpPr>
        <p:spPr>
          <a:xfrm>
            <a:off x="8686800" y="2103120"/>
            <a:ext cx="2651760" cy="1280160"/>
          </a:xfrm>
          <a:prstGeom prst="rect">
            <a:avLst/>
          </a:prstGeom>
          <a:noFill/>
        </p:spPr>
        <p:txBody>
          <a:bodyPr wrap="square" lIns="0" rIns="0" tIns="0" bIns="0">
            <a:spAutoFit/>
          </a:bodyPr>
          <a:lstStyle/>
          <a:p>
            <a:pPr algn="l">
              <a:spcAft>
                <a:spcPts val="0"/>
              </a:spcAft>
            </a:pPr>
            <a:r>
              <a:rPr sz="3000" b="1">
                <a:solidFill>
                  <a:srgbClr val="14141A"/>
                </a:solidFill>
                <a:latin typeface="Avenir Next"/>
              </a:rPr>
              <a:t>Guillaume</a:t>
            </a:r>
          </a:p>
          <a:p>
            <a:pPr algn="l">
              <a:spcAft>
                <a:spcPts val="0"/>
              </a:spcAft>
            </a:pPr>
            <a:r>
              <a:rPr sz="3000" b="1">
                <a:solidFill>
                  <a:srgbClr val="14141A"/>
                </a:solidFill>
                <a:latin typeface="Avenir Next"/>
              </a:rPr>
              <a:t>Leroy</a:t>
            </a:r>
          </a:p>
        </p:txBody>
      </p:sp>
      <p:sp>
        <p:nvSpPr>
          <p:cNvPr id="22" name="Hexagon 21"/>
          <p:cNvSpPr/>
          <p:nvPr/>
        </p:nvSpPr>
        <p:spPr>
          <a:xfrm>
            <a:off x="6675120" y="416052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95160" y="4069080"/>
            <a:ext cx="4251960" cy="365760"/>
          </a:xfrm>
          <a:prstGeom prst="rect">
            <a:avLst/>
          </a:prstGeom>
          <a:noFill/>
        </p:spPr>
        <p:txBody>
          <a:bodyPr wrap="square" lIns="0" rIns="0" tIns="0" bIns="0">
            <a:spAutoFit/>
          </a:bodyPr>
          <a:lstStyle/>
          <a:p>
            <a:pPr algn="l">
              <a:spcAft>
                <a:spcPts val="0"/>
              </a:spcAft>
            </a:pPr>
            <a:r>
              <a:rPr sz="1800" b="1">
                <a:solidFill>
                  <a:srgbClr val="2A2F3A"/>
                </a:solidFill>
                <a:latin typeface="Avenir Next"/>
              </a:rPr>
              <a:t>Platform Engineer &amp; SRE · GroupBees</a:t>
            </a:r>
          </a:p>
        </p:txBody>
      </p:sp>
      <p:sp>
        <p:nvSpPr>
          <p:cNvPr id="24" name="Hexagon 23"/>
          <p:cNvSpPr/>
          <p:nvPr/>
        </p:nvSpPr>
        <p:spPr>
          <a:xfrm>
            <a:off x="6675120" y="4572000"/>
            <a:ext cx="146304" cy="146304"/>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995160" y="448056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Fondateur · THEREALM</a:t>
            </a:r>
          </a:p>
        </p:txBody>
      </p:sp>
      <p:sp>
        <p:nvSpPr>
          <p:cNvPr id="26" name="Hexagon 25"/>
          <p:cNvSpPr/>
          <p:nvPr/>
        </p:nvSpPr>
        <p:spPr>
          <a:xfrm>
            <a:off x="6675120" y="4983480"/>
            <a:ext cx="146304" cy="146304"/>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995160" y="4892040"/>
            <a:ext cx="4251960" cy="365760"/>
          </a:xfrm>
          <a:prstGeom prst="rect">
            <a:avLst/>
          </a:prstGeom>
          <a:noFill/>
        </p:spPr>
        <p:txBody>
          <a:bodyPr wrap="square" lIns="0" rIns="0" tIns="0" bIns="0">
            <a:spAutoFit/>
          </a:bodyPr>
          <a:lstStyle/>
          <a:p>
            <a:pPr algn="l">
              <a:spcAft>
                <a:spcPts val="0"/>
              </a:spcAft>
            </a:pPr>
            <a:r>
              <a:rPr sz="1800" b="0">
                <a:solidFill>
                  <a:srgbClr val="2A2F3A"/>
                </a:solidFill>
                <a:latin typeface="Avenir Next"/>
              </a:rPr>
              <a:t>Formateur · EPITECH &amp; Polytech</a:t>
            </a:r>
          </a:p>
        </p:txBody>
      </p:sp>
      <p:pic>
        <p:nvPicPr>
          <p:cNvPr id="28" name="bee_cool.png" descr="bee_cool.png"/>
          <p:cNvPicPr>
            <a:picLocks noChangeAspect="1"/>
          </p:cNvPicPr>
          <p:nvPr/>
        </p:nvPicPr>
        <p:blipFill>
          <a:blip r:embed="rId7"/>
          <a:stretch>
            <a:fillRect/>
          </a:stretch>
        </p:blipFill>
        <p:spPr>
          <a:xfrm rot="480000">
            <a:off x="10744200" y="228600"/>
            <a:ext cx="997857" cy="1005840"/>
          </a:xfrm>
          <a:prstGeom prst="rect">
            <a:avLst/>
          </a:prstGeom>
        </p:spPr>
      </p:pic>
      <p:pic>
        <p:nvPicPr>
          <p:cNvPr id="29" name="bee_grad.png" descr="bee_grad.png"/>
          <p:cNvPicPr>
            <a:picLocks noChangeAspect="1"/>
          </p:cNvPicPr>
          <p:nvPr/>
        </p:nvPicPr>
        <p:blipFill>
          <a:blip r:embed="rId8"/>
          <a:stretch>
            <a:fillRect/>
          </a:stretch>
        </p:blipFill>
        <p:spPr>
          <a:xfrm rot="21240000">
            <a:off x="10607040" y="4663440"/>
            <a:ext cx="840441" cy="1143000"/>
          </a:xfrm>
          <a:prstGeom prst="rect">
            <a:avLst/>
          </a:prstGeom>
        </p:spPr>
      </p:pic>
      <p:pic>
        <p:nvPicPr>
          <p:cNvPr id="30" name="logo.png" descr="logo.png"/>
          <p:cNvPicPr>
            <a:picLocks noChangeAspect="1"/>
          </p:cNvPicPr>
          <p:nvPr/>
        </p:nvPicPr>
        <p:blipFill>
          <a:blip r:embed="rId9"/>
          <a:stretch>
            <a:fillRect/>
          </a:stretch>
        </p:blipFill>
        <p:spPr>
          <a:xfrm>
            <a:off x="566928" y="6263640"/>
            <a:ext cx="899514" cy="274320"/>
          </a:xfrm>
          <a:prstGeom prst="rect">
            <a:avLst/>
          </a:prstGeom>
        </p:spPr>
      </p:pic>
      <p:sp>
        <p:nvSpPr>
          <p:cNvPr id="31" name="TextBox 30"/>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8"/>
                                        </p:tgtEl>
                                        <p:attrNameLst>
                                          <p:attrName>style.visibility</p:attrName>
                                        </p:attrNameLst>
                                      </p:cBhvr>
                                      <p:to>
                                        <p:strVal val="visible"/>
                                      </p:to>
                                    </p:set>
                                    <p:anim calcmode="lin" valueType="num">
                                      <p:cBhvr>
                                        <p:cTn id="7" dur="500" fill="hold"/>
                                        <p:tgtEl>
                                          <p:spTgt spid="28"/>
                                        </p:tgtEl>
                                        <p:attrNameLst>
                                          <p:attrName>ppt_w</p:attrName>
                                        </p:attrNameLst>
                                      </p:cBhvr>
                                      <p:tavLst>
                                        <p:tav tm="0">
                                          <p:val>
                                            <p:fltVal val="0"/>
                                          </p:val>
                                        </p:tav>
                                        <p:tav tm="100000">
                                          <p:val>
                                            <p:strVal val="#ppt_w"/>
                                          </p:val>
                                        </p:tav>
                                      </p:tavLst>
                                    </p:anim>
                                    <p:anim calcmode="lin" valueType="num">
                                      <p:cBhvr>
                                        <p:cTn id="8" dur="500" fill="hold"/>
                                        <p:tgtEl>
                                          <p:spTgt spid="28"/>
                                        </p:tgtEl>
                                        <p:attrNameLst>
                                          <p:attrName>ppt_h</p:attrName>
                                        </p:attrNameLst>
                                      </p:cBhvr>
                                      <p:tavLst>
                                        <p:tav tm="0">
                                          <p:val>
                                            <p:fltVal val="0"/>
                                          </p:val>
                                        </p:tav>
                                        <p:tav tm="100000">
                                          <p:val>
                                            <p:strVal val="#ppt_h"/>
                                          </p:val>
                                        </p:tav>
                                      </p:tavLst>
                                    </p:anim>
                                    <p:animEffect transition="in" filter="fade">
                                      <p:cBhvr>
                                        <p:cTn id="9" dur="500"/>
                                        <p:tgtEl>
                                          <p:spTgt spid="28"/>
                                        </p:tgtEl>
                                      </p:cBhvr>
                                    </p:animEffect>
                                  </p:childTnLst>
                                </p:cTn>
                              </p:par>
                              <p:par>
                                <p:cTn id="10" presetID="53" presetClass="entr" presetSubtype="16" fill="hold" nodeType="withEffect">
                                  <p:stCondLst>
                                    <p:cond delay="0"/>
                                  </p:stCondLst>
                                  <p:childTnLst>
                                    <p:set>
                                      <p:cBhvr>
                                        <p:cTn id="11" dur="1" fill="hold">
                                          <p:stCondLst>
                                            <p:cond delay="0"/>
                                          </p:stCondLst>
                                        </p:cTn>
                                        <p:tgtEl>
                                          <p:spTgt spid="29"/>
                                        </p:tgtEl>
                                        <p:attrNameLst>
                                          <p:attrName>style.visibility</p:attrName>
                                        </p:attrNameLst>
                                      </p:cBhvr>
                                      <p:to>
                                        <p:strVal val="visible"/>
                                      </p:to>
                                    </p:set>
                                    <p:anim calcmode="lin" valueType="num">
                                      <p:cBhvr>
                                        <p:cTn id="12" dur="500" fill="hold"/>
                                        <p:tgtEl>
                                          <p:spTgt spid="29"/>
                                        </p:tgtEl>
                                        <p:attrNameLst>
                                          <p:attrName>ppt_w</p:attrName>
                                        </p:attrNameLst>
                                      </p:cBhvr>
                                      <p:tavLst>
                                        <p:tav tm="0">
                                          <p:val>
                                            <p:fltVal val="0"/>
                                          </p:val>
                                        </p:tav>
                                        <p:tav tm="100000">
                                          <p:val>
                                            <p:strVal val="#ppt_w"/>
                                          </p:val>
                                        </p:tav>
                                      </p:tavLst>
                                    </p:anim>
                                    <p:anim calcmode="lin" valueType="num">
                                      <p:cBhvr>
                                        <p:cTn id="13" dur="500" fill="hold"/>
                                        <p:tgtEl>
                                          <p:spTgt spid="29"/>
                                        </p:tgtEl>
                                        <p:attrNameLst>
                                          <p:attrName>ppt_h</p:attrName>
                                        </p:attrNameLst>
                                      </p:cBhvr>
                                      <p:tavLst>
                                        <p:tav tm="0">
                                          <p:val>
                                            <p:fltVal val="0"/>
                                          </p:val>
                                        </p:tav>
                                        <p:tav tm="100000">
                                          <p:val>
                                            <p:strVal val="#ppt_h"/>
                                          </p:val>
                                        </p:tav>
                                      </p:tavLst>
                                    </p:anim>
                                    <p:animEffect transition="in" filter="fade">
                                      <p:cBhvr>
                                        <p:cTn id="14" dur="5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contexte : une plateforme d'API</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astro.png" descr="bee_astro.png"/>
          <p:cNvPicPr>
            <a:picLocks noChangeAspect="1"/>
          </p:cNvPicPr>
          <p:nvPr/>
        </p:nvPicPr>
        <p:blipFill>
          <a:blip r:embed="rId2"/>
          <a:stretch>
            <a:fillRect/>
          </a:stretch>
        </p:blipFill>
        <p:spPr>
          <a:xfrm>
            <a:off x="8778240" y="2011680"/>
            <a:ext cx="2347625"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registre d'API : les producers publient, les consumers découvrent</a:t>
            </a:r>
          </a:p>
        </p:txBody>
      </p:sp>
      <p:sp>
        <p:nvSpPr>
          <p:cNvPr id="13" name="Hexagon 12"/>
          <p:cNvSpPr/>
          <p:nvPr/>
        </p:nvSpPr>
        <p:spPr>
          <a:xfrm>
            <a:off x="713232" y="288036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77063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 l'IA par-dessus pour générer ce qui gravite autour</a:t>
            </a:r>
          </a:p>
        </p:txBody>
      </p:sp>
      <p:sp>
        <p:nvSpPr>
          <p:cNvPr id="15" name="Hexagon 14"/>
          <p:cNvSpPr/>
          <p:nvPr/>
        </p:nvSpPr>
        <p:spPr>
          <a:xfrm>
            <a:off x="713232" y="352044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41071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Back Python / FastAPI en archi hexagonale</a:t>
            </a:r>
          </a:p>
        </p:txBody>
      </p:sp>
      <p:sp>
        <p:nvSpPr>
          <p:cNvPr id="17" name="Hexagon 16"/>
          <p:cNvSpPr/>
          <p:nvPr/>
        </p:nvSpPr>
        <p:spPr>
          <a:xfrm>
            <a:off x="713232" y="4160520"/>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405079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GCP : Cloud Run, IAP, IaC Terragrunt</a:t>
            </a:r>
          </a:p>
        </p:txBody>
      </p:sp>
      <p:sp>
        <p:nvSpPr>
          <p:cNvPr id="19" name="Hexagon 18"/>
          <p:cNvSpPr/>
          <p:nvPr/>
        </p:nvSpPr>
        <p:spPr>
          <a:xfrm>
            <a:off x="713232" y="4800600"/>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690872"/>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CI/CD GitHub Actions, du trunk à la prod</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L'équipe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grad.png" descr="bee_grad.png"/>
          <p:cNvPicPr>
            <a:picLocks noChangeAspect="1"/>
          </p:cNvPicPr>
          <p:nvPr/>
        </p:nvPicPr>
        <p:blipFill>
          <a:blip r:embed="rId2"/>
          <a:stretch>
            <a:fillRect/>
          </a:stretch>
        </p:blipFill>
        <p:spPr>
          <a:xfrm>
            <a:off x="8778240" y="2011680"/>
            <a:ext cx="2151529"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équipe de 8 personnes</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Quelques seniors… un junior… et un stagiaire</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seniors ont posé les fondations : backend, cloud, IaC</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Des concepts pas évidents à s'approprier pour tout le monde</a:t>
            </a:r>
          </a:p>
        </p:txBody>
      </p:sp>
      <p:sp>
        <p:nvSpPr>
          <p:cNvPr id="19" name="Rectangle 18"/>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Claude aide chacun à avancer. Mais chacun à sa façon.</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3/30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problème : ça diverge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génère avec Claude Code dans son coin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Chacun son CLAUDE.md global, ses habitudes, ses prompts</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Nouveau backend, nouvelle stack IaC : conventions ignorées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Dockerfile, tests, CI, PR : huit devs, huit façons de faire</a:t>
            </a:r>
          </a:p>
        </p:txBody>
      </p:sp>
      <p:sp>
        <p:nvSpPr>
          <p:cNvPr id="18" name="Rectangle 17"/>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IA, même stack… et pourtant du code qui ne se ressemble pas.</a:t>
            </a:r>
          </a:p>
        </p:txBody>
      </p:sp>
      <p:pic>
        <p:nvPicPr>
          <p:cNvPr id="20" name="bee.png" descr="bee.png"/>
          <p:cNvPicPr>
            <a:picLocks noChangeAspect="1"/>
          </p:cNvPicPr>
          <p:nvPr/>
        </p:nvPicPr>
        <p:blipFill>
          <a:blip r:embed="rId3"/>
          <a:stretch>
            <a:fillRect/>
          </a:stretch>
        </p:blipFill>
        <p:spPr>
          <a:xfrm rot="600000">
            <a:off x="10835640" y="274320"/>
            <a:ext cx="813222" cy="960120"/>
          </a:xfrm>
          <a:prstGeom prst="rect">
            <a:avLst/>
          </a:prstGeom>
        </p:spPr>
      </p:pic>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4/30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0"/>
                                        </p:tgtEl>
                                        <p:attrNameLst>
                                          <p:attrName>style.visibility</p:attrName>
                                        </p:attrNameLst>
                                      </p:cBhvr>
                                      <p:to>
                                        <p:strVal val="visible"/>
                                      </p:to>
                                    </p:set>
                                    <p:anim calcmode="lin" valueType="num">
                                      <p:cBhvr>
                                        <p:cTn id="7" dur="500" fill="hold"/>
                                        <p:tgtEl>
                                          <p:spTgt spid="20"/>
                                        </p:tgtEl>
                                        <p:attrNameLst>
                                          <p:attrName>ppt_w</p:attrName>
                                        </p:attrNameLst>
                                      </p:cBhvr>
                                      <p:tavLst>
                                        <p:tav tm="0">
                                          <p:val>
                                            <p:fltVal val="0"/>
                                          </p:val>
                                        </p:tav>
                                        <p:tav tm="100000">
                                          <p:val>
                                            <p:strVal val="#ppt_w"/>
                                          </p:val>
                                        </p:tav>
                                      </p:tavLst>
                                    </p:anim>
                                    <p:anim calcmode="lin" valueType="num">
                                      <p:cBhvr>
                                        <p:cTn id="8" dur="500" fill="hold"/>
                                        <p:tgtEl>
                                          <p:spTgt spid="20"/>
                                        </p:tgtEl>
                                        <p:attrNameLst>
                                          <p:attrName>ppt_h</p:attrName>
                                        </p:attrNameLst>
                                      </p:cBhvr>
                                      <p:tavLst>
                                        <p:tav tm="0">
                                          <p:val>
                                            <p:fltVal val="0"/>
                                          </p:val>
                                        </p:tav>
                                        <p:tav tm="100000">
                                          <p:val>
                                            <p:strVal val="#ppt_h"/>
                                          </p:val>
                                        </p:tav>
                                      </p:tavLst>
                                    </p:anim>
                                    <p:animEffect transition="in" filter="fade">
                                      <p:cBhvr>
                                        <p:cTn id="9" dur="500"/>
                                        <p:tgtEl>
                                          <p:spTgt spid="2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Première idée : un CLAUDE.md commun</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233172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26898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CLAUDE.md partagé</a:t>
            </a:r>
          </a:p>
          <a:p>
            <a:pPr algn="ctr">
              <a:spcAft>
                <a:spcPts val="0"/>
              </a:spcAft>
            </a:pPr>
            <a:r>
              <a:rPr sz="1300">
                <a:solidFill>
                  <a:srgbClr val="2A2F3A"/>
                </a:solidFill>
                <a:latin typeface="Avenir Next"/>
              </a:rPr>
              <a:t>un fichier pour tous</a:t>
            </a:r>
          </a:p>
        </p:txBody>
      </p:sp>
      <p:pic>
        <p:nvPicPr>
          <p:cNvPr id="10" name="bee_happy.png" descr="bee_happy.png"/>
          <p:cNvPicPr>
            <a:picLocks noChangeAspect="1"/>
          </p:cNvPicPr>
          <p:nvPr/>
        </p:nvPicPr>
        <p:blipFill>
          <a:blip r:embed="rId2"/>
          <a:stretch>
            <a:fillRect/>
          </a:stretch>
        </p:blipFill>
        <p:spPr>
          <a:xfrm>
            <a:off x="3337560" y="1371601"/>
            <a:ext cx="953723" cy="1188720"/>
          </a:xfrm>
          <a:prstGeom prst="rect">
            <a:avLst/>
          </a:prstGeom>
        </p:spPr>
      </p:pic>
      <p:sp>
        <p:nvSpPr>
          <p:cNvPr id="11" name="Hexagon 10"/>
          <p:cNvSpPr/>
          <p:nvPr/>
        </p:nvSpPr>
        <p:spPr>
          <a:xfrm>
            <a:off x="572414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3</a:t>
            </a:r>
          </a:p>
        </p:txBody>
      </p:sp>
      <p:sp>
        <p:nvSpPr>
          <p:cNvPr id="12" name="TextBox 11"/>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modulaires</a:t>
            </a:r>
          </a:p>
          <a:p>
            <a:pPr algn="ctr">
              <a:spcAft>
                <a:spcPts val="0"/>
              </a:spcAft>
            </a:pPr>
            <a:r>
              <a:rPr sz="1300">
                <a:solidFill>
                  <a:srgbClr val="5B6372"/>
                </a:solidFill>
                <a:latin typeface="Avenir Next"/>
              </a:rPr>
              <a:t>chargés à la demande</a:t>
            </a:r>
          </a:p>
        </p:txBody>
      </p:sp>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fichier pour tous : la bonne idée… pour un temps.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5/30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Le CLAUDE.md qui grossit</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Ça marche… au début</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règle ajoutée pour tous, chargée à chaque session</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monolithe : Docker, Terragrunt, commits, tests… tout mélangé</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Coûteux en tokens, et du bruit pour l'IA</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Personne n'ose plus y toucher</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On a recréé le monolithe qu'on refuse dans notre code.</a:t>
            </a:r>
          </a:p>
        </p:txBody>
      </p:sp>
      <p:pic>
        <p:nvPicPr>
          <p:cNvPr id="22" name="bee_cool.png" descr="bee_cool.png"/>
          <p:cNvPicPr>
            <a:picLocks noChangeAspect="1"/>
          </p:cNvPicPr>
          <p:nvPr/>
        </p:nvPicPr>
        <p:blipFill>
          <a:blip r:embed="rId3"/>
          <a:stretch>
            <a:fillRect/>
          </a:stretch>
        </p:blipFill>
        <p:spPr>
          <a:xfrm rot="21120000">
            <a:off x="10789920" y="27432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6/30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Du monolithe aux modules : les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466344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60070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modulaires</a:t>
            </a:r>
          </a:p>
          <a:p>
            <a:pPr algn="ctr">
              <a:spcAft>
                <a:spcPts val="0"/>
              </a:spcAft>
            </a:pPr>
            <a:r>
              <a:rPr sz="1300">
                <a:solidFill>
                  <a:srgbClr val="2A2F3A"/>
                </a:solidFill>
                <a:latin typeface="Avenir Next"/>
              </a:rPr>
              <a:t>chargés à la demande</a:t>
            </a:r>
          </a:p>
        </p:txBody>
      </p:sp>
      <p:pic>
        <p:nvPicPr>
          <p:cNvPr id="12" name="bee.png" descr="bee.png"/>
          <p:cNvPicPr>
            <a:picLocks noChangeAspect="1"/>
          </p:cNvPicPr>
          <p:nvPr/>
        </p:nvPicPr>
        <p:blipFill>
          <a:blip r:embed="rId2"/>
          <a:stretch>
            <a:fillRect/>
          </a:stretch>
        </p:blipFill>
        <p:spPr>
          <a:xfrm>
            <a:off x="5669280" y="1371601"/>
            <a:ext cx="1006846" cy="1188720"/>
          </a:xfrm>
          <a:prstGeom prst="rect">
            <a:avLst/>
          </a:prstGeom>
        </p:spPr>
      </p:pic>
      <p:sp>
        <p:nvSpPr>
          <p:cNvPr id="13" name="Hexagon 12"/>
          <p:cNvSpPr/>
          <p:nvPr/>
        </p:nvSpPr>
        <p:spPr>
          <a:xfrm>
            <a:off x="805586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4</a:t>
            </a:r>
          </a:p>
        </p:txBody>
      </p:sp>
      <p:sp>
        <p:nvSpPr>
          <p:cNvPr id="14" name="TextBox 13"/>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Sync global</a:t>
            </a:r>
          </a:p>
          <a:p>
            <a:pPr algn="ctr">
              <a:spcAft>
                <a:spcPts val="0"/>
              </a:spcAft>
            </a:pPr>
            <a:r>
              <a:rPr sz="1300">
                <a:solidFill>
                  <a:srgbClr val="5B6372"/>
                </a:solidFill>
                <a:latin typeface="Avenir Next"/>
              </a:rPr>
              <a:t>~/.claude/skills</a:t>
            </a:r>
          </a:p>
        </p:txBody>
      </p:sp>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Découper, et ne charger que ce dont la tâche a besoin.</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7/30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2"/>
                                        </p:tgtEl>
                                        <p:attrNameLst>
                                          <p:attrName>style.visibility</p:attrName>
                                        </p:attrNameLst>
                                      </p:cBhvr>
                                      <p:to>
                                        <p:strVal val="visible"/>
                                      </p:to>
                                    </p:set>
                                    <p:anim calcmode="lin" valueType="num">
                                      <p:cBhvr>
                                        <p:cTn id="7" dur="500" fill="hold"/>
                                        <p:tgtEl>
                                          <p:spTgt spid="12"/>
                                        </p:tgtEl>
                                        <p:attrNameLst>
                                          <p:attrName>ppt_w</p:attrName>
                                        </p:attrNameLst>
                                      </p:cBhvr>
                                      <p:tavLst>
                                        <p:tav tm="0">
                                          <p:val>
                                            <p:fltVal val="0"/>
                                          </p:val>
                                        </p:tav>
                                        <p:tav tm="100000">
                                          <p:val>
                                            <p:strVal val="#ppt_w"/>
                                          </p:val>
                                        </p:tav>
                                      </p:tavLst>
                                    </p:anim>
                                    <p:anim calcmode="lin" valueType="num">
                                      <p:cBhvr>
                                        <p:cTn id="8" dur="500" fill="hold"/>
                                        <p:tgtEl>
                                          <p:spTgt spid="12"/>
                                        </p:tgtEl>
                                        <p:attrNameLst>
                                          <p:attrName>ppt_h</p:attrName>
                                        </p:attrNameLst>
                                      </p:cBhvr>
                                      <p:tavLst>
                                        <p:tav tm="0">
                                          <p:val>
                                            <p:fltVal val="0"/>
                                          </p:val>
                                        </p:tav>
                                        <p:tav tm="100000">
                                          <p:val>
                                            <p:strVal val="#ppt_h"/>
                                          </p:val>
                                        </p:tav>
                                      </p:tavLst>
                                    </p:anim>
                                    <p:animEffect transition="in" filter="fade">
                                      <p:cBhvr>
                                        <p:cTn id="9" dur="500"/>
                                        <p:tgtEl>
                                          <p:spTgt spid="1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Anatomie d'un skill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skills/docker/docker-image-conventions/SKILL.md</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name: docker-image-conventions</a:t>
            </a:r>
          </a:p>
          <a:p>
            <a:pPr algn="l">
              <a:spcAft>
                <a:spcPts val="0"/>
              </a:spcAft>
            </a:pPr>
            <a:r>
              <a:rPr sz="1400">
                <a:solidFill>
                  <a:srgbClr val="E8EAF2"/>
                </a:solidFill>
                <a:latin typeface="Consolas"/>
              </a:rPr>
              <a:t>description: Stack-agnostic conventions for production Dockerfiles —</a:t>
            </a:r>
          </a:p>
          <a:p>
            <a:pPr algn="l">
              <a:spcAft>
                <a:spcPts val="0"/>
              </a:spcAft>
            </a:pPr>
            <a:r>
              <a:rPr sz="1400">
                <a:solidFill>
                  <a:srgbClr val="E8EAF2"/>
                </a:solidFill>
                <a:latin typeface="Consolas"/>
              </a:rPr>
              <a:t>  multi-stage, non-root at runtime, smallest viable base image...</a:t>
            </a:r>
          </a:p>
          <a:p>
            <a:pPr algn="l">
              <a:spcAft>
                <a:spcPts val="0"/>
              </a:spcAft>
            </a:pPr>
            <a:r>
              <a:rPr sz="1400">
                <a:solidFill>
                  <a:srgbClr val="E8EAF2"/>
                </a:solidFill>
                <a:latin typeface="Consolas"/>
              </a:rPr>
              <a:t>  Trigger when creating, editing, or reviewing any Dockerfile.</a:t>
            </a:r>
          </a:p>
          <a:p>
            <a:pPr algn="l">
              <a:spcAft>
                <a:spcPts val="0"/>
              </a:spcAft>
            </a:pPr>
            <a:r>
              <a:rPr sz="1400">
                <a:solidFill>
                  <a:srgbClr val="E8EAF2"/>
                </a:solidFill>
                <a:latin typeface="Consolas"/>
              </a:rPr>
              <a:t>---</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Production Docker images — multi-stage + non-root</a:t>
            </a:r>
          </a:p>
          <a:p>
            <a:pPr algn="l">
              <a:spcAft>
                <a:spcPts val="0"/>
              </a:spcAft>
            </a:pPr>
            <a:r>
              <a:rPr sz="1400">
                <a:solidFill>
                  <a:srgbClr val="E8EAF2"/>
                </a:solidFill>
                <a:latin typeface="Consolas"/>
              </a:rPr>
              <a:t>1. Multi-stage build : builder + runtime</a:t>
            </a:r>
          </a:p>
          <a:p>
            <a:pPr algn="l">
              <a:spcAft>
                <a:spcPts val="0"/>
              </a:spcAft>
            </a:pPr>
            <a:r>
              <a:rPr sz="1400">
                <a:solidFill>
                  <a:srgbClr val="E8EAF2"/>
                </a:solidFill>
                <a:latin typeface="Consolas"/>
              </a:rPr>
              <a:t>2. Non-root user at runtime</a:t>
            </a:r>
          </a:p>
          <a:p>
            <a:pPr algn="l">
              <a:spcAft>
                <a:spcPts val="0"/>
              </a:spcAft>
            </a:pPr>
            <a:r>
              <a:rPr sz="1400">
                <a:solidFill>
                  <a:srgbClr val="E8EAF2"/>
                </a:solidFill>
                <a:latin typeface="Consolas"/>
              </a:rPr>
              <a:t>...</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Seule la description est toujours chargée. Le corps, à la demande.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8/30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skill, c'est un dossier</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72160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docker/python-docker-multistage/</a:t>
            </a:r>
          </a:p>
          <a:p>
            <a:pPr algn="l">
              <a:spcAft>
                <a:spcPts val="0"/>
              </a:spcAft>
            </a:pPr>
            <a:r>
              <a:rPr sz="1400">
                <a:solidFill>
                  <a:srgbClr val="E8EAF2"/>
                </a:solidFill>
                <a:latin typeface="Consolas"/>
              </a:rPr>
              <a:t>│   ├── SKILL.md          # les règles : lu au déclenchement</a:t>
            </a:r>
          </a:p>
          <a:p>
            <a:pPr algn="l">
              <a:spcAft>
                <a:spcPts val="0"/>
              </a:spcAft>
            </a:pPr>
            <a:r>
              <a:rPr sz="1400">
                <a:solidFill>
                  <a:srgbClr val="E8EAF2"/>
                </a:solidFill>
                <a:latin typeface="Consolas"/>
              </a:rPr>
              <a:t>│   └── assets/           # copié dans le projet, puis adapté</a:t>
            </a:r>
          </a:p>
          <a:p>
            <a:pPr algn="l">
              <a:spcAft>
                <a:spcPts val="0"/>
              </a:spcAft>
            </a:pPr>
            <a:r>
              <a:rPr sz="1400">
                <a:solidFill>
                  <a:srgbClr val="E8EAF2"/>
                </a:solidFill>
                <a:latin typeface="Consolas"/>
              </a:rPr>
              <a:t>│       ├── Dockerfile</a:t>
            </a:r>
          </a:p>
          <a:p>
            <a:pPr algn="l">
              <a:spcAft>
                <a:spcPts val="0"/>
              </a:spcAft>
            </a:pPr>
            <a:r>
              <a:rPr sz="1400">
                <a:solidFill>
                  <a:srgbClr val="E8EAF2"/>
                </a:solidFill>
                <a:latin typeface="Consolas"/>
              </a:rPr>
              <a:t>│       └── dockerignore</a:t>
            </a:r>
          </a:p>
          <a:p>
            <a:pPr algn="l">
              <a:spcAft>
                <a:spcPts val="0"/>
              </a:spcAft>
            </a:pPr>
            <a:r>
              <a:rPr sz="1400">
                <a:solidFill>
                  <a:srgbClr val="E8EAF2"/>
                </a:solidFill>
                <a:latin typeface="Consolas"/>
              </a:rPr>
              <a:t>├── docker/docker-image-conventions/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references/       # lu seulement si la tâche le demande</a:t>
            </a:r>
          </a:p>
          <a:p>
            <a:pPr algn="l">
              <a:spcAft>
                <a:spcPts val="0"/>
              </a:spcAft>
            </a:pPr>
            <a:r>
              <a:rPr sz="1400">
                <a:solidFill>
                  <a:srgbClr val="E8EAF2"/>
                </a:solidFill>
                <a:latin typeface="Consolas"/>
              </a:rPr>
              <a:t>│       └── node.md  jvm.md  go.md  rust.md  nginx.md</a:t>
            </a:r>
          </a:p>
          <a:p>
            <a:pPr algn="l">
              <a:spcAft>
                <a:spcPts val="0"/>
              </a:spcAft>
            </a:pPr>
            <a:r>
              <a:rPr sz="1400">
                <a:solidFill>
                  <a:srgbClr val="E8EAF2"/>
                </a:solidFill>
                <a:latin typeface="Consolas"/>
              </a:rPr>
              <a:t>└── git/tag-groupbees/</a:t>
            </a:r>
          </a:p>
          <a:p>
            <a:pPr algn="l">
              <a:spcAft>
                <a:spcPts val="0"/>
              </a:spcAft>
            </a:pPr>
            <a:r>
              <a:rPr sz="1400">
                <a:solidFill>
                  <a:srgbClr val="E8EAF2"/>
                </a:solidFill>
                <a:latin typeface="Consolas"/>
              </a:rPr>
              <a:t>    ├── SKILL.md</a:t>
            </a:r>
          </a:p>
          <a:p>
            <a:pPr algn="l">
              <a:spcAft>
                <a:spcPts val="0"/>
              </a:spcAft>
            </a:pPr>
            <a:r>
              <a:rPr sz="1400">
                <a:solidFill>
                  <a:srgbClr val="E8EAF2"/>
                </a:solidFill>
                <a:latin typeface="Consolas"/>
              </a:rPr>
              <a:t>    └── scripts/          # exécuté, jamais lu : 0 token</a:t>
            </a:r>
          </a:p>
          <a:p>
            <a:pPr algn="l">
              <a:spcAft>
                <a:spcPts val="0"/>
              </a:spcAft>
            </a:pPr>
            <a:r>
              <a:rPr sz="1400">
                <a:solidFill>
                  <a:srgbClr val="E8EAF2"/>
                </a:solidFill>
                <a:latin typeface="Consolas"/>
              </a:rPr>
              <a:t>        └── pre-tag-check.sh</a:t>
            </a:r>
          </a:p>
        </p:txBody>
      </p:sp>
      <p:sp>
        <p:nvSpPr>
          <p:cNvPr id="5" name="Rectangle 4"/>
          <p:cNvSpPr/>
          <p:nvPr/>
        </p:nvSpPr>
        <p:spPr>
          <a:xfrm>
            <a:off x="640080" y="1481328"/>
            <a:ext cx="64008" cy="372160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540410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SKILL.md dit quoi faire. scripts/, references/, assets/ : avec quoi.</a:t>
            </a:r>
          </a:p>
        </p:txBody>
      </p:sp>
      <p:pic>
        <p:nvPicPr>
          <p:cNvPr id="7"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9/30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CLAUDE.md monolithe vs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CLAUDE.md monolithe</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Tout chargé, tout le temps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fichier, tous les sujets</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Relu par personne</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Spécifique à un outil</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Chargés quand la tâche le demande</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skill = une convention</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Versionnés et relus en PR</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Standard ouvert, multi-agents</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Le CLAUDE.md reste : fin, pour le contexte du projet.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10/30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Modulariser : des domaines qui se composent</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E8EAF2"/>
                </a:solidFill>
                <a:latin typeface="Consolas"/>
              </a:rPr>
              <a:t>skills/</a:t>
            </a:r>
          </a:p>
          <a:p>
            <a:pPr algn="l">
              <a:spcAft>
                <a:spcPts val="0"/>
              </a:spcAft>
            </a:pPr>
            <a:r>
              <a:rPr sz="1400">
                <a:solidFill>
                  <a:srgbClr val="E8EAF2"/>
                </a:solidFill>
                <a:latin typeface="Consolas"/>
              </a:rPr>
              <a:t>├── docker/</a:t>
            </a:r>
          </a:p>
          <a:p>
            <a:pPr algn="l">
              <a:spcAft>
                <a:spcPts val="0"/>
              </a:spcAft>
            </a:pPr>
            <a:r>
              <a:rPr sz="1400">
                <a:solidFill>
                  <a:srgbClr val="E8EAF2"/>
                </a:solidFill>
                <a:latin typeface="Consolas"/>
              </a:rPr>
              <a:t>│   ├── docker-image-conventions/   # universel : multi-stage, non-root</a:t>
            </a:r>
          </a:p>
          <a:p>
            <a:pPr algn="l">
              <a:spcAft>
                <a:spcPts val="0"/>
              </a:spcAft>
            </a:pPr>
            <a:r>
              <a:rPr sz="1400">
                <a:solidFill>
                  <a:srgbClr val="E8EAF2"/>
                </a:solidFill>
                <a:latin typeface="Consolas"/>
              </a:rPr>
              <a:t>│   └── python-docker-multistage/   # + Python : uv, slim vs alpine</a:t>
            </a:r>
          </a:p>
          <a:p>
            <a:pPr algn="l">
              <a:spcAft>
                <a:spcPts val="0"/>
              </a:spcAft>
            </a:pPr>
            <a:r>
              <a:rPr sz="1400">
                <a:solidFill>
                  <a:srgbClr val="E8EAF2"/>
                </a:solidFill>
                <a:latin typeface="Consolas"/>
              </a:rPr>
              <a:t>├── env/</a:t>
            </a:r>
          </a:p>
          <a:p>
            <a:pPr algn="l">
              <a:spcAft>
                <a:spcPts val="0"/>
              </a:spcAft>
            </a:pPr>
            <a:r>
              <a:rPr sz="1400">
                <a:solidFill>
                  <a:srgbClr val="E8EAF2"/>
                </a:solidFill>
                <a:latin typeface="Consolas"/>
              </a:rPr>
              <a:t>│   └── direnv-local-env/           # universel : .envrc, pas de .env</a:t>
            </a:r>
          </a:p>
          <a:p>
            <a:pPr algn="l">
              <a:spcAft>
                <a:spcPts val="0"/>
              </a:spcAft>
            </a:pPr>
            <a:r>
              <a:rPr sz="1400">
                <a:solidFill>
                  <a:srgbClr val="E8EAF2"/>
                </a:solidFill>
                <a:latin typeface="Consolas"/>
              </a:rPr>
              <a:t>├── python/</a:t>
            </a:r>
          </a:p>
          <a:p>
            <a:pPr algn="l">
              <a:spcAft>
                <a:spcPts val="0"/>
              </a:spcAft>
            </a:pPr>
            <a:r>
              <a:rPr sz="1400">
                <a:solidFill>
                  <a:srgbClr val="E8EAF2"/>
                </a:solidFill>
                <a:latin typeface="Consolas"/>
              </a:rPr>
              <a:t>│   ├── python-uv-direnv/           # + Python : venv uv via direnv</a:t>
            </a:r>
          </a:p>
          <a:p>
            <a:pPr algn="l">
              <a:spcAft>
                <a:spcPts val="0"/>
              </a:spcAft>
            </a:pPr>
            <a:r>
              <a:rPr sz="1400">
                <a:solidFill>
                  <a:srgbClr val="E8EAF2"/>
                </a:solidFill>
                <a:latin typeface="Consolas"/>
              </a:rPr>
              <a:t>│   └── python-hexagonal-clean-archi/</a:t>
            </a:r>
          </a:p>
          <a:p>
            <a:pPr algn="l">
              <a:spcAft>
                <a:spcPts val="0"/>
              </a:spcAft>
            </a:pPr>
            <a:r>
              <a:rPr sz="1400">
                <a:solidFill>
                  <a:srgbClr val="E8EAF2"/>
                </a:solidFill>
                <a:latin typeface="Consolas"/>
              </a:rPr>
              <a:t>├── git/        # commit-, pr-, tag-groupbees</a:t>
            </a:r>
          </a:p>
          <a:p>
            <a:pPr algn="l">
              <a:spcAft>
                <a:spcPts val="0"/>
              </a:spcAft>
            </a:pPr>
            <a:r>
              <a:rPr sz="1400">
                <a:solidFill>
                  <a:srgbClr val="E8EAF2"/>
                </a:solidFill>
                <a:latin typeface="Consolas"/>
              </a:rPr>
              <a:t>├── gcp/        # cloud-run-iap</a:t>
            </a:r>
          </a:p>
          <a:p>
            <a:pPr algn="l">
              <a:spcAft>
                <a:spcPts val="0"/>
              </a:spcAft>
            </a:pPr>
            <a:r>
              <a:rPr sz="1400">
                <a:solidFill>
                  <a:srgbClr val="E8EAF2"/>
                </a:solidFill>
                <a:latin typeface="Consolas"/>
              </a:rPr>
              <a:t>└── terraform/  # terragrunt-modular-style</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Un skill générique + un skill qui le spécialise, plutôt qu'un gros skill.</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11/30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Partager : un catalogue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699516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793242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Sync global</a:t>
            </a:r>
          </a:p>
          <a:p>
            <a:pPr algn="ctr">
              <a:spcAft>
                <a:spcPts val="0"/>
              </a:spcAft>
            </a:pPr>
            <a:r>
              <a:rPr sz="1300">
                <a:solidFill>
                  <a:srgbClr val="2A2F3A"/>
                </a:solidFill>
                <a:latin typeface="Avenir Next"/>
              </a:rPr>
              <a:t>~/.claude/skills</a:t>
            </a:r>
          </a:p>
        </p:txBody>
      </p:sp>
      <p:pic>
        <p:nvPicPr>
          <p:cNvPr id="14" name="bee_cool.png" descr="bee_cool.png"/>
          <p:cNvPicPr>
            <a:picLocks noChangeAspect="1"/>
          </p:cNvPicPr>
          <p:nvPr/>
        </p:nvPicPr>
        <p:blipFill>
          <a:blip r:embed="rId2"/>
          <a:stretch>
            <a:fillRect/>
          </a:stretch>
        </p:blipFill>
        <p:spPr>
          <a:xfrm>
            <a:off x="8001000" y="1371601"/>
            <a:ext cx="1179286" cy="1188720"/>
          </a:xfrm>
          <a:prstGeom prst="rect">
            <a:avLst/>
          </a:prstGeom>
        </p:spPr>
      </p:pic>
      <p:sp>
        <p:nvSpPr>
          <p:cNvPr id="15" name="Hexagon 14"/>
          <p:cNvSpPr/>
          <p:nvPr/>
        </p:nvSpPr>
        <p:spPr>
          <a:xfrm>
            <a:off x="10387584" y="2889504"/>
            <a:ext cx="713232" cy="713232"/>
          </a:xfrm>
          <a:prstGeom prst="hexagon">
            <a:avLst/>
          </a:prstGeom>
          <a:solidFill>
            <a:srgbClr val="EBF6FE"/>
          </a:solidFill>
          <a:ln w="19050">
            <a:solidFill>
              <a:srgbClr val="C9CFD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5B6372"/>
                </a:solidFill>
                <a:latin typeface="Avenir Next"/>
              </a:rPr>
              <a:t>5</a:t>
            </a:r>
          </a:p>
        </p:txBody>
      </p:sp>
      <p:sp>
        <p:nvSpPr>
          <p:cNvPr id="16" name="TextBox 15"/>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500" b="1">
                <a:solidFill>
                  <a:srgbClr val="5B6372"/>
                </a:solidFill>
                <a:latin typeface="Avenir Next"/>
              </a:rPr>
              <a:t>Skills par projet</a:t>
            </a:r>
          </a:p>
          <a:p>
            <a:pPr algn="ctr">
              <a:spcAft>
                <a:spcPts val="0"/>
              </a:spcAft>
            </a:pPr>
            <a:r>
              <a:rPr sz="1300">
                <a:solidFill>
                  <a:srgbClr val="5B6372"/>
                </a:solidFill>
                <a:latin typeface="Avenir Next"/>
              </a:rPr>
              <a:t>pollen.yaml</a:t>
            </a:r>
          </a:p>
        </p:txBody>
      </p:sp>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 catalogue git, installé sur chaque poste.</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12/30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4"/>
                                        </p:tgtEl>
                                        <p:attrNameLst>
                                          <p:attrName>style.visibility</p:attrName>
                                        </p:attrNameLst>
                                      </p:cBhvr>
                                      <p:to>
                                        <p:strVal val="visible"/>
                                      </p:to>
                                    </p:set>
                                    <p:anim calcmode="lin" valueType="num">
                                      <p:cBhvr>
                                        <p:cTn id="7" dur="500" fill="hold"/>
                                        <p:tgtEl>
                                          <p:spTgt spid="14"/>
                                        </p:tgtEl>
                                        <p:attrNameLst>
                                          <p:attrName>ppt_w</p:attrName>
                                        </p:attrNameLst>
                                      </p:cBhvr>
                                      <p:tavLst>
                                        <p:tav tm="0">
                                          <p:val>
                                            <p:fltVal val="0"/>
                                          </p:val>
                                        </p:tav>
                                        <p:tav tm="100000">
                                          <p:val>
                                            <p:strVal val="#ppt_w"/>
                                          </p:val>
                                        </p:tav>
                                      </p:tavLst>
                                    </p:anim>
                                    <p:anim calcmode="lin" valueType="num">
                                      <p:cBhvr>
                                        <p:cTn id="8" dur="500" fill="hold"/>
                                        <p:tgtEl>
                                          <p:spTgt spid="14"/>
                                        </p:tgtEl>
                                        <p:attrNameLst>
                                          <p:attrName>ppt_h</p:attrName>
                                        </p:attrNameLst>
                                      </p:cBhvr>
                                      <p:tavLst>
                                        <p:tav tm="0">
                                          <p:val>
                                            <p:fltVal val="0"/>
                                          </p:val>
                                        </p:tav>
                                        <p:tav tm="100000">
                                          <p:val>
                                            <p:strVal val="#ppt_h"/>
                                          </p:val>
                                        </p:tav>
                                      </p:tavLst>
                                    </p:anim>
                                    <p:animEffect transition="in" filter="fade">
                                      <p:cBhvr>
                                        <p:cTn id="9" dur="500"/>
                                        <p:tgtEl>
                                          <p:spTgt spid="1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module de skills, synchronisé en global</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022092"/>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skills-core/  (+ skills-slides, skills-articles, …)</a:t>
            </a:r>
          </a:p>
          <a:p>
            <a:pPr algn="l">
              <a:spcAft>
                <a:spcPts val="0"/>
              </a:spcAft>
            </a:pPr>
            <a:r>
              <a:rPr sz="1400">
                <a:solidFill>
                  <a:srgbClr val="00B5FB"/>
                </a:solidFill>
                <a:latin typeface="Consolas"/>
              </a:rPr>
              <a:t>#   skills-module.json   → { name, description }</a:t>
            </a:r>
          </a:p>
          <a:p>
            <a:pPr algn="l">
              <a:spcAft>
                <a:spcPts val="0"/>
              </a:spcAft>
            </a:pPr>
            <a:r>
              <a:rPr sz="1400">
                <a:solidFill>
                  <a:srgbClr val="00B5FB"/>
                </a:solidFill>
                <a:latin typeface="Consolas"/>
              </a:rPr>
              <a:t>#   skills/&lt;domaine&gt;/&lt;skill&gt;/SKILL.md</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pull &amp;&amp; ./sync-skills.sh --prune</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 ~/.claude/skills/   Claude Code, Copilot VS Code, Cursor</a:t>
            </a:r>
          </a:p>
          <a:p>
            <a:pPr algn="l">
              <a:spcAft>
                <a:spcPts val="0"/>
              </a:spcAft>
            </a:pPr>
            <a:r>
              <a:rPr sz="1400">
                <a:solidFill>
                  <a:srgbClr val="00B5FB"/>
                </a:solidFill>
                <a:latin typeface="Consolas"/>
              </a:rPr>
              <a:t># → ~/.agents/skills/   Copilot JetBrains / CLI</a:t>
            </a:r>
          </a:p>
          <a:p>
            <a:pPr algn="l">
              <a:spcAft>
                <a:spcPts val="0"/>
              </a:spcAft>
            </a:pPr>
            <a:r>
              <a:rPr sz="1400">
                <a:solidFill>
                  <a:srgbClr val="00B5FB"/>
                </a:solidFill>
                <a:latin typeface="Consolas"/>
              </a:rPr>
              <a:t># ledger par module : --prune / --uninstall ne touchent que lui</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git checkout v1.2.0 &amp;&amp; ./sync-skills.sh --prune   # épingler</a:t>
            </a:r>
          </a:p>
        </p:txBody>
      </p:sp>
      <p:sp>
        <p:nvSpPr>
          <p:cNvPr id="5" name="Rectangle 4"/>
          <p:cNvSpPr/>
          <p:nvPr/>
        </p:nvSpPr>
        <p:spPr>
          <a:xfrm>
            <a:off x="640080" y="1481328"/>
            <a:ext cx="64008" cy="3022092"/>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704588"/>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Versionné par tags git, validé en CI. Simple, et ça marche.</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13/30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Global : la limite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en global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Actifs sur TOUS les projets</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Conventions GroupBees chez le client</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seule version pour tous les repos</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Le repo ne dit pas ce qu'il attend</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par projet</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Chaque projet choisit ses modules</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client, perso : sans mélange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Version épinglée par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Déclaré et versionné avec le code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De bonnes pratiques… mais on veut choisir où elles s'appliquent.</a:t>
            </a:r>
          </a:p>
        </p:txBody>
      </p:sp>
      <p:pic>
        <p:nvPicPr>
          <p:cNvPr id="26" name="bee_happy.png" descr="bee_happy.png"/>
          <p:cNvPicPr>
            <a:picLocks noChangeAspect="1"/>
          </p:cNvPicPr>
          <p:nvPr/>
        </p:nvPicPr>
        <p:blipFill>
          <a:blip r:embed="rId3"/>
          <a:stretch>
            <a:fillRect/>
          </a:stretch>
        </p:blipFill>
        <p:spPr>
          <a:xfrm rot="600000">
            <a:off x="10881360" y="274320"/>
            <a:ext cx="73363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14/30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Par projet : un gestionnaire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1417320" y="3223260"/>
            <a:ext cx="9326880" cy="45720"/>
          </a:xfrm>
          <a:prstGeom prst="rect">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1417320" y="3218688"/>
            <a:ext cx="9326880" cy="54864"/>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6070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1</a:t>
            </a:r>
          </a:p>
        </p:txBody>
      </p:sp>
      <p:sp>
        <p:nvSpPr>
          <p:cNvPr id="7" name="TextBox 6"/>
          <p:cNvSpPr txBox="1"/>
          <p:nvPr/>
        </p:nvSpPr>
        <p:spPr>
          <a:xfrm>
            <a:off x="27432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perso</a:t>
            </a:r>
          </a:p>
          <a:p>
            <a:pPr algn="ctr">
              <a:spcAft>
                <a:spcPts val="0"/>
              </a:spcAft>
            </a:pPr>
            <a:r>
              <a:rPr sz="1300">
                <a:solidFill>
                  <a:srgbClr val="5B6372"/>
                </a:solidFill>
                <a:latin typeface="Avenir Next"/>
              </a:rPr>
              <a:t>chacun son Claude</a:t>
            </a:r>
          </a:p>
        </p:txBody>
      </p:sp>
      <p:sp>
        <p:nvSpPr>
          <p:cNvPr id="8" name="Hexagon 7"/>
          <p:cNvSpPr/>
          <p:nvPr/>
        </p:nvSpPr>
        <p:spPr>
          <a:xfrm>
            <a:off x="339242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2</a:t>
            </a:r>
          </a:p>
        </p:txBody>
      </p:sp>
      <p:sp>
        <p:nvSpPr>
          <p:cNvPr id="9" name="TextBox 8"/>
          <p:cNvSpPr txBox="1"/>
          <p:nvPr/>
        </p:nvSpPr>
        <p:spPr>
          <a:xfrm>
            <a:off x="260604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CLAUDE.md partagé</a:t>
            </a:r>
          </a:p>
          <a:p>
            <a:pPr algn="ctr">
              <a:spcAft>
                <a:spcPts val="0"/>
              </a:spcAft>
            </a:pPr>
            <a:r>
              <a:rPr sz="1300">
                <a:solidFill>
                  <a:srgbClr val="5B6372"/>
                </a:solidFill>
                <a:latin typeface="Avenir Next"/>
              </a:rPr>
              <a:t>un fichier pour tous</a:t>
            </a:r>
          </a:p>
        </p:txBody>
      </p:sp>
      <p:sp>
        <p:nvSpPr>
          <p:cNvPr id="10" name="Hexagon 9"/>
          <p:cNvSpPr/>
          <p:nvPr/>
        </p:nvSpPr>
        <p:spPr>
          <a:xfrm>
            <a:off x="5724144" y="2889504"/>
            <a:ext cx="713232" cy="713232"/>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3</a:t>
            </a:r>
          </a:p>
        </p:txBody>
      </p:sp>
      <p:sp>
        <p:nvSpPr>
          <p:cNvPr id="11" name="TextBox 10"/>
          <p:cNvSpPr txBox="1"/>
          <p:nvPr/>
        </p:nvSpPr>
        <p:spPr>
          <a:xfrm>
            <a:off x="493776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Skills modulaires</a:t>
            </a:r>
          </a:p>
          <a:p>
            <a:pPr algn="ctr">
              <a:spcAft>
                <a:spcPts val="0"/>
              </a:spcAft>
            </a:pPr>
            <a:r>
              <a:rPr sz="1300">
                <a:solidFill>
                  <a:srgbClr val="5B6372"/>
                </a:solidFill>
                <a:latin typeface="Avenir Next"/>
              </a:rPr>
              <a:t>chargés à la demande</a:t>
            </a:r>
          </a:p>
        </p:txBody>
      </p:sp>
      <p:sp>
        <p:nvSpPr>
          <p:cNvPr id="12" name="Hexagon 11"/>
          <p:cNvSpPr/>
          <p:nvPr/>
        </p:nvSpPr>
        <p:spPr>
          <a:xfrm>
            <a:off x="8055864" y="2889504"/>
            <a:ext cx="713232" cy="713232"/>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000" b="1">
                <a:solidFill>
                  <a:srgbClr val="FFFFFF"/>
                </a:solidFill>
                <a:latin typeface="Avenir Next"/>
              </a:rPr>
              <a:t>4</a:t>
            </a:r>
          </a:p>
        </p:txBody>
      </p:sp>
      <p:sp>
        <p:nvSpPr>
          <p:cNvPr id="13" name="TextBox 12"/>
          <p:cNvSpPr txBox="1"/>
          <p:nvPr/>
        </p:nvSpPr>
        <p:spPr>
          <a:xfrm>
            <a:off x="7269480" y="3931920"/>
            <a:ext cx="2286000" cy="1280160"/>
          </a:xfrm>
          <a:prstGeom prst="rect">
            <a:avLst/>
          </a:prstGeom>
          <a:noFill/>
        </p:spPr>
        <p:txBody>
          <a:bodyPr wrap="square" lIns="0" rIns="0" tIns="0" bIns="0">
            <a:spAutoFit/>
          </a:bodyPr>
          <a:lstStyle/>
          <a:p>
            <a:pPr algn="ctr">
              <a:spcAft>
                <a:spcPts val="400"/>
              </a:spcAft>
            </a:pPr>
            <a:r>
              <a:rPr sz="1500" b="1">
                <a:solidFill>
                  <a:srgbClr val="14141A"/>
                </a:solidFill>
                <a:latin typeface="Avenir Next"/>
              </a:rPr>
              <a:t>Sync global</a:t>
            </a:r>
          </a:p>
          <a:p>
            <a:pPr algn="ctr">
              <a:spcAft>
                <a:spcPts val="0"/>
              </a:spcAft>
            </a:pPr>
            <a:r>
              <a:rPr sz="1300">
                <a:solidFill>
                  <a:srgbClr val="5B6372"/>
                </a:solidFill>
                <a:latin typeface="Avenir Next"/>
              </a:rPr>
              <a:t>~/.claude/skills</a:t>
            </a:r>
          </a:p>
        </p:txBody>
      </p:sp>
      <p:sp>
        <p:nvSpPr>
          <p:cNvPr id="14" name="Hexagon 13"/>
          <p:cNvSpPr/>
          <p:nvPr/>
        </p:nvSpPr>
        <p:spPr>
          <a:xfrm>
            <a:off x="10264140" y="2766060"/>
            <a:ext cx="960120" cy="960120"/>
          </a:xfrm>
          <a:prstGeom prst="hexagon">
            <a:avLst/>
          </a:prstGeom>
          <a:gradFill rotWithShape="1">
            <a:gsLst>
              <a:gs pos="0">
                <a:srgbClr val="00B5FB"/>
              </a:gs>
              <a:gs pos="100000">
                <a:srgbClr val="974EFF"/>
              </a:gs>
            </a:gsLst>
            <a:lin scaled="0" ang="189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600" b="1">
                <a:solidFill>
                  <a:srgbClr val="FFFFFF"/>
                </a:solidFill>
                <a:latin typeface="Avenir Next"/>
              </a:rPr>
              <a:t>5</a:t>
            </a:r>
          </a:p>
        </p:txBody>
      </p:sp>
      <p:sp>
        <p:nvSpPr>
          <p:cNvPr id="15" name="TextBox 14"/>
          <p:cNvSpPr txBox="1"/>
          <p:nvPr/>
        </p:nvSpPr>
        <p:spPr>
          <a:xfrm>
            <a:off x="9601200" y="3931920"/>
            <a:ext cx="2286000" cy="1280160"/>
          </a:xfrm>
          <a:prstGeom prst="rect">
            <a:avLst/>
          </a:prstGeom>
          <a:noFill/>
        </p:spPr>
        <p:txBody>
          <a:bodyPr wrap="square" lIns="0" rIns="0" tIns="0" bIns="0">
            <a:spAutoFit/>
          </a:bodyPr>
          <a:lstStyle/>
          <a:p>
            <a:pPr algn="ctr">
              <a:spcAft>
                <a:spcPts val="400"/>
              </a:spcAft>
            </a:pPr>
            <a:r>
              <a:rPr sz="1700" b="1">
                <a:solidFill>
                  <a:srgbClr val="14141A"/>
                </a:solidFill>
                <a:latin typeface="Avenir Next"/>
              </a:rPr>
              <a:t>Skills par projet</a:t>
            </a:r>
          </a:p>
          <a:p>
            <a:pPr algn="ctr">
              <a:spcAft>
                <a:spcPts val="0"/>
              </a:spcAft>
            </a:pPr>
            <a:r>
              <a:rPr sz="1300">
                <a:solidFill>
                  <a:srgbClr val="2A2F3A"/>
                </a:solidFill>
                <a:latin typeface="Avenir Next"/>
              </a:rPr>
              <a:t>pollen.yaml</a:t>
            </a:r>
          </a:p>
        </p:txBody>
      </p:sp>
      <p:pic>
        <p:nvPicPr>
          <p:cNvPr id="16" name="bee_astro.png" descr="bee_astro.png"/>
          <p:cNvPicPr>
            <a:picLocks noChangeAspect="1"/>
          </p:cNvPicPr>
          <p:nvPr/>
        </p:nvPicPr>
        <p:blipFill>
          <a:blip r:embed="rId2"/>
          <a:stretch>
            <a:fillRect/>
          </a:stretch>
        </p:blipFill>
        <p:spPr>
          <a:xfrm>
            <a:off x="10332720" y="1371601"/>
            <a:ext cx="953723" cy="1188720"/>
          </a:xfrm>
          <a:prstGeom prst="rect">
            <a:avLst/>
          </a:prstGeom>
        </p:spPr>
      </p:pic>
      <p:sp>
        <p:nvSpPr>
          <p:cNvPr id="17" name="Rectangle 16"/>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Importer des modules de skills, comme des dépendances.</a:t>
            </a:r>
          </a:p>
        </p:txBody>
      </p:sp>
      <p:pic>
        <p:nvPicPr>
          <p:cNvPr id="19"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15/30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6"/>
                                        </p:tgtEl>
                                        <p:attrNameLst>
                                          <p:attrName>style.visibility</p:attrName>
                                        </p:attrNameLst>
                                      </p:cBhvr>
                                      <p:to>
                                        <p:strVal val="visible"/>
                                      </p:to>
                                    </p:set>
                                    <p:anim calcmode="lin" valueType="num">
                                      <p:cBhvr>
                                        <p:cTn id="7" dur="500" fill="hold"/>
                                        <p:tgtEl>
                                          <p:spTgt spid="16"/>
                                        </p:tgtEl>
                                        <p:attrNameLst>
                                          <p:attrName>ppt_w</p:attrName>
                                        </p:attrNameLst>
                                      </p:cBhvr>
                                      <p:tavLst>
                                        <p:tav tm="0">
                                          <p:val>
                                            <p:fltVal val="0"/>
                                          </p:val>
                                        </p:tav>
                                        <p:tav tm="100000">
                                          <p:val>
                                            <p:strVal val="#ppt_w"/>
                                          </p:val>
                                        </p:tav>
                                      </p:tavLst>
                                    </p:anim>
                                    <p:anim calcmode="lin" valueType="num">
                                      <p:cBhvr>
                                        <p:cTn id="8" dur="500" fill="hold"/>
                                        <p:tgtEl>
                                          <p:spTgt spid="16"/>
                                        </p:tgtEl>
                                        <p:attrNameLst>
                                          <p:attrName>ppt_h</p:attrName>
                                        </p:attrNameLst>
                                      </p:cBhvr>
                                      <p:tavLst>
                                        <p:tav tm="0">
                                          <p:val>
                                            <p:fltVal val="0"/>
                                          </p:val>
                                        </p:tav>
                                        <p:tav tm="100000">
                                          <p:val>
                                            <p:strVal val="#ppt_h"/>
                                          </p:val>
                                        </p:tav>
                                      </p:tavLst>
                                    </p:anim>
                                    <p:animEffect transition="in" filter="fade">
                                      <p:cBhvr>
                                        <p:cTn id="9" dur="500"/>
                                        <p:tgtEl>
                                          <p:spTgt spid="1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S'appuyer sur les standards</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 Skills : un format ouvert, SKILL.md (agentskills.io)</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Lu tel quel par Claude Code, Copilot, Cursor, Codex, Antigravity CLI…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AGENTS.md pour le contexte du projet, SKILL.md pour les conventions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Vérifié en CI : skill-validator contrôle le format</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Ni installation ni épinglage dans le standard : c'est le rôle de pollen</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Écrits une fois, lus par tous les agents : aucun lock-in.</a:t>
            </a:r>
          </a:p>
        </p:txBody>
      </p:sp>
      <p:pic>
        <p:nvPicPr>
          <p:cNvPr id="22" name="bee.png" descr="bee.png"/>
          <p:cNvPicPr>
            <a:picLocks noChangeAspect="1"/>
          </p:cNvPicPr>
          <p:nvPr/>
        </p:nvPicPr>
        <p:blipFill>
          <a:blip r:embed="rId3"/>
          <a:stretch>
            <a:fillRect/>
          </a:stretch>
        </p:blipFill>
        <p:spPr>
          <a:xfrm rot="21000000" flipH="1">
            <a:off x="10789920" y="274320"/>
            <a:ext cx="774497"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16/30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 les skills comme des dépendances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pollen.yaml — committé à la racine du projet</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skills/python      # on choisit ses domaines</a:t>
            </a:r>
          </a:p>
          <a:p>
            <a:pPr algn="l">
              <a:spcAft>
                <a:spcPts val="0"/>
              </a:spcAft>
            </a:pPr>
            <a:r>
              <a:rPr sz="1400">
                <a:solidFill>
                  <a:srgbClr val="E8EAF2"/>
                </a:solidFill>
                <a:latin typeface="Consolas"/>
              </a:rPr>
              <a:t>      - path: skills/docker</a:t>
            </a:r>
          </a:p>
          <a:p>
            <a:pPr algn="l">
              <a:spcAft>
                <a:spcPts val="0"/>
              </a:spcAft>
            </a:pPr>
            <a:r>
              <a:rPr sz="1400">
                <a:solidFill>
                  <a:srgbClr val="E8EAF2"/>
                </a:solidFill>
                <a:latin typeface="Consolas"/>
              </a:rPr>
              <a:t>  - repo: local                    # skills propres au projet</a:t>
            </a:r>
          </a:p>
          <a:p>
            <a:pPr algn="l">
              <a:spcAft>
                <a:spcPts val="0"/>
              </a:spcAft>
            </a:pPr>
            <a:r>
              <a:rPr sz="1400">
                <a:solidFill>
                  <a:srgbClr val="E8EAF2"/>
                </a:solidFill>
                <a:latin typeface="Consolas"/>
              </a:rPr>
              <a:t>    paths:</a:t>
            </a:r>
          </a:p>
          <a:p>
            <a:pPr algn="l">
              <a:spcAft>
                <a:spcPts val="0"/>
              </a:spcAft>
            </a:pPr>
            <a:r>
              <a:rPr sz="1400">
                <a:solidFill>
                  <a:srgbClr val="E8EAF2"/>
                </a:solidFill>
                <a:latin typeface="Consolas"/>
              </a:rPr>
              <a:t>      - path: .skills</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update   # → .claude/skills/ + .agents/skills/</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Le projet déclare ses conventions. Un seul fichier, relu en PR.</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17/30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pollen, en pratique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0" name="bee_cool.png" descr="bee_cool.png"/>
          <p:cNvPicPr>
            <a:picLocks noChangeAspect="1"/>
          </p:cNvPicPr>
          <p:nvPr/>
        </p:nvPicPr>
        <p:blipFill>
          <a:blip r:embed="rId2"/>
          <a:stretch>
            <a:fillRect/>
          </a:stretch>
        </p:blipFill>
        <p:spPr>
          <a:xfrm>
            <a:off x="8778240" y="2011680"/>
            <a:ext cx="2902857" cy="2926080"/>
          </a:xfrm>
          <a:prstGeom prst="rect">
            <a:avLst/>
          </a:prstGeom>
        </p:spPr>
      </p:pic>
      <p:sp>
        <p:nvSpPr>
          <p:cNvPr id="11" name="Hexagon 10"/>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97280" y="178308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Déclaratif : install, refresh, prune</a:t>
            </a:r>
          </a:p>
        </p:txBody>
      </p:sp>
      <p:sp>
        <p:nvSpPr>
          <p:cNvPr id="13" name="Hexagon 12"/>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97280" y="242316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Par projet, ou pour la machine : pollen update -g</a:t>
            </a:r>
          </a:p>
        </p:txBody>
      </p:sp>
      <p:sp>
        <p:nvSpPr>
          <p:cNvPr id="15" name="Hexagon 14"/>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97280" y="306324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Ne touche jamais un skill qu'il n'a pas installé</a:t>
            </a:r>
          </a:p>
        </p:txBody>
      </p:sp>
      <p:sp>
        <p:nvSpPr>
          <p:cNvPr id="17" name="Hexagon 16"/>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1097280" y="370332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config par dossier cible, pas de suppression croisée</a:t>
            </a:r>
          </a:p>
        </p:txBody>
      </p:sp>
      <p:sp>
        <p:nvSpPr>
          <p:cNvPr id="19" name="Hexagon 18"/>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097280" y="4343400"/>
            <a:ext cx="704088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Pas un registre, pas de résolution de dépendances</a:t>
            </a:r>
          </a:p>
        </p:txBody>
      </p:sp>
      <p:pic>
        <p:nvPicPr>
          <p:cNvPr id="21"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2" name="TextBox 21"/>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18/30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10"/>
                                        </p:tgtEl>
                                        <p:attrNameLst>
                                          <p:attrName>style.visibility</p:attrName>
                                        </p:attrNameLst>
                                      </p:cBhvr>
                                      <p:to>
                                        <p:strVal val="visible"/>
                                      </p:to>
                                    </p:set>
                                    <p:anim calcmode="lin" valueType="num">
                                      <p:cBhvr>
                                        <p:cTn id="7" dur="500" fill="hold"/>
                                        <p:tgtEl>
                                          <p:spTgt spid="10"/>
                                        </p:tgtEl>
                                        <p:attrNameLst>
                                          <p:attrName>ppt_w</p:attrName>
                                        </p:attrNameLst>
                                      </p:cBhvr>
                                      <p:tavLst>
                                        <p:tav tm="0">
                                          <p:val>
                                            <p:fltVal val="0"/>
                                          </p:val>
                                        </p:tav>
                                        <p:tav tm="100000">
                                          <p:val>
                                            <p:strVal val="#ppt_w"/>
                                          </p:val>
                                        </p:tav>
                                      </p:tavLst>
                                    </p:anim>
                                    <p:anim calcmode="lin" valueType="num">
                                      <p:cBhvr>
                                        <p:cTn id="8" dur="500" fill="hold"/>
                                        <p:tgtEl>
                                          <p:spTgt spid="10"/>
                                        </p:tgtEl>
                                        <p:attrNameLst>
                                          <p:attrName>ppt_h</p:attrName>
                                        </p:attrNameLst>
                                      </p:cBhvr>
                                      <p:tavLst>
                                        <p:tav tm="0">
                                          <p:val>
                                            <p:fltVal val="0"/>
                                          </p:val>
                                        </p:tav>
                                        <p:tav tm="100000">
                                          <p:val>
                                            <p:strVal val="#ppt_h"/>
                                          </p:val>
                                        </p:tav>
                                      </p:tavLst>
                                    </p:anim>
                                    <p:animEffect transition="in" filter="fade">
                                      <p:cBhvr>
                                        <p:cTn id="9" dur="500"/>
                                        <p:tgtEl>
                                          <p:spTgt spid="1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Épingler un commit… et pas de lockfile</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322576"/>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un commit ne bouge pas — un tag peut, une branche bouge à chaque push</a:t>
            </a:r>
          </a:p>
          <a:p>
            <a:pPr algn="l">
              <a:spcAft>
                <a:spcPts val="0"/>
              </a:spcAft>
            </a:pPr>
            <a:r>
              <a:rPr sz="1400">
                <a:solidFill>
                  <a:srgbClr val="E8EAF2"/>
                </a:solidFill>
                <a:latin typeface="Consolas"/>
              </a:rPr>
              <a:t>revision: 4e1e8e25a2f32d8311cd52c5d9a703bad990e525  # v0.2.0</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outdated</a:t>
            </a:r>
          </a:p>
          <a:p>
            <a:pPr algn="l">
              <a:spcAft>
                <a:spcPts val="0"/>
              </a:spcAft>
            </a:pPr>
            <a:r>
              <a:rPr sz="1400">
                <a:solidFill>
                  <a:srgbClr val="E8EAF2"/>
                </a:solidFill>
                <a:latin typeface="Consolas"/>
              </a:rPr>
              <a:t>skills-core  4e1e8e25 (v0.2.0)  -&gt; v0.2.5</a:t>
            </a:r>
          </a:p>
          <a:p>
            <a:pPr algn="l">
              <a:spcAft>
                <a:spcPts val="0"/>
              </a:spcAft>
            </a:pPr>
            <a:r>
              <a:rPr sz="1400">
                <a:solidFill>
                  <a:srgbClr val="E8EAF2"/>
                </a:solidFill>
                <a:latin typeface="Consolas"/>
              </a:rPr>
              <a:t> </a:t>
            </a:r>
          </a:p>
          <a:p>
            <a:pPr algn="l">
              <a:spcAft>
                <a:spcPts val="0"/>
              </a:spcAft>
            </a:pPr>
            <a:r>
              <a:rPr sz="1400">
                <a:solidFill>
                  <a:srgbClr val="E8EAF2"/>
                </a:solidFill>
                <a:latin typeface="Consolas"/>
              </a:rPr>
              <a:t>$ pollen autoupdate --freeze     # réécrit le SHA et le tag</a:t>
            </a:r>
          </a:p>
          <a:p>
            <a:pPr algn="l">
              <a:spcAft>
                <a:spcPts val="0"/>
              </a:spcAft>
            </a:pPr>
            <a:r>
              <a:rPr sz="1400">
                <a:solidFill>
                  <a:srgbClr val="E8EAF2"/>
                </a:solidFill>
                <a:latin typeface="Consolas"/>
              </a:rPr>
              <a:t>$ pollen validate --pinned       # en CI : refuse tags et branches</a:t>
            </a:r>
          </a:p>
        </p:txBody>
      </p:sp>
      <p:sp>
        <p:nvSpPr>
          <p:cNvPr id="5" name="Rectangle 4"/>
          <p:cNvSpPr/>
          <p:nvPr/>
        </p:nvSpPr>
        <p:spPr>
          <a:xfrm>
            <a:off x="640080" y="1481328"/>
            <a:ext cx="64008" cy="2322576"/>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005072"/>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Ni plage de versions, ni dépendance transitive : le SHA est le lock.</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19/30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npx skills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F3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5B6372"/>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npx skills (Vercel)</a:t>
            </a:r>
          </a:p>
        </p:txBody>
      </p:sp>
      <p:sp>
        <p:nvSpPr>
          <p:cNvPr id="6" name="Hexagon 5"/>
          <p:cNvSpPr/>
          <p:nvPr/>
        </p:nvSpPr>
        <p:spPr>
          <a:xfrm>
            <a:off x="914400" y="2606040"/>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Une CLI + un lockfile</a:t>
            </a:r>
          </a:p>
        </p:txBody>
      </p:sp>
      <p:sp>
        <p:nvSpPr>
          <p:cNvPr id="8" name="Hexagon 7"/>
          <p:cNvSpPr/>
          <p:nvPr/>
        </p:nvSpPr>
        <p:spPr>
          <a:xfrm>
            <a:off x="914400" y="3172968"/>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Épingle un ref (tag) + un hash</a:t>
            </a:r>
          </a:p>
        </p:txBody>
      </p:sp>
      <p:sp>
        <p:nvSpPr>
          <p:cNvPr id="10" name="Hexagon 9"/>
          <p:cNvSpPr/>
          <p:nvPr/>
        </p:nvSpPr>
        <p:spPr>
          <a:xfrm>
            <a:off x="914400" y="3739896"/>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Node ; déclaratif en expérimental</a:t>
            </a:r>
          </a:p>
        </p:txBody>
      </p:sp>
      <p:sp>
        <p:nvSpPr>
          <p:cNvPr id="12" name="Hexagon 11"/>
          <p:cNvSpPr/>
          <p:nvPr/>
        </p:nvSpPr>
        <p:spPr>
          <a:xfrm>
            <a:off x="914400" y="4306824"/>
            <a:ext cx="155448" cy="155448"/>
          </a:xfrm>
          <a:prstGeom prst="hexagon">
            <a:avLst/>
          </a:prstGeom>
          <a:solidFill>
            <a:srgbClr val="C9CF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Très large : skills.sh, 75+ agents</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pollen</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pollen.yaml déclaratif</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Épingle le commit d'une release</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binaire, neutre côté langage</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outdated / autoupdate, validate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standard Agent Skills dessous : les deux se composent.</a:t>
            </a:r>
          </a:p>
        </p:txBody>
      </p:sp>
      <p:pic>
        <p:nvPicPr>
          <p:cNvPr id="26"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7" name="TextBox 2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20/30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 fichier, trois propriétaires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3255264"/>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~/.config/pollen/pollen.yaml  →  pollen update -g</a:t>
            </a:r>
          </a:p>
          <a:p>
            <a:pPr algn="l">
              <a:spcAft>
                <a:spcPts val="0"/>
              </a:spcAft>
            </a:pPr>
            <a:r>
              <a:rPr sz="1400">
                <a:solidFill>
                  <a:srgbClr val="E8EAF2"/>
                </a:solidFill>
                <a:latin typeface="Consolas"/>
              </a:rPr>
              <a:t>repos:</a:t>
            </a:r>
          </a:p>
          <a:p>
            <a:pPr algn="l">
              <a:spcAft>
                <a:spcPts val="0"/>
              </a:spcAft>
            </a:pPr>
            <a:r>
              <a:rPr sz="1400">
                <a:solidFill>
                  <a:srgbClr val="E8EAF2"/>
                </a:solidFill>
                <a:latin typeface="Consolas"/>
              </a:rPr>
              <a:t>  - repo: git@github.com:groupbees/skills-core.git     # orga, privé</a:t>
            </a:r>
          </a:p>
          <a:p>
            <a:pPr algn="l">
              <a:spcAft>
                <a:spcPts val="0"/>
              </a:spcAft>
            </a:pPr>
            <a:r>
              <a:rPr sz="1400">
                <a:solidFill>
                  <a:srgbClr val="E8EAF2"/>
                </a:solidFill>
                <a:latin typeface="Consolas"/>
              </a:rPr>
              <a:t>    revision: 351fd495…  # v0.3.1</a:t>
            </a:r>
          </a:p>
          <a:p>
            <a:pPr algn="l">
              <a:spcAft>
                <a:spcPts val="0"/>
              </a:spcAft>
            </a:pPr>
            <a:r>
              <a:rPr sz="1400">
                <a:solidFill>
                  <a:srgbClr val="E8EAF2"/>
                </a:solidFill>
                <a:latin typeface="Consolas"/>
              </a:rPr>
              <a:t>  - repo: git@github.com:groupbees/skills-slides.git   # orga, privé</a:t>
            </a:r>
          </a:p>
          <a:p>
            <a:pPr algn="l">
              <a:spcAft>
                <a:spcPts val="0"/>
              </a:spcAft>
            </a:pPr>
            <a:r>
              <a:rPr sz="1400">
                <a:solidFill>
                  <a:srgbClr val="E8EAF2"/>
                </a:solidFill>
                <a:latin typeface="Consolas"/>
              </a:rPr>
              <a:t>    revision: e4d83514…  # v0.4.0</a:t>
            </a:r>
          </a:p>
          <a:p>
            <a:pPr algn="l">
              <a:spcAft>
                <a:spcPts val="0"/>
              </a:spcAft>
            </a:pPr>
            <a:r>
              <a:rPr sz="1400">
                <a:solidFill>
                  <a:srgbClr val="E8EAF2"/>
                </a:solidFill>
                <a:latin typeface="Consolas"/>
              </a:rPr>
              <a:t>  - repo: https://github.com/groupbees/skills-opensource  # orga, public</a:t>
            </a:r>
          </a:p>
          <a:p>
            <a:pPr algn="l">
              <a:spcAft>
                <a:spcPts val="0"/>
              </a:spcAft>
            </a:pPr>
            <a:r>
              <a:rPr sz="1400">
                <a:solidFill>
                  <a:srgbClr val="E8EAF2"/>
                </a:solidFill>
                <a:latin typeface="Consolas"/>
              </a:rPr>
              <a:t>    revision: 3a461867…  # v0.1.1</a:t>
            </a:r>
          </a:p>
          <a:p>
            <a:pPr algn="l">
              <a:spcAft>
                <a:spcPts val="0"/>
              </a:spcAft>
            </a:pPr>
            <a:r>
              <a:rPr sz="1400">
                <a:solidFill>
                  <a:srgbClr val="E8EAF2"/>
                </a:solidFill>
                <a:latin typeface="Consolas"/>
              </a:rPr>
              <a:t>  - repo: https://github.com/groupbees/pollen           # le skill pollen</a:t>
            </a:r>
          </a:p>
          <a:p>
            <a:pPr algn="l">
              <a:spcAft>
                <a:spcPts val="0"/>
              </a:spcAft>
            </a:pPr>
            <a:r>
              <a:rPr sz="1400">
                <a:solidFill>
                  <a:srgbClr val="E8EAF2"/>
                </a:solidFill>
                <a:latin typeface="Consolas"/>
              </a:rPr>
              <a:t>    revision: c327e7e7…  # v0.5.0</a:t>
            </a:r>
          </a:p>
          <a:p>
            <a:pPr algn="l">
              <a:spcAft>
                <a:spcPts val="0"/>
              </a:spcAft>
            </a:pPr>
            <a:r>
              <a:rPr sz="1400">
                <a:solidFill>
                  <a:srgbClr val="E8EAF2"/>
                </a:solidFill>
                <a:latin typeface="Consolas"/>
              </a:rPr>
              <a:t>  - repo: https://github.com/tosun-si/skills-articles   # perso</a:t>
            </a:r>
          </a:p>
          <a:p>
            <a:pPr algn="l">
              <a:spcAft>
                <a:spcPts val="0"/>
              </a:spcAft>
            </a:pPr>
            <a:r>
              <a:rPr sz="1400">
                <a:solidFill>
                  <a:srgbClr val="E8EAF2"/>
                </a:solidFill>
                <a:latin typeface="Consolas"/>
              </a:rPr>
              <a:t>    revision: cd21b30d…  # v0.1.1</a:t>
            </a:r>
          </a:p>
        </p:txBody>
      </p:sp>
      <p:sp>
        <p:nvSpPr>
          <p:cNvPr id="5" name="Rectangle 4"/>
          <p:cNvSpPr/>
          <p:nvPr/>
        </p:nvSpPr>
        <p:spPr>
          <a:xfrm>
            <a:off x="640080" y="1481328"/>
            <a:ext cx="64008" cy="3255264"/>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937760"/>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Mes conventions perso ne polluent pas l'équipe : un fichier, cinq commits.</a:t>
            </a:r>
          </a:p>
        </p:txBody>
      </p:sp>
      <p:pic>
        <p:nvPicPr>
          <p:cNvPr id="7" name="bee_happy.png" descr="bee_happy.png"/>
          <p:cNvPicPr>
            <a:picLocks noChangeAspect="1"/>
          </p:cNvPicPr>
          <p:nvPr/>
        </p:nvPicPr>
        <p:blipFill>
          <a:blip r:embed="rId3"/>
          <a:stretch>
            <a:fillRect/>
          </a:stretch>
        </p:blipFill>
        <p:spPr>
          <a:xfrm rot="600000">
            <a:off x="10881360" y="274320"/>
            <a:ext cx="696951" cy="868680"/>
          </a:xfrm>
          <a:prstGeom prst="rect">
            <a:avLst/>
          </a:prstGeom>
        </p:spPr>
      </p:pic>
      <p:pic>
        <p:nvPicPr>
          <p:cNvPr id="8"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21/30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7"/>
                                        </p:tgtEl>
                                        <p:attrNameLst>
                                          <p:attrName>style.visibility</p:attrName>
                                        </p:attrNameLst>
                                      </p:cBhvr>
                                      <p:to>
                                        <p:strVal val="visible"/>
                                      </p:to>
                                    </p:set>
                                    <p:anim calcmode="lin" valueType="num">
                                      <p:cBhvr>
                                        <p:cTn id="7" dur="500" fill="hold"/>
                                        <p:tgtEl>
                                          <p:spTgt spid="7"/>
                                        </p:tgtEl>
                                        <p:attrNameLst>
                                          <p:attrName>ppt_w</p:attrName>
                                        </p:attrNameLst>
                                      </p:cBhvr>
                                      <p:tavLst>
                                        <p:tav tm="0">
                                          <p:val>
                                            <p:fltVal val="0"/>
                                          </p:val>
                                        </p:tav>
                                        <p:tav tm="100000">
                                          <p:val>
                                            <p:strVal val="#ppt_w"/>
                                          </p:val>
                                        </p:tav>
                                      </p:tavLst>
                                    </p:anim>
                                    <p:anim calcmode="lin" valueType="num">
                                      <p:cBhvr>
                                        <p:cTn id="8" dur="500" fill="hold"/>
                                        <p:tgtEl>
                                          <p:spTgt spid="7"/>
                                        </p:tgtEl>
                                        <p:attrNameLst>
                                          <p:attrName>ppt_h</p:attrName>
                                        </p:attrNameLst>
                                      </p:cBhvr>
                                      <p:tavLst>
                                        <p:tav tm="0">
                                          <p:val>
                                            <p:fltVal val="0"/>
                                          </p:val>
                                        </p:tav>
                                        <p:tav tm="100000">
                                          <p:val>
                                            <p:strVal val="#ppt_h"/>
                                          </p:val>
                                        </p:tav>
                                      </p:tavLst>
                                    </p:anim>
                                    <p:animEffect transition="in" filter="fade">
                                      <p:cBhvr>
                                        <p:cTn id="9" dur="500"/>
                                        <p:tgtEl>
                                          <p:spTgt spid="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Et Spec Kit, BMAD ?</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640080" y="1600200"/>
            <a:ext cx="5257800" cy="640080"/>
          </a:xfrm>
          <a:prstGeom prst="rect">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processus</a:t>
            </a:r>
          </a:p>
        </p:txBody>
      </p:sp>
      <p:sp>
        <p:nvSpPr>
          <p:cNvPr id="6" name="Hexagon 5"/>
          <p:cNvSpPr/>
          <p:nvPr/>
        </p:nvSpPr>
        <p:spPr>
          <a:xfrm>
            <a:off x="91440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123444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Kit, BMAD : le quoi et le quand</a:t>
            </a:r>
          </a:p>
        </p:txBody>
      </p:sp>
      <p:sp>
        <p:nvSpPr>
          <p:cNvPr id="8" name="Hexagon 7"/>
          <p:cNvSpPr/>
          <p:nvPr/>
        </p:nvSpPr>
        <p:spPr>
          <a:xfrm>
            <a:off x="91440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23444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spec · plan · tasks · implement</a:t>
            </a:r>
          </a:p>
        </p:txBody>
      </p:sp>
      <p:sp>
        <p:nvSpPr>
          <p:cNvPr id="10" name="Hexagon 9"/>
          <p:cNvSpPr/>
          <p:nvPr/>
        </p:nvSpPr>
        <p:spPr>
          <a:xfrm>
            <a:off x="91440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23444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 cycle par feature</a:t>
            </a:r>
          </a:p>
        </p:txBody>
      </p:sp>
      <p:sp>
        <p:nvSpPr>
          <p:cNvPr id="12" name="Hexagon 11"/>
          <p:cNvSpPr/>
          <p:nvPr/>
        </p:nvSpPr>
        <p:spPr>
          <a:xfrm>
            <a:off x="91440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23444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Nos conventions ? En prose, à injecter</a:t>
            </a:r>
          </a:p>
        </p:txBody>
      </p:sp>
      <p:sp>
        <p:nvSpPr>
          <p:cNvPr id="14" name="Rectangle 13"/>
          <p:cNvSpPr/>
          <p:nvPr/>
        </p:nvSpPr>
        <p:spPr>
          <a:xfrm>
            <a:off x="6263640" y="1600200"/>
            <a:ext cx="5257800" cy="3794760"/>
          </a:xfrm>
          <a:prstGeom prst="rect">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6263640" y="1600200"/>
            <a:ext cx="5257800" cy="64008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lIns="274320"/>
          <a:lstStyle/>
          <a:p>
            <a:pPr algn="l">
              <a:spcAft>
                <a:spcPts val="0"/>
              </a:spcAft>
            </a:pPr>
            <a:r>
              <a:rPr sz="2200" b="1">
                <a:solidFill>
                  <a:srgbClr val="FFFFFF"/>
                </a:solidFill>
                <a:latin typeface="Avenir Next"/>
              </a:rPr>
              <a:t>Skills de conventions</a:t>
            </a:r>
          </a:p>
        </p:txBody>
      </p:sp>
      <p:sp>
        <p:nvSpPr>
          <p:cNvPr id="16" name="Hexagon 15"/>
          <p:cNvSpPr/>
          <p:nvPr/>
        </p:nvSpPr>
        <p:spPr>
          <a:xfrm>
            <a:off x="6537960" y="260604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858000" y="2514600"/>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GroupBees : le comment</a:t>
            </a:r>
          </a:p>
        </p:txBody>
      </p:sp>
      <p:sp>
        <p:nvSpPr>
          <p:cNvPr id="18" name="Hexagon 17"/>
          <p:cNvSpPr/>
          <p:nvPr/>
        </p:nvSpPr>
        <p:spPr>
          <a:xfrm>
            <a:off x="6537960" y="317296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58000" y="3081528"/>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Archi, Dockerfile, CI, Git, IaC</a:t>
            </a:r>
          </a:p>
        </p:txBody>
      </p:sp>
      <p:sp>
        <p:nvSpPr>
          <p:cNvPr id="20" name="Hexagon 19"/>
          <p:cNvSpPr/>
          <p:nvPr/>
        </p:nvSpPr>
        <p:spPr>
          <a:xfrm>
            <a:off x="6537960" y="373989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0" y="3648456"/>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Actifs sur tout le projet</a:t>
            </a:r>
          </a:p>
        </p:txBody>
      </p:sp>
      <p:sp>
        <p:nvSpPr>
          <p:cNvPr id="22" name="Hexagon 21"/>
          <p:cNvSpPr/>
          <p:nvPr/>
        </p:nvSpPr>
        <p:spPr>
          <a:xfrm>
            <a:off x="6537960" y="430682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858000" y="4215384"/>
            <a:ext cx="4434840" cy="548640"/>
          </a:xfrm>
          <a:prstGeom prst="rect">
            <a:avLst/>
          </a:prstGeom>
          <a:noFill/>
        </p:spPr>
        <p:txBody>
          <a:bodyPr wrap="square" lIns="0" rIns="0" tIns="0" bIns="0">
            <a:spAutoFit/>
          </a:bodyPr>
          <a:lstStyle/>
          <a:p>
            <a:pPr algn="l">
              <a:spcAft>
                <a:spcPts val="0"/>
              </a:spcAft>
            </a:pPr>
            <a:r>
              <a:rPr sz="1800">
                <a:solidFill>
                  <a:srgbClr val="2A2F3A"/>
                </a:solidFill>
                <a:latin typeface="Avenir Next"/>
              </a:rPr>
              <a:t>Une convention = un skill, à la demande</a:t>
            </a:r>
          </a:p>
        </p:txBody>
      </p:sp>
      <p:sp>
        <p:nvSpPr>
          <p:cNvPr id="24" name="Rectangle 23"/>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Même format SKILL.md, autre contenu : ils se composent.</a:t>
            </a:r>
          </a:p>
        </p:txBody>
      </p:sp>
      <p:pic>
        <p:nvPicPr>
          <p:cNvPr id="26" name="bee_cool.png" descr="bee_cool.png"/>
          <p:cNvPicPr>
            <a:picLocks noChangeAspect="1"/>
          </p:cNvPicPr>
          <p:nvPr/>
        </p:nvPicPr>
        <p:blipFill>
          <a:blip r:embed="rId3"/>
          <a:stretch>
            <a:fillRect/>
          </a:stretch>
        </p:blipFill>
        <p:spPr>
          <a:xfrm rot="21120000">
            <a:off x="10835640" y="274320"/>
            <a:ext cx="907143" cy="914400"/>
          </a:xfrm>
          <a:prstGeom prst="rect">
            <a:avLst/>
          </a:prstGeom>
        </p:spPr>
      </p:pic>
      <p:pic>
        <p:nvPicPr>
          <p:cNvPr id="27"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8" name="TextBox 2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22/30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6"/>
                                        </p:tgtEl>
                                        <p:attrNameLst>
                                          <p:attrName>style.visibility</p:attrName>
                                        </p:attrNameLst>
                                      </p:cBhvr>
                                      <p:to>
                                        <p:strVal val="visible"/>
                                      </p:to>
                                    </p:set>
                                    <p:anim calcmode="lin" valueType="num">
                                      <p:cBhvr>
                                        <p:cTn id="7" dur="500" fill="hold"/>
                                        <p:tgtEl>
                                          <p:spTgt spid="26"/>
                                        </p:tgtEl>
                                        <p:attrNameLst>
                                          <p:attrName>ppt_w</p:attrName>
                                        </p:attrNameLst>
                                      </p:cBhvr>
                                      <p:tavLst>
                                        <p:tav tm="0">
                                          <p:val>
                                            <p:fltVal val="0"/>
                                          </p:val>
                                        </p:tav>
                                        <p:tav tm="100000">
                                          <p:val>
                                            <p:strVal val="#ppt_w"/>
                                          </p:val>
                                        </p:tav>
                                      </p:tavLst>
                                    </p:anim>
                                    <p:anim calcmode="lin" valueType="num">
                                      <p:cBhvr>
                                        <p:cTn id="8" dur="500" fill="hold"/>
                                        <p:tgtEl>
                                          <p:spTgt spid="26"/>
                                        </p:tgtEl>
                                        <p:attrNameLst>
                                          <p:attrName>ppt_h</p:attrName>
                                        </p:attrNameLst>
                                      </p:cBhvr>
                                      <p:tavLst>
                                        <p:tav tm="0">
                                          <p:val>
                                            <p:fltVal val="0"/>
                                          </p:val>
                                        </p:tav>
                                        <p:tav tm="100000">
                                          <p:val>
                                            <p:strVal val="#ppt_h"/>
                                          </p:val>
                                        </p:tav>
                                      </p:tavLst>
                                    </p:anim>
                                    <p:animEffect transition="in" filter="fade">
                                      <p:cBhvr>
                                        <p:cTn id="9" dur="50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png" descr="bee.png"/>
          <p:cNvPicPr>
            <a:picLocks noChangeAspect="1"/>
          </p:cNvPicPr>
          <p:nvPr/>
        </p:nvPicPr>
        <p:blipFill>
          <a:blip r:embed="rId2"/>
          <a:stretch>
            <a:fillRect/>
          </a:stretch>
        </p:blipFill>
        <p:spPr>
          <a:xfrm>
            <a:off x="9326880" y="2103120"/>
            <a:ext cx="2788188" cy="3291840"/>
          </a:xfrm>
          <a:prstGeom prst="rect">
            <a:avLst/>
          </a:prstGeom>
        </p:spPr>
      </p:pic>
      <p:sp>
        <p:nvSpPr>
          <p:cNvPr id="5" name="TextBox 4"/>
          <p:cNvSpPr txBox="1"/>
          <p:nvPr/>
        </p:nvSpPr>
        <p:spPr>
          <a:xfrm>
            <a:off x="731520" y="1005840"/>
            <a:ext cx="7772400" cy="1371600"/>
          </a:xfrm>
          <a:prstGeom prst="rect">
            <a:avLst/>
          </a:prstGeom>
          <a:noFill/>
        </p:spPr>
        <p:txBody>
          <a:bodyPr wrap="square" lIns="0" rIns="0" tIns="0" bIns="0">
            <a:spAutoFit/>
          </a:bodyPr>
          <a:lstStyle/>
          <a:p>
            <a:pPr algn="l">
              <a:spcAft>
                <a:spcPts val="0"/>
              </a:spcAft>
            </a:pPr>
            <a:r>
              <a:rPr sz="8800" b="1">
                <a:solidFill>
                  <a:srgbClr val="FFFFFF"/>
                </a:solidFill>
                <a:latin typeface="Avenir Next"/>
              </a:rPr>
              <a:t>DÉMO</a:t>
            </a:r>
          </a:p>
        </p:txBody>
      </p:sp>
      <p:sp>
        <p:nvSpPr>
          <p:cNvPr id="6" name="Rectangle 5"/>
          <p:cNvSpPr/>
          <p:nvPr/>
        </p:nvSpPr>
        <p:spPr>
          <a:xfrm>
            <a:off x="777240" y="2331720"/>
            <a:ext cx="2926080"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2697480"/>
            <a:ext cx="7680960" cy="731520"/>
          </a:xfrm>
          <a:prstGeom prst="rect">
            <a:avLst/>
          </a:prstGeom>
          <a:noFill/>
        </p:spPr>
        <p:txBody>
          <a:bodyPr wrap="square" lIns="0" rIns="0" tIns="0" bIns="0">
            <a:spAutoFit/>
          </a:bodyPr>
          <a:lstStyle/>
          <a:p>
            <a:pPr algn="l">
              <a:spcAft>
                <a:spcPts val="0"/>
              </a:spcAft>
            </a:pPr>
            <a:r>
              <a:rPr sz="2600">
                <a:solidFill>
                  <a:srgbClr val="00B5FB"/>
                </a:solidFill>
                <a:latin typeface="Avenir Next"/>
              </a:rPr>
              <a:t>Même prompt, sans puis avec les skills</a:t>
            </a:r>
          </a:p>
        </p:txBody>
      </p:sp>
      <p:sp>
        <p:nvSpPr>
          <p:cNvPr id="8" name="Hexagon 7"/>
          <p:cNvSpPr/>
          <p:nvPr/>
        </p:nvSpPr>
        <p:spPr>
          <a:xfrm>
            <a:off x="804672" y="3657600"/>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88720" y="3566160"/>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Session vierge : le prompt, la sortie générique</a:t>
            </a:r>
          </a:p>
        </p:txBody>
      </p:sp>
      <p:sp>
        <p:nvSpPr>
          <p:cNvPr id="10" name="Hexagon 9"/>
          <p:cNvSpPr/>
          <p:nvPr/>
        </p:nvSpPr>
        <p:spPr>
          <a:xfrm>
            <a:off x="804672" y="4224528"/>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88720" y="4133088"/>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pollen update : les skills du projet arrivent</a:t>
            </a:r>
          </a:p>
        </p:txBody>
      </p:sp>
      <p:sp>
        <p:nvSpPr>
          <p:cNvPr id="12" name="Hexagon 11"/>
          <p:cNvSpPr/>
          <p:nvPr/>
        </p:nvSpPr>
        <p:spPr>
          <a:xfrm>
            <a:off x="804672" y="4791456"/>
            <a:ext cx="155448" cy="15544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88720" y="4700016"/>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Même prompt : hexagonal, Dockerfile, tests, CI</a:t>
            </a:r>
          </a:p>
        </p:txBody>
      </p:sp>
      <p:sp>
        <p:nvSpPr>
          <p:cNvPr id="14" name="Hexagon 13"/>
          <p:cNvSpPr/>
          <p:nvPr/>
        </p:nvSpPr>
        <p:spPr>
          <a:xfrm>
            <a:off x="804672" y="5358384"/>
            <a:ext cx="155448" cy="15544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88720" y="5266944"/>
            <a:ext cx="7680960" cy="457200"/>
          </a:xfrm>
          <a:prstGeom prst="rect">
            <a:avLst/>
          </a:prstGeom>
          <a:noFill/>
        </p:spPr>
        <p:txBody>
          <a:bodyPr wrap="square" lIns="0" rIns="0" tIns="0" bIns="0">
            <a:spAutoFit/>
          </a:bodyPr>
          <a:lstStyle/>
          <a:p>
            <a:pPr algn="l">
              <a:spcAft>
                <a:spcPts val="0"/>
              </a:spcAft>
            </a:pPr>
            <a:r>
              <a:rPr sz="1900">
                <a:solidFill>
                  <a:srgbClr val="C9CFDC"/>
                </a:solidFill>
                <a:latin typeface="Avenir Next"/>
              </a:rPr>
              <a:t>Commit squashé, PR labellisée, pipeline jusqu'à Cloud Run</a:t>
            </a:r>
          </a:p>
        </p:txBody>
      </p:sp>
      <p:pic>
        <p:nvPicPr>
          <p:cNvPr id="16"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17" name="TextBox 16"/>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23/30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Une lib de skills, ça se gouverne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skills sont du code : versionnés, relus en PR</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Blast radius : un skill s'applique à tout ce qui est généré</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L'IA drafte les mises à jour, l'humain relit et merge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Capture à chaud : un gotcha rencontré remonte dans le skill</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Relecture : référents tech (transverse), référents du domaine (spécialisé)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Sans gouvernance, on recrée le monolithe… éclaté en N fichiers.</a:t>
            </a:r>
          </a:p>
        </p:txBody>
      </p:sp>
      <p:pic>
        <p:nvPicPr>
          <p:cNvPr id="22" name="bee_grad.png" descr="bee_grad.png"/>
          <p:cNvPicPr>
            <a:picLocks noChangeAspect="1"/>
          </p:cNvPicPr>
          <p:nvPr/>
        </p:nvPicPr>
        <p:blipFill>
          <a:blip r:embed="rId3"/>
          <a:stretch>
            <a:fillRect/>
          </a:stretch>
        </p:blipFill>
        <p:spPr>
          <a:xfrm rot="36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24/30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Quand un skill périme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Séparer le durable (archi) du volatil (flags, versions)</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L'agent se trompe : on corrige le skill, pas que le code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Une règle qui peut devenir un check le devient</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Scan IA : bon sur le factuel, le jugement reste humain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Prochaine marche : des evals, pas encore en place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règle périmée n'échoue pas : elle enseigne le mauvais pattern.</a:t>
            </a:r>
          </a:p>
        </p:txBody>
      </p:sp>
      <p:pic>
        <p:nvPicPr>
          <p:cNvPr id="22" name="bee_grad.png" descr="bee_grad.png"/>
          <p:cNvPicPr>
            <a:picLocks noChangeAspect="1"/>
          </p:cNvPicPr>
          <p:nvPr/>
        </p:nvPicPr>
        <p:blipFill>
          <a:blip r:embed="rId3"/>
          <a:stretch>
            <a:fillRect/>
          </a:stretch>
        </p:blipFill>
        <p:spPr>
          <a:xfrm rot="21240000">
            <a:off x="10789920" y="182880"/>
            <a:ext cx="773206" cy="105156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25/30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CI d'un module de skills</a:t>
            </a:r>
          </a:p>
        </p:txBody>
      </p:sp>
      <p:sp>
        <p:nvSpPr>
          <p:cNvPr id="3" name="Rectangle 2"/>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640080" y="1481328"/>
            <a:ext cx="10881360" cy="2555748"/>
          </a:xfrm>
          <a:prstGeom prst="rect">
            <a:avLst/>
          </a:prstGeom>
          <a:solidFill>
            <a:srgbClr val="1B1B24"/>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320040" tIns="201168" rIns="182880" bIns="182880"/>
          <a:lstStyle/>
          <a:p>
            <a:pPr algn="l">
              <a:spcAft>
                <a:spcPts val="0"/>
              </a:spcAft>
            </a:pPr>
            <a:r>
              <a:rPr sz="1400">
                <a:solidFill>
                  <a:srgbClr val="00B5FB"/>
                </a:solidFill>
                <a:latin typeface="Consolas"/>
              </a:rPr>
              <a:t># .github/workflows/ci.yml d'un module : une seule ligne utile</a:t>
            </a:r>
          </a:p>
          <a:p>
            <a:pPr algn="l">
              <a:spcAft>
                <a:spcPts val="0"/>
              </a:spcAft>
            </a:pPr>
            <a:r>
              <a:rPr sz="1400">
                <a:solidFill>
                  <a:srgbClr val="E8EAF2"/>
                </a:solidFill>
                <a:latin typeface="Consolas"/>
              </a:rPr>
              <a:t>jobs:</a:t>
            </a:r>
          </a:p>
          <a:p>
            <a:pPr algn="l">
              <a:spcAft>
                <a:spcPts val="0"/>
              </a:spcAft>
            </a:pPr>
            <a:r>
              <a:rPr sz="1400">
                <a:solidFill>
                  <a:srgbClr val="E8EAF2"/>
                </a:solidFill>
                <a:latin typeface="Consolas"/>
              </a:rPr>
              <a:t>  module:</a:t>
            </a:r>
          </a:p>
          <a:p>
            <a:pPr algn="l">
              <a:spcAft>
                <a:spcPts val="0"/>
              </a:spcAft>
            </a:pPr>
            <a:r>
              <a:rPr sz="1400">
                <a:solidFill>
                  <a:srgbClr val="E8EAF2"/>
                </a:solidFill>
                <a:latin typeface="Consolas"/>
              </a:rPr>
              <a:t>    uses: groupbees/.github/.github/workflows/skills-module.yml@3b24f023…  # v1.1.0</a:t>
            </a:r>
          </a:p>
          <a:p>
            <a:pPr algn="l">
              <a:spcAft>
                <a:spcPts val="0"/>
              </a:spcAft>
            </a:pPr>
            <a:r>
              <a:rPr sz="1400">
                <a:solidFill>
                  <a:srgbClr val="E8EAF2"/>
                </a:solidFill>
                <a:latin typeface="Consolas"/>
              </a:rPr>
              <a:t> </a:t>
            </a:r>
          </a:p>
          <a:p>
            <a:pPr algn="l">
              <a:spcAft>
                <a:spcPts val="0"/>
              </a:spcAft>
            </a:pPr>
            <a:r>
              <a:rPr sz="1400">
                <a:solidFill>
                  <a:srgbClr val="00B5FB"/>
                </a:solidFill>
                <a:latin typeface="Consolas"/>
              </a:rPr>
              <a:t># ce que vérifie le workflow partagé, à chaque PR :</a:t>
            </a:r>
          </a:p>
          <a:p>
            <a:pPr algn="l">
              <a:spcAft>
                <a:spcPts val="0"/>
              </a:spcAft>
            </a:pPr>
            <a:r>
              <a:rPr sz="1400">
                <a:solidFill>
                  <a:srgbClr val="00B5FB"/>
                </a:solidFill>
                <a:latin typeface="Consolas"/>
              </a:rPr>
              <a:t>#   skill-validator --strict   spec, tokens, liens, descriptions</a:t>
            </a:r>
          </a:p>
          <a:p>
            <a:pPr algn="l">
              <a:spcAft>
                <a:spcPts val="0"/>
              </a:spcAft>
            </a:pPr>
            <a:r>
              <a:rPr sz="1400">
                <a:solidFill>
                  <a:srgbClr val="00B5FB"/>
                </a:solidFill>
                <a:latin typeface="Consolas"/>
              </a:rPr>
              <a:t>#   pollen validate            se déploie comme chez un consommateur</a:t>
            </a:r>
          </a:p>
          <a:p>
            <a:pPr algn="l">
              <a:spcAft>
                <a:spcPts val="0"/>
              </a:spcAft>
            </a:pPr>
            <a:r>
              <a:rPr sz="1400">
                <a:solidFill>
                  <a:srgbClr val="00B5FB"/>
                </a:solidFill>
                <a:latin typeface="Consolas"/>
              </a:rPr>
              <a:t>#   README généré · noms uniques · shellcheck</a:t>
            </a:r>
          </a:p>
        </p:txBody>
      </p:sp>
      <p:sp>
        <p:nvSpPr>
          <p:cNvPr id="5" name="Rectangle 4"/>
          <p:cNvSpPr/>
          <p:nvPr/>
        </p:nvSpPr>
        <p:spPr>
          <a:xfrm>
            <a:off x="640080" y="1481328"/>
            <a:ext cx="64008" cy="2555748"/>
          </a:xfrm>
          <a:prstGeom prst="rect">
            <a:avLst/>
          </a:prstGeom>
          <a:gradFill rotWithShape="1">
            <a:gsLst>
              <a:gs pos="0">
                <a:srgbClr val="00B5FB"/>
              </a:gs>
              <a:gs pos="100000">
                <a:srgbClr val="974EFF"/>
              </a:gs>
            </a:gsLst>
            <a:lin scaled="0" ang="1620000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40080" y="4238244"/>
            <a:ext cx="10881360" cy="457200"/>
          </a:xfrm>
          <a:prstGeom prst="rect">
            <a:avLst/>
          </a:prstGeom>
          <a:noFill/>
        </p:spPr>
        <p:txBody>
          <a:bodyPr wrap="square" lIns="0" rIns="0" tIns="0" bIns="0">
            <a:spAutoFit/>
          </a:bodyPr>
          <a:lstStyle/>
          <a:p>
            <a:pPr algn="l">
              <a:spcAft>
                <a:spcPts val="0"/>
              </a:spcAft>
            </a:pPr>
            <a:r>
              <a:rPr sz="1700" b="1">
                <a:solidFill>
                  <a:srgbClr val="974EFF"/>
                </a:solidFill>
                <a:latin typeface="Avenir Next"/>
              </a:rPr>
              <a:t>Barre de review plus haute que pour du code : ça s'applique à tout.</a:t>
            </a:r>
          </a:p>
        </p:txBody>
      </p:sp>
      <p:pic>
        <p:nvPicPr>
          <p:cNvPr id="7"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8" name="TextBox 7"/>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26/30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La doc d'un outil est aussi un skill</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Chaque module réexpliquait pollen : 13 fichiers par version</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 skill pollen vit dans le repo pollen, versionné avec lui</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Installé… par pollen, au niveau projet ou machine</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Les modules ne gardent qu'un lien</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Même règle pour la CI : un workflow partagé, épinglé</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Une source par sujet. Sinon le monolithe revient, en N copies.</a:t>
            </a:r>
          </a:p>
        </p:txBody>
      </p:sp>
      <p:pic>
        <p:nvPicPr>
          <p:cNvPr id="22" name="bee_astro.png" descr="bee_astro.png"/>
          <p:cNvPicPr>
            <a:picLocks noChangeAspect="1"/>
          </p:cNvPicPr>
          <p:nvPr/>
        </p:nvPicPr>
        <p:blipFill>
          <a:blip r:embed="rId3"/>
          <a:stretch>
            <a:fillRect/>
          </a:stretch>
        </p:blipFill>
        <p:spPr>
          <a:xfrm rot="21120000">
            <a:off x="10835640" y="182880"/>
            <a:ext cx="806996" cy="100584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27/30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Ce qu'on retient de Google</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713232" y="189280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097280" y="178308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 Skills are products, not snippets »</a:t>
            </a:r>
          </a:p>
        </p:txBody>
      </p:sp>
      <p:sp>
        <p:nvSpPr>
          <p:cNvPr id="12" name="Hexagon 11"/>
          <p:cNvSpPr/>
          <p:nvPr/>
        </p:nvSpPr>
        <p:spPr>
          <a:xfrm>
            <a:off x="713232" y="253288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097280" y="242316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obligatoires à la soumission : prompts + grille de score</a:t>
            </a:r>
          </a:p>
        </p:txBody>
      </p:sp>
      <p:sp>
        <p:nvSpPr>
          <p:cNvPr id="14" name="Hexagon 13"/>
          <p:cNvSpPr/>
          <p:nvPr/>
        </p:nvSpPr>
        <p:spPr>
          <a:xfrm>
            <a:off x="713232" y="317296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97280" y="306324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Evals hebdomadaires sur toute la lib, sur plusieurs agents</a:t>
            </a:r>
          </a:p>
        </p:txBody>
      </p:sp>
      <p:sp>
        <p:nvSpPr>
          <p:cNvPr id="16" name="Hexagon 15"/>
          <p:cNvSpPr/>
          <p:nvPr/>
        </p:nvSpPr>
        <p:spPr>
          <a:xfrm>
            <a:off x="713232" y="3813048"/>
            <a:ext cx="173736" cy="173736"/>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097280" y="370332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Deux axes : précision × efficacité (tokens, temps)</a:t>
            </a:r>
          </a:p>
        </p:txBody>
      </p:sp>
      <p:sp>
        <p:nvSpPr>
          <p:cNvPr id="18" name="Hexagon 17"/>
          <p:cNvSpPr/>
          <p:nvPr/>
        </p:nvSpPr>
        <p:spPr>
          <a:xfrm>
            <a:off x="713232" y="4453128"/>
            <a:ext cx="173736" cy="173736"/>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97280" y="4343400"/>
            <a:ext cx="10515600" cy="548640"/>
          </a:xfrm>
          <a:prstGeom prst="rect">
            <a:avLst/>
          </a:prstGeom>
          <a:noFill/>
        </p:spPr>
        <p:txBody>
          <a:bodyPr wrap="square" lIns="0" rIns="0" tIns="0" bIns="0">
            <a:spAutoFit/>
          </a:bodyPr>
          <a:lstStyle/>
          <a:p>
            <a:pPr algn="l">
              <a:spcAft>
                <a:spcPts val="0"/>
              </a:spcAft>
            </a:pPr>
            <a:r>
              <a:rPr sz="2100">
                <a:solidFill>
                  <a:srgbClr val="2A2F3A"/>
                </a:solidFill>
                <a:latin typeface="Avenir Next"/>
              </a:rPr>
              <a:t>Un owner par skill quand une API change ou qu'une eval régresse</a:t>
            </a:r>
          </a:p>
        </p:txBody>
      </p:sp>
      <p:sp>
        <p:nvSpPr>
          <p:cNvPr id="20" name="Rectangle 19"/>
          <p:cNvSpPr/>
          <p:nvPr/>
        </p:nvSpPr>
        <p:spPr>
          <a:xfrm>
            <a:off x="640080" y="5669280"/>
            <a:ext cx="10881360" cy="4572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0080" y="5806440"/>
            <a:ext cx="10881360" cy="457200"/>
          </a:xfrm>
          <a:prstGeom prst="rect">
            <a:avLst/>
          </a:prstGeom>
          <a:noFill/>
        </p:spPr>
        <p:txBody>
          <a:bodyPr wrap="square" lIns="0" rIns="0" tIns="0" bIns="0">
            <a:spAutoFit/>
          </a:bodyPr>
          <a:lstStyle/>
          <a:p>
            <a:pPr algn="l">
              <a:spcAft>
                <a:spcPts val="0"/>
              </a:spcAft>
            </a:pPr>
            <a:r>
              <a:rPr sz="1800" b="1">
                <a:solidFill>
                  <a:srgbClr val="974EFF"/>
                </a:solidFill>
                <a:latin typeface="Avenir Next"/>
              </a:rPr>
              <a:t>Notre prochaine marche : des evals sur nos skills.</a:t>
            </a:r>
          </a:p>
        </p:txBody>
      </p:sp>
      <p:pic>
        <p:nvPicPr>
          <p:cNvPr id="22" name="bee_cool.png" descr="bee_cool.png"/>
          <p:cNvPicPr>
            <a:picLocks noChangeAspect="1"/>
          </p:cNvPicPr>
          <p:nvPr/>
        </p:nvPicPr>
        <p:blipFill>
          <a:blip r:embed="rId3"/>
          <a:stretch>
            <a:fillRect/>
          </a:stretch>
        </p:blipFill>
        <p:spPr>
          <a:xfrm rot="480000">
            <a:off x="10835640" y="228600"/>
            <a:ext cx="907143" cy="914400"/>
          </a:xfrm>
          <a:prstGeom prst="rect">
            <a:avLst/>
          </a:prstGeom>
        </p:spPr>
      </p:pic>
      <p:pic>
        <p:nvPicPr>
          <p:cNvPr id="23" name="logo.png" descr="logo.png"/>
          <p:cNvPicPr>
            <a:picLocks noChangeAspect="1"/>
          </p:cNvPicPr>
          <p:nvPr/>
        </p:nvPicPr>
        <p:blipFill>
          <a:blip r:embed="rId4"/>
          <a:stretch>
            <a:fillRect/>
          </a:stretch>
        </p:blipFill>
        <p:spPr>
          <a:xfrm>
            <a:off x="566928" y="6263640"/>
            <a:ext cx="899514" cy="274320"/>
          </a:xfrm>
          <a:prstGeom prst="rect">
            <a:avLst/>
          </a:prstGeom>
        </p:spPr>
      </p:pic>
      <p:sp>
        <p:nvSpPr>
          <p:cNvPr id="24" name="TextBox 23"/>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28/30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22"/>
                                        </p:tgtEl>
                                        <p:attrNameLst>
                                          <p:attrName>style.visibility</p:attrName>
                                        </p:attrNameLst>
                                      </p:cBhvr>
                                      <p:to>
                                        <p:strVal val="visible"/>
                                      </p:to>
                                    </p:set>
                                    <p:anim calcmode="lin" valueType="num">
                                      <p:cBhvr>
                                        <p:cTn id="7" dur="500" fill="hold"/>
                                        <p:tgtEl>
                                          <p:spTgt spid="22"/>
                                        </p:tgtEl>
                                        <p:attrNameLst>
                                          <p:attrName>ppt_w</p:attrName>
                                        </p:attrNameLst>
                                      </p:cBhvr>
                                      <p:tavLst>
                                        <p:tav tm="0">
                                          <p:val>
                                            <p:fltVal val="0"/>
                                          </p:val>
                                        </p:tav>
                                        <p:tav tm="100000">
                                          <p:val>
                                            <p:strVal val="#ppt_w"/>
                                          </p:val>
                                        </p:tav>
                                      </p:tavLst>
                                    </p:anim>
                                    <p:anim calcmode="lin" valueType="num">
                                      <p:cBhvr>
                                        <p:cTn id="8" dur="500" fill="hold"/>
                                        <p:tgtEl>
                                          <p:spTgt spid="22"/>
                                        </p:tgtEl>
                                        <p:attrNameLst>
                                          <p:attrName>ppt_h</p:attrName>
                                        </p:attrNameLst>
                                      </p:cBhvr>
                                      <p:tavLst>
                                        <p:tav tm="0">
                                          <p:val>
                                            <p:fltVal val="0"/>
                                          </p:val>
                                        </p:tav>
                                        <p:tav tm="100000">
                                          <p:val>
                                            <p:strVal val="#ppt_h"/>
                                          </p:val>
                                        </p:tav>
                                      </p:tavLst>
                                    </p:anim>
                                    <p:animEffect transition="in" filter="fade">
                                      <p:cBhvr>
                                        <p:cTn id="9" dur="5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Hexagon 1"/>
          <p:cNvSpPr/>
          <p:nvPr/>
        </p:nvSpPr>
        <p:spPr>
          <a:xfrm>
            <a:off x="10469880"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Hexagon 2"/>
          <p:cNvSpPr/>
          <p:nvPr/>
        </p:nvSpPr>
        <p:spPr>
          <a:xfrm>
            <a:off x="10957438" y="1737360"/>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Hexagon 3"/>
          <p:cNvSpPr/>
          <p:nvPr/>
        </p:nvSpPr>
        <p:spPr>
          <a:xfrm>
            <a:off x="10713659"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Hexagon 4"/>
          <p:cNvSpPr/>
          <p:nvPr/>
        </p:nvSpPr>
        <p:spPr>
          <a:xfrm>
            <a:off x="11201217" y="2162556"/>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Hexagon 5"/>
          <p:cNvSpPr/>
          <p:nvPr/>
        </p:nvSpPr>
        <p:spPr>
          <a:xfrm>
            <a:off x="10469880"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Hexagon 6"/>
          <p:cNvSpPr/>
          <p:nvPr/>
        </p:nvSpPr>
        <p:spPr>
          <a:xfrm>
            <a:off x="10957438" y="2587752"/>
            <a:ext cx="566928" cy="566928"/>
          </a:xfrm>
          <a:prstGeom prst="hexagon">
            <a:avLst/>
          </a:prstGeom>
          <a:solidFill>
            <a:srgbClr val="EBF6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457200"/>
            <a:ext cx="10881360" cy="914400"/>
          </a:xfrm>
          <a:prstGeom prst="rect">
            <a:avLst/>
          </a:prstGeom>
          <a:noFill/>
        </p:spPr>
        <p:txBody>
          <a:bodyPr wrap="square" lIns="0" rIns="0" tIns="0" bIns="0">
            <a:spAutoFit/>
          </a:bodyPr>
          <a:lstStyle/>
          <a:p>
            <a:pPr algn="l">
              <a:spcAft>
                <a:spcPts val="0"/>
              </a:spcAft>
            </a:pPr>
            <a:r>
              <a:rPr sz="3400" b="1">
                <a:solidFill>
                  <a:srgbClr val="14141A"/>
                </a:solidFill>
                <a:latin typeface="Avenir Next"/>
              </a:rPr>
              <a:t>À retenir</a:t>
            </a:r>
          </a:p>
        </p:txBody>
      </p:sp>
      <p:sp>
        <p:nvSpPr>
          <p:cNvPr id="9" name="Rectangle 8"/>
          <p:cNvSpPr/>
          <p:nvPr/>
        </p:nvSpPr>
        <p:spPr>
          <a:xfrm>
            <a:off x="640080" y="1207008"/>
            <a:ext cx="1371600" cy="73152"/>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Hexagon 9"/>
          <p:cNvSpPr/>
          <p:nvPr/>
        </p:nvSpPr>
        <p:spPr>
          <a:xfrm>
            <a:off x="658368" y="182880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1</a:t>
            </a:r>
          </a:p>
        </p:txBody>
      </p:sp>
      <p:sp>
        <p:nvSpPr>
          <p:cNvPr id="11" name="TextBox 10"/>
          <p:cNvSpPr txBox="1"/>
          <p:nvPr/>
        </p:nvSpPr>
        <p:spPr>
          <a:xfrm>
            <a:off x="1508760" y="181051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Vos conventions, en skills</a:t>
            </a:r>
          </a:p>
        </p:txBody>
      </p:sp>
      <p:sp>
        <p:nvSpPr>
          <p:cNvPr id="12" name="TextBox 11"/>
          <p:cNvSpPr txBox="1"/>
          <p:nvPr/>
        </p:nvSpPr>
        <p:spPr>
          <a:xfrm>
            <a:off x="1508760" y="228600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Petits, composables, chargés à la demande</a:t>
            </a:r>
          </a:p>
        </p:txBody>
      </p:sp>
      <p:sp>
        <p:nvSpPr>
          <p:cNvPr id="13" name="Hexagon 12"/>
          <p:cNvSpPr/>
          <p:nvPr/>
        </p:nvSpPr>
        <p:spPr>
          <a:xfrm>
            <a:off x="658368" y="3154680"/>
            <a:ext cx="566928" cy="566928"/>
          </a:xfrm>
          <a:prstGeom prst="hexagon">
            <a:avLst/>
          </a:prstGeom>
          <a:solidFill>
            <a:srgbClr val="974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2</a:t>
            </a:r>
          </a:p>
        </p:txBody>
      </p:sp>
      <p:sp>
        <p:nvSpPr>
          <p:cNvPr id="14" name="TextBox 13"/>
          <p:cNvSpPr txBox="1"/>
          <p:nvPr/>
        </p:nvSpPr>
        <p:spPr>
          <a:xfrm>
            <a:off x="1508760" y="313639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Déclarés par projet, épinglés</a:t>
            </a:r>
          </a:p>
        </p:txBody>
      </p:sp>
      <p:sp>
        <p:nvSpPr>
          <p:cNvPr id="15" name="TextBox 14"/>
          <p:cNvSpPr txBox="1"/>
          <p:nvPr/>
        </p:nvSpPr>
        <p:spPr>
          <a:xfrm>
            <a:off x="1508760" y="361188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Un commit par source : le pollen.yaml est le lock</a:t>
            </a:r>
          </a:p>
        </p:txBody>
      </p:sp>
      <p:sp>
        <p:nvSpPr>
          <p:cNvPr id="16" name="Hexagon 15"/>
          <p:cNvSpPr/>
          <p:nvPr/>
        </p:nvSpPr>
        <p:spPr>
          <a:xfrm>
            <a:off x="658368" y="4480560"/>
            <a:ext cx="566928" cy="566928"/>
          </a:xfrm>
          <a:prstGeom prst="hexagon">
            <a:avLst/>
          </a:prstGeom>
          <a:solidFill>
            <a:srgbClr val="00B5F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spcAft>
                <a:spcPts val="0"/>
              </a:spcAft>
            </a:pPr>
            <a:r>
              <a:rPr sz="2200" b="1">
                <a:solidFill>
                  <a:srgbClr val="FFFFFF"/>
                </a:solidFill>
                <a:latin typeface="Avenir Next"/>
              </a:rPr>
              <a:t>3</a:t>
            </a:r>
          </a:p>
        </p:txBody>
      </p:sp>
      <p:sp>
        <p:nvSpPr>
          <p:cNvPr id="17" name="TextBox 16"/>
          <p:cNvSpPr txBox="1"/>
          <p:nvPr/>
        </p:nvSpPr>
        <p:spPr>
          <a:xfrm>
            <a:off x="1508760" y="4462272"/>
            <a:ext cx="9875520" cy="548640"/>
          </a:xfrm>
          <a:prstGeom prst="rect">
            <a:avLst/>
          </a:prstGeom>
          <a:noFill/>
        </p:spPr>
        <p:txBody>
          <a:bodyPr wrap="square" lIns="0" rIns="0" tIns="0" bIns="0">
            <a:spAutoFit/>
          </a:bodyPr>
          <a:lstStyle/>
          <a:p>
            <a:pPr algn="l">
              <a:spcAft>
                <a:spcPts val="0"/>
              </a:spcAft>
            </a:pPr>
            <a:r>
              <a:rPr sz="2700" b="1">
                <a:solidFill>
                  <a:srgbClr val="14141A"/>
                </a:solidFill>
                <a:latin typeface="Avenir Next"/>
              </a:rPr>
              <a:t>Gouvernés comme du code</a:t>
            </a:r>
          </a:p>
        </p:txBody>
      </p:sp>
      <p:sp>
        <p:nvSpPr>
          <p:cNvPr id="18" name="TextBox 17"/>
          <p:cNvSpPr txBox="1"/>
          <p:nvPr/>
        </p:nvSpPr>
        <p:spPr>
          <a:xfrm>
            <a:off x="1508760" y="4937760"/>
            <a:ext cx="9875520" cy="548640"/>
          </a:xfrm>
          <a:prstGeom prst="rect">
            <a:avLst/>
          </a:prstGeom>
          <a:noFill/>
        </p:spPr>
        <p:txBody>
          <a:bodyPr wrap="square" lIns="0" rIns="0" tIns="0" bIns="0">
            <a:spAutoFit/>
          </a:bodyPr>
          <a:lstStyle/>
          <a:p>
            <a:pPr algn="l">
              <a:spcAft>
                <a:spcPts val="0"/>
              </a:spcAft>
            </a:pPr>
            <a:r>
              <a:rPr sz="1800">
                <a:solidFill>
                  <a:srgbClr val="5B6372"/>
                </a:solidFill>
                <a:latin typeface="Avenir Next"/>
              </a:rPr>
              <a:t>Relecture par un pair, CI… et bientôt des evals</a:t>
            </a:r>
          </a:p>
        </p:txBody>
      </p:sp>
      <p:pic>
        <p:nvPicPr>
          <p:cNvPr id="19" name="logo.png" descr="logo.png"/>
          <p:cNvPicPr>
            <a:picLocks noChangeAspect="1"/>
          </p:cNvPicPr>
          <p:nvPr/>
        </p:nvPicPr>
        <p:blipFill>
          <a:blip r:embed="rId3"/>
          <a:stretch>
            <a:fillRect/>
          </a:stretch>
        </p:blipFill>
        <p:spPr>
          <a:xfrm>
            <a:off x="566928" y="6263640"/>
            <a:ext cx="899514" cy="274320"/>
          </a:xfrm>
          <a:prstGeom prst="rect">
            <a:avLst/>
          </a:prstGeom>
        </p:spPr>
      </p:pic>
      <p:sp>
        <p:nvSpPr>
          <p:cNvPr id="20" name="TextBox 19"/>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5B6372"/>
                </a:solidFill>
                <a:latin typeface="Avenir Next"/>
              </a:rPr>
              <a:t>Industrialiser l'IA en équipe · DevFest Toulouse   ·   29/30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141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109728"/>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bee_happy.png" descr="bee_happy.png"/>
          <p:cNvPicPr>
            <a:picLocks noChangeAspect="1"/>
          </p:cNvPicPr>
          <p:nvPr/>
        </p:nvPicPr>
        <p:blipFill>
          <a:blip r:embed="rId2"/>
          <a:stretch>
            <a:fillRect/>
          </a:stretch>
        </p:blipFill>
        <p:spPr>
          <a:xfrm>
            <a:off x="8778240" y="1645920"/>
            <a:ext cx="3081258" cy="3840480"/>
          </a:xfrm>
          <a:prstGeom prst="rect">
            <a:avLst/>
          </a:prstGeom>
        </p:spPr>
      </p:pic>
      <p:sp>
        <p:nvSpPr>
          <p:cNvPr id="5" name="TextBox 4"/>
          <p:cNvSpPr txBox="1"/>
          <p:nvPr/>
        </p:nvSpPr>
        <p:spPr>
          <a:xfrm>
            <a:off x="640080" y="2194560"/>
            <a:ext cx="7863840" cy="1280160"/>
          </a:xfrm>
          <a:prstGeom prst="rect">
            <a:avLst/>
          </a:prstGeom>
          <a:noFill/>
        </p:spPr>
        <p:txBody>
          <a:bodyPr wrap="square" lIns="0" rIns="0" tIns="0" bIns="0">
            <a:spAutoFit/>
          </a:bodyPr>
          <a:lstStyle/>
          <a:p>
            <a:pPr algn="l">
              <a:spcAft>
                <a:spcPts val="0"/>
              </a:spcAft>
            </a:pPr>
            <a:r>
              <a:rPr sz="5400" b="1">
                <a:solidFill>
                  <a:srgbClr val="FFFFFF"/>
                </a:solidFill>
                <a:latin typeface="Avenir Next"/>
              </a:rPr>
              <a:t>Pas par magie.</a:t>
            </a:r>
          </a:p>
        </p:txBody>
      </p:sp>
      <p:sp>
        <p:nvSpPr>
          <p:cNvPr id="6" name="Rectangle 5"/>
          <p:cNvSpPr/>
          <p:nvPr/>
        </p:nvSpPr>
        <p:spPr>
          <a:xfrm>
            <a:off x="640080" y="3566160"/>
            <a:ext cx="2194560" cy="91440"/>
          </a:xfrm>
          <a:prstGeom prst="rect">
            <a:avLst/>
          </a:prstGeom>
          <a:gradFill rotWithShape="1">
            <a:gsLst>
              <a:gs pos="0">
                <a:srgbClr val="00B5FB"/>
              </a:gs>
              <a:gs pos="100000">
                <a:srgbClr val="974EFF"/>
              </a:gs>
            </a:gsLst>
            <a:lin scaled="0" ang="0"/>
          </a:gra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40080" y="3931920"/>
            <a:ext cx="7498079" cy="1828800"/>
          </a:xfrm>
          <a:prstGeom prst="rect">
            <a:avLst/>
          </a:prstGeom>
          <a:noFill/>
        </p:spPr>
        <p:txBody>
          <a:bodyPr wrap="square" lIns="0" rIns="0" tIns="0" bIns="0">
            <a:spAutoFit/>
          </a:bodyPr>
          <a:lstStyle/>
          <a:p>
            <a:pPr algn="l">
              <a:spcAft>
                <a:spcPts val="1000"/>
              </a:spcAft>
            </a:pPr>
            <a:r>
              <a:rPr sz="2000">
                <a:solidFill>
                  <a:srgbClr val="C9CFDC"/>
                </a:solidFill>
                <a:latin typeface="Avenir Next"/>
              </a:rPr>
              <a:t>Parce que les règles sont là.</a:t>
            </a:r>
          </a:p>
          <a:p>
            <a:pPr algn="l">
              <a:spcAft>
                <a:spcPts val="1000"/>
              </a:spcAft>
            </a:pPr>
            <a:r>
              <a:rPr sz="2000">
                <a:solidFill>
                  <a:srgbClr val="C9CFDC"/>
                </a:solidFill>
                <a:latin typeface="Avenir Next"/>
              </a:rPr>
              <a:t>github.com/groupbees/pollen</a:t>
            </a:r>
          </a:p>
          <a:p>
            <a:pPr algn="l">
              <a:spcAft>
                <a:spcPts val="1000"/>
              </a:spcAft>
            </a:pPr>
            <a:r>
              <a:rPr sz="2000">
                <a:solidFill>
                  <a:srgbClr val="C9CFDC"/>
                </a:solidFill>
                <a:latin typeface="Avenir Next"/>
              </a:rPr>
              <a:t>Merci ! Des questions ?</a:t>
            </a:r>
          </a:p>
        </p:txBody>
      </p:sp>
      <p:pic>
        <p:nvPicPr>
          <p:cNvPr id="8" name="logo_light.png" descr="logo_light.png"/>
          <p:cNvPicPr>
            <a:picLocks noChangeAspect="1"/>
          </p:cNvPicPr>
          <p:nvPr/>
        </p:nvPicPr>
        <p:blipFill>
          <a:blip r:embed="rId4"/>
          <a:stretch>
            <a:fillRect/>
          </a:stretch>
        </p:blipFill>
        <p:spPr>
          <a:xfrm>
            <a:off x="566928" y="6263640"/>
            <a:ext cx="899514" cy="274320"/>
          </a:xfrm>
          <a:prstGeom prst="rect">
            <a:avLst/>
          </a:prstGeom>
        </p:spPr>
      </p:pic>
      <p:sp>
        <p:nvSpPr>
          <p:cNvPr id="9" name="TextBox 8"/>
          <p:cNvSpPr txBox="1"/>
          <p:nvPr/>
        </p:nvSpPr>
        <p:spPr>
          <a:xfrm>
            <a:off x="6858000" y="6291072"/>
            <a:ext cx="4754880" cy="320040"/>
          </a:xfrm>
          <a:prstGeom prst="rect">
            <a:avLst/>
          </a:prstGeom>
          <a:noFill/>
        </p:spPr>
        <p:txBody>
          <a:bodyPr wrap="square" lIns="0" rIns="0" tIns="0" bIns="0">
            <a:spAutoFit/>
          </a:bodyPr>
          <a:lstStyle/>
          <a:p>
            <a:pPr algn="r">
              <a:spcAft>
                <a:spcPts val="0"/>
              </a:spcAft>
            </a:pPr>
            <a:r>
              <a:rPr sz="1100">
                <a:solidFill>
                  <a:srgbClr val="C9CFDC"/>
                </a:solidFill>
                <a:latin typeface="Avenir Next"/>
              </a:rPr>
              <a:t>Industrialiser l'IA en équipe · DevFest Toulouse   ·   30/30</a:t>
            </a:r>
          </a:p>
        </p:txBody>
      </p:sp>
    </p:spTree>
  </p:cSld>
  <p:clrMapOvr>
    <a:masterClrMapping/>
  </p:clrMapOvr>
  <mc:AlternateContent xmlns:mc="http://schemas.openxmlformats.org/markup-compatibility/2006" xmlns:p14="http://schemas.microsoft.com/office/powerpoint/2010/main">
    <mc:Choice Requires="p14">
      <p:transition spd="med" p14:dur="1000">
        <p14:gallery dir="l"/>
      </p:transition>
    </mc:Choice>
    <mc:Fallback>
      <p:transition spd="med">
        <p:fade/>
      </p:transition>
    </mc:Fallback>
  </mc:AlternateContent>
  <p:timing xmlns:mc="http://schemas.openxmlformats.org/markup-compatibility/2006" xmlns:p14="http://schemas.microsoft.com/office/powerpoint/2010/main">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nodeType="withEffect">
                                  <p:stCondLst>
                                    <p:cond delay="0"/>
                                  </p:stCondLst>
                                  <p:childTnLst>
                                    <p:set>
                                      <p:cBhvr>
                                        <p:cTn id="6" dur="1" fill="hold">
                                          <p:stCondLst>
                                            <p:cond delay="0"/>
                                          </p:stCondLst>
                                        </p:cTn>
                                        <p:tgtEl>
                                          <p:spTgt spid="4"/>
                                        </p:tgtEl>
                                        <p:attrNameLst>
                                          <p:attrName>style.visibility</p:attrName>
                                        </p:attrNameLst>
                                      </p:cBhvr>
                                      <p:to>
                                        <p:strVal val="visible"/>
                                      </p:to>
                                    </p:set>
                                    <p:anim calcmode="lin" valueType="num">
                                      <p:cBhvr>
                                        <p:cTn id="7" dur="500" fill="hold"/>
                                        <p:tgtEl>
                                          <p:spTgt spid="4"/>
                                        </p:tgtEl>
                                        <p:attrNameLst>
                                          <p:attrName>ppt_w</p:attrName>
                                        </p:attrNameLst>
                                      </p:cBhvr>
                                      <p:tavLst>
                                        <p:tav tm="0">
                                          <p:val>
                                            <p:fltVal val="0"/>
                                          </p:val>
                                        </p:tav>
                                        <p:tav tm="100000">
                                          <p:val>
                                            <p:strVal val="#ppt_w"/>
                                          </p:val>
                                        </p:tav>
                                      </p:tavLst>
                                    </p:anim>
                                    <p:anim calcmode="lin" valueType="num">
                                      <p:cBhvr>
                                        <p:cTn id="8" dur="500" fill="hold"/>
                                        <p:tgtEl>
                                          <p:spTgt spid="4"/>
                                        </p:tgtEl>
                                        <p:attrNameLst>
                                          <p:attrName>ppt_h</p:attrName>
                                        </p:attrNameLst>
                                      </p:cBhvr>
                                      <p:tavLst>
                                        <p:tav tm="0">
                                          <p:val>
                                            <p:fltVal val="0"/>
                                          </p:val>
                                        </p:tav>
                                        <p:tav tm="100000">
                                          <p:val>
                                            <p:strVal val="#ppt_h"/>
                                          </p:val>
                                        </p:tav>
                                      </p:tavLst>
                                    </p:anim>
                                    <p:animEffect transition="in" filter="fade">
                                      <p:cBhvr>
                                        <p:cTn id="9" dur="500"/>
                                        <p:tgtEl>
                                          <p:spTgt spid="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