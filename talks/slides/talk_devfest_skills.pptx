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a:t>
            </a:r>
          </a:p>
          <a:p>
            <a:r>
              <a:t>• Générer du code avec une IA : trivial. Comme l'équipe l'attend : autre histoire.</a:t>
            </a:r>
          </a:p>
          <a:p>
            <a:r>
              <a:t>↪ Guillaume : « Et c'est cette histoire-là qu'on vient vous raconter. »</a:t>
            </a:r>
          </a:p>
          <a:p/>
          <a:p>
            <a:r>
              <a:t>────────</a:t>
            </a:r>
          </a:p>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Chacun présente l'autre</a:t>
            </a:r>
          </a:p>
          <a:p>
            <a:r>
              <a:t>• Mazlum présente Guillaume (« m'empêche de mettre en prod le vendredi »)</a:t>
            </a:r>
          </a:p>
          <a:p>
            <a:r>
              <a:t>• Guillaume présente Mazlum (« écrit les règles… et les oublie dans son Dockerfile »)</a:t>
            </a:r>
          </a:p>
          <a:p>
            <a:r>
              <a:t>↪ Mazlum : « C'est exactement le sujet du talk. »</a:t>
            </a:r>
          </a:p>
          <a:p/>
          <a:p>
            <a:r>
              <a:t>────────</a:t>
            </a:r>
          </a:p>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 10 secondes</a:t>
            </a:r>
          </a:p>
          <a:p>
            <a:r>
              <a:t>• Clin d'œil, on ne s'attarde pas : on lit le bandeau</a:t>
            </a:r>
          </a:p>
          <a:p>
            <a:r>
              <a:t>↪ Mazlum enchaîne sur le contexte GroupBees</a:t>
            </a:r>
          </a:p>
          <a:p/>
          <a:p>
            <a:r>
              <a:t>────────</a:t>
            </a:r>
          </a:p>
          <a:p>
            <a:r>
              <a:t>Clin d'œil façon Guignols de l'info, on ne s'y attarde pas : « Comment GroupBees a standardisé ses conventions avec les Agent Skills ? C'est notre sujet.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Registre d'API : producteurs publient, consommateurs découvrent, IA par-dessus</a:t>
            </a:r>
          </a:p>
          <a:p>
            <a:r>
              <a:t>• Stack exigeante : hexagonal, Terragrunt, Workload Identity, IAP</a:t>
            </a:r>
          </a:p>
          <a:p>
            <a:r>
              <a:t>↪ « Et derrière, une équipe qui n'a pas le même niveau sur tout ça. Guillaume ? »</a:t>
            </a:r>
          </a:p>
          <a:p/>
          <a:p>
            <a:r>
              <a:t>────────</a:t>
            </a:r>
          </a:p>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8 personnes : quelques seniors, un junior, un stagiaire</a:t>
            </a:r>
          </a:p>
          <a:p>
            <a:r>
              <a:t>• Grâce à Claude, tout le monde fait évoluer les stacks : la bonne nouvelle</a:t>
            </a:r>
          </a:p>
          <a:p>
            <a:r>
              <a:t>↪ Mazlum : « La mauvaise, c'est la suite. »</a:t>
            </a:r>
          </a:p>
          <a:p/>
          <a:p>
            <a:r>
              <a:t>────────</a:t>
            </a:r>
          </a:p>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Nouveau service, nouvelle stack IaC → nos conventions disparaissent</a:t>
            </a:r>
          </a:p>
          <a:p>
            <a:r>
              <a:t>• Chacun son Claude, son CLAUDE.md : l'IA ne connaît pas NOS règles</a:t>
            </a:r>
          </a:p>
          <a:p>
            <a:r>
              <a:t>↪ Guillaume : « Donc on a fait ce que tout le monde fait. »</a:t>
            </a:r>
          </a:p>
          <a:p/>
          <a:p>
            <a:r>
              <a:t>────────</a:t>
            </a:r>
          </a:p>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CLAUDE.md partagé, toutes les règles au même endroit</a:t>
            </a:r>
          </a:p>
          <a:p>
            <a:r>
              <a:t>↪ Mazlum : « Simple… pendant deux semaines. »</a:t>
            </a:r>
          </a:p>
          <a:p/>
          <a:p>
            <a:r>
              <a:t>────────</a:t>
            </a:r>
          </a:p>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(montrer le vrai fichier qui scrolle)</a:t>
            </a:r>
          </a:p>
          <a:p>
            <a:r>
              <a:t>• Chargé tout le temps : un commit relit les règles Dockerfile</a:t>
            </a:r>
          </a:p>
          <a:p>
            <a:r>
              <a:t>• Coûte des tokens, dilue l'attention</a:t>
            </a:r>
          </a:p>
          <a:p>
            <a:r>
              <a:t>↪ Mazlum : « Alors on l'a découpé. »</a:t>
            </a:r>
          </a:p>
          <a:p/>
          <a:p>
            <a:r>
              <a:t>────────</a:t>
            </a:r>
          </a:p>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skill = un CLAUDE.md modulaire, chargé à la demande</a:t>
            </a:r>
          </a:p>
          <a:p>
            <a:r>
              <a:t>• Une convention, un skill</a:t>
            </a:r>
          </a:p>
          <a:p/>
          <a:p>
            <a:r>
              <a:t>────────</a:t>
            </a:r>
          </a:p>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dossier, un SKILL.md, standard Agent Skills</a:t>
            </a:r>
          </a:p>
          <a:p>
            <a:r>
              <a:t>• La description est toujours vue ; le corps, seulement si la tâche correspond</a:t>
            </a:r>
          </a:p>
          <a:p>
            <a:r>
              <a:t>↪ Guillaume : « Et un skill, ce n'est pas que du texte. »</a:t>
            </a:r>
          </a:p>
          <a:p/>
          <a:p>
            <a:r>
              <a:t>────────</a:t>
            </a:r>
          </a:p>
          <a:p>
            <a:r>
              <a:t>Un skill = un dossier, un SKILL.md, le standard ouvert Agent Skills (agentskills.io). La description sert de déclencheur : l'agent la voit en permanence, et ne lit le corps que si la tâche matche. C'est la progressive disclosure. Lu tel quel par Claude Code, Copilot, Cursor, Codex, Antigravity CLI.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references/ : lu à la demande · assets/ : fichiers à copier · scripts/ : contrôles</a:t>
            </a:r>
          </a:p>
          <a:p>
            <a:r>
              <a:t>↪ Mazlum : « Ce qui ne veut pas dire qu'on jette le CLAUDE.md. »</a:t>
            </a:r>
          </a:p>
          <a:p/>
          <a:p>
            <a:r>
              <a:t>────────</a:t>
            </a:r>
          </a:p>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CLAUDE.md redevient le contexte durable du projet (AGENTS.md + pont d'une ligne)</a:t>
            </a:r>
          </a:p>
          <a:p>
            <a:r>
              <a:t>• Les conventions vivent dans les skills</a:t>
            </a:r>
          </a:p>
          <a:p/>
          <a:p>
            <a:r>
              <a:t>────────</a:t>
            </a:r>
          </a:p>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Docker générique + Python par-dessus, qui n'ajoute que le spécifique</a:t>
            </a:r>
          </a:p>
          <a:p>
            <a:r>
              <a:t>↪ Mazlum : « Restait à les partager dans l'équipe. »</a:t>
            </a:r>
          </a:p>
          <a:p/>
          <a:p>
            <a:r>
              <a:t>────────</a:t>
            </a:r>
          </a:p>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repo git de skills, synchronisé sur la machine de chaque dev</a:t>
            </a:r>
          </a:p>
          <a:p/>
          <a:p>
            <a:r>
              <a:t>────────</a:t>
            </a:r>
          </a:p>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Script → dossiers perso des agents ; plusieurs modules ; version = tag git</a:t>
            </a:r>
          </a:p>
          <a:p>
            <a:r>
              <a:t>↪ Mazlum : « … jusqu'à ce que je l'utilise chez un client. »</a:t>
            </a:r>
          </a:p>
          <a:p/>
          <a:p>
            <a:r>
              <a:t>────────</a:t>
            </a:r>
          </a:p>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En global, nos règles s'appliquent partout : perso, clients</a:t>
            </a:r>
          </a:p>
          <a:p>
            <a:r>
              <a:t>• On veut choisir, projet par projet</a:t>
            </a:r>
          </a:p>
          <a:p>
            <a:r>
              <a:t>↪ Guillaume : « Et choisir des skills par projet, c'est gérer des dépendances. »</a:t>
            </a:r>
          </a:p>
          <a:p/>
          <a:p>
            <a:r>
              <a:t>────────</a:t>
            </a:r>
          </a:p>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On importe les skills comme des dépendances, + les skills du projet</a:t>
            </a:r>
          </a:p>
          <a:p>
            <a:r>
              <a:t>• La factory accueillera d'autres projets que Solis</a:t>
            </a:r>
          </a:p>
          <a:p>
            <a:r>
              <a:t>↪ Mazlum : « À une condition : ne rien inventer de propriétaire. »</a:t>
            </a:r>
          </a:p>
          <a:p/>
          <a:p>
            <a:r>
              <a:t>────────</a:t>
            </a:r>
          </a:p>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Agent Skills : Claude Code, Copilot, Cursor, Codex, Antigravity CLI</a:t>
            </a:r>
          </a:p>
          <a:p>
            <a:r>
              <a:t>• AGENTS.md pour le contexte ; on change d'agent, les skills restent</a:t>
            </a:r>
          </a:p>
          <a:p>
            <a:r>
              <a:t>↪ « Il manquait l'outil pour les installer. Guillaume, raconte-leur pollen. »</a:t>
            </a:r>
          </a:p>
          <a:p/>
          <a:p>
            <a:r>
              <a:t>────────</a:t>
            </a:r>
          </a:p>
          <a:p>
            <a:r>
              <a:t>On s'appuie sur des standards ouverts, rien de propre à un outil. Un skill, c'est un dossier avec un SKILL.md : le même fichier est lu par Claude Code, Copilot, Cursor, Codex ou Antigravity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CLI open source en Rust, pollen.yaml façon pre-commit</a:t>
            </a:r>
          </a:p>
          <a:p>
            <a:r>
              <a:t>• update : installe, rafraîchit, supprime ce qu'on a retiré</a:t>
            </a:r>
          </a:p>
          <a:p/>
          <a:p>
            <a:r>
              <a:t>────────</a:t>
            </a:r>
          </a:p>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Périmètre étroit : déplace des dossiers, valide la spec</a:t>
            </a:r>
          </a:p>
          <a:p>
            <a:r>
              <a:t>• Un skill écrit à la main n'est jamais écrasé</a:t>
            </a:r>
          </a:p>
          <a:p>
            <a:r>
              <a:t>↪ Mazlum : « Et la question à chaque fois : où est le lockfile ? »</a:t>
            </a:r>
          </a:p>
          <a:p/>
          <a:p>
            <a:r>
              <a:t>────────</a:t>
            </a:r>
          </a:p>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Pas de résolveur → pas de lockfile : le SHA épinglé EST le lock</a:t>
            </a:r>
          </a:p>
          <a:p>
            <a:r>
              <a:t>• outdated → autoupdate → PR</a:t>
            </a:r>
          </a:p>
          <a:p>
            <a:r>
              <a:t>↪ Mazlum : « Et l'autre question, sous mon post LinkedIn : pourquoi pas npx skills ? »</a:t>
            </a:r>
          </a:p>
          <a:p/>
          <a:p>
            <a:r>
              <a:t>────────</a:t>
            </a:r>
          </a:p>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 Mazlum conclut</a:t>
            </a:r>
          </a:p>
          <a:p>
            <a:r>
              <a:t>• Mazlum : super outil, bien plus large, sait installer nos catalogues privés</a:t>
            </a:r>
          </a:p>
          <a:p>
            <a:r>
              <a:t>• Guillaume : avant pollen, seul outil open source trouvé, on l'a regardé</a:t>
            </a:r>
          </a:p>
          <a:p>
            <a:r>
              <a:t>• Guillaume : CLI + lock vs fichier déclaratif, sans package.json, épinglé sur une release</a:t>
            </a:r>
          </a:p>
          <a:p>
            <a:r>
              <a:t>• Mazlum : les deux installent les mêmes skills, aucun lock-in</a:t>
            </a:r>
          </a:p>
          <a:p/>
          <a:p>
            <a:r>
              <a:t>────────</a:t>
            </a:r>
          </a:p>
          <a:p>
            <a:r>
              <a:t>La question qu'on nous pose le plus. npx skills (Vercel) installe aussi nos catalogues : repos privés en SSH, GitLab, chemins locaux, structure par domaines. La différence est dans le modèle. Eux : une CLI, des add successifs, un skills-lock.json qui retient le ref (souvent un tag) et un hash du contenu ; le déclaratif existe, en expérimental, dans le package.json. Nous : un pollen.yaml façon .pre-commit-config.yaml, à la racine de n'importe quel repo, Terraform, Python ou Java, sans package.json dans un repo qui n'a rien à voir avec npm. Chaque source est épinglée sur le commit d'une release, outdated part du dernier tag, et la montée de version se relit en PR. Eux sont bien plus larges ; nous, plus stricts pour une équipe. Les deux installent les mêmes skills : aucun lock-in.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Ma vraie config : modules de l'orga (privés + publics), skill pollen, module perso</a:t>
            </a:r>
          </a:p>
          <a:p>
            <a:r>
              <a:t>• Les règles de l'équipe et les miennes se composent sans se mélanger</a:t>
            </a:r>
          </a:p>
          <a:p>
            <a:r>
              <a:t>↪ Guillaume : « Et on nous demande aussi : vous réinventez Spec Kit ? »</a:t>
            </a:r>
          </a:p>
          <a:p/>
          <a:p>
            <a:r>
              <a:t>────────</a:t>
            </a:r>
          </a:p>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Eux aussi en Agent Skills, mais ils encodent un processus (spec → plan → tâches)</a:t>
            </a:r>
          </a:p>
          <a:p>
            <a:r>
              <a:t>• Nous, des conventions techniques : ils se composent</a:t>
            </a:r>
          </a:p>
          <a:p>
            <a:r>
              <a:t>↪ Mazlum : « Assez parlé. Montrons-le. »</a:t>
            </a:r>
          </a:p>
          <a:p/>
          <a:p>
            <a:r>
              <a:t>────────</a:t>
            </a:r>
          </a:p>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Démo, on alterne (script-demo.md) · le non-pilote décide de basculer sur les filets</a:t>
            </a:r>
          </a:p>
          <a:p>
            <a:r>
              <a:t>0 · Cadrage : Mazlum parle</a:t>
            </a:r>
          </a:p>
          <a:p>
            <a:r>
              <a:t>1 · Lancer SANS : Mazlum pilote, Guillaume commente</a:t>
            </a:r>
          </a:p>
          <a:p>
            <a:r>
              <a:t>2 · pollen update + lancer AVEC : Guillaume pilote, Mazlum commente (quote-domain)</a:t>
            </a:r>
          </a:p>
          <a:p>
            <a:r>
              <a:t>3 · Sortie SANS : pip, 1 stage, GetRandomQuote, README seul (PAS « root » ni « sans auteur »)</a:t>
            </a:r>
          </a:p>
          <a:p>
            <a:r>
              <a:t>4 · Sortie AVEC : 3 couches, UseCase, uv multi-stage, AGENTS.md, ?lang=fr</a:t>
            </a:r>
          </a:p>
          <a:p>
            <a:r>
              <a:t>5 · Delta : ping-pong → « Les règles sont là. »</a:t>
            </a:r>
          </a:p>
          <a:p>
            <a:r>
              <a:t>6 · Release dans le navigateur : Mazlum pilote, Guillaume commente</a:t>
            </a:r>
          </a:p>
          <a:p>
            <a:r>
              <a:t>↪ Guillaume : « Une bibliothèque de skills, ça se gouverne. »</a:t>
            </a:r>
          </a:p>
          <a:p/>
          <a:p>
            <a:r>
              <a:t>────────</a:t>
            </a:r>
          </a:p>
          <a:p>
            <a:r>
              <a:t>Session vierge = terminal gauche : claude --safe-mode --disable-slash-commands (ni CLAUDE.md, ni skills, même les built-in). Le moment clé, c'est le contraste. Ce ne sont pas les talents de l'IA qui font la différence, ce sont les règles. Pas de déploiement en live : une vraie release déjà publiée, dans le navigateur. Filets : sorties pré-capturées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Skills = code : versionnés, relus en PR, blast radius énorme</a:t>
            </a:r>
          </a:p>
          <a:p>
            <a:r>
              <a:t>• Transverses : Guillaume et moi · Domaine : ceux qui le connaissent · « On est huit, pas Google »</a:t>
            </a:r>
          </a:p>
          <a:p>
            <a:r>
              <a:t>↪ Guillaume : « Et même relu, un skill finit par vieillir. »</a:t>
            </a:r>
          </a:p>
          <a:p/>
          <a:p>
            <a:r>
              <a:t>────────</a:t>
            </a:r>
          </a:p>
          <a:p>
            <a:r>
              <a:t>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Mazlum, Guillaume</a:t>
            </a:r>
          </a:p>
          <a:p>
            <a:r>
              <a:t>• Une règle périmée n'échoue pas : elle apprend le mauvais pattern (run-all → run --all)</a:t>
            </a:r>
          </a:p>
          <a:p>
            <a:r>
              <a:t>• Mazlum : le factuel, un agent le repère ; « encore notre convention ? » reste humain</a:t>
            </a:r>
          </a:p>
          <a:p>
            <a:r>
              <a:t>• Guillaume : une règle qui peut devenir un check en devient un</a:t>
            </a:r>
          </a:p>
          <a:p/>
          <a:p>
            <a:r>
              <a:t>────────</a:t>
            </a:r>
          </a:p>
          <a:p>
            <a:r>
              <a:t>Le vrai risque d'une lib de skills, c'est la règle périmée : elle ne casse rien, elle apprend en silence le mauvais pattern à l'agent. Ce qui pourrit, c'est le volatil : flags, versions, commandes. On l'isole du durable. War story : un skill Terragrunt référençait run-all, remplacé par run --all. Péremption factuelle, parfaite pour un scan IA. La péremption de jugement — est-ce encore notre convention ? — reste humaine, en revue. Quand une règle est mécanique, on en fait un check qui casse fort : le hook commit-msg qui refuse les co-auteurs IA, skill-validator sur chaque skill en CI. Ce qu'on n'a pas encore : des evals, un prompt de référence rejoué avec le skill pour prouver qu'il produit toujours le bon résultat. C'est notre démo avec et sans skills, automatisée. On va commencer par quelques skills mécaniques, Docker et commits.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skill-validator : spec, liens, orphelins, taille</a:t>
            </a:r>
          </a:p>
          <a:p>
            <a:r>
              <a:t>• Workflow partagé épinglé par SHA, Dependabot</a:t>
            </a:r>
          </a:p>
          <a:p>
            <a:r>
              <a:t>↪ Mazlum : « Et on a appris une chose en route. »</a:t>
            </a:r>
          </a:p>
          <a:p/>
          <a:p>
            <a:r>
              <a:t>────────</a:t>
            </a:r>
          </a:p>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1re montée de version de pollen : 13 fichiers à retoucher</a:t>
            </a:r>
          </a:p>
          <a:p>
            <a:r>
              <a:t>• Désormais, la connaissance de pollen est un skill livré avec pollen</a:t>
            </a:r>
          </a:p>
          <a:p>
            <a:r>
              <a:t>↪ Guillaume : « Et pour aller plus loin, on a regardé chez les gros. »</a:t>
            </a:r>
          </a:p>
          <a:p/>
          <a:p>
            <a:r>
              <a:t>────────</a:t>
            </a:r>
          </a:p>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 Skills are products, not snippets » ; evals obligatoires et hebdo, multi-agents</a:t>
            </a:r>
          </a:p>
          <a:p>
            <a:r>
              <a:t>• Notre prochaine marche : les evals</a:t>
            </a:r>
          </a:p>
          <a:p>
            <a:r>
              <a:t>• Adaptez la gouvernance à votre taille, mais gardez-en une</a:t>
            </a:r>
          </a:p>
          <a:p/>
          <a:p>
            <a:r>
              <a:t>────────</a:t>
            </a:r>
          </a:p>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 point chacun</a:t>
            </a:r>
          </a:p>
          <a:p>
            <a:r>
              <a:t>• Mazlum : conventions dans des skills, pas un CLAUDE.md géant</a:t>
            </a:r>
          </a:p>
          <a:p>
            <a:r>
              <a:t>• Guillaume : skills par projet, épinglés comme des dépendances</a:t>
            </a:r>
          </a:p>
          <a:p>
            <a:r>
              <a:t>• Mazlum : gouvernés comme du code · Guillaume : « relecture, CI… et bientôt des evals »</a:t>
            </a:r>
          </a:p>
          <a:p/>
          <a:p>
            <a:r>
              <a:t>────────</a:t>
            </a:r>
          </a:p>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ou Guillaume (à répartir)</a:t>
            </a:r>
          </a:p>
          <a:p>
            <a:r>
              <a:t>• « De quoi l'essayer ce soir : pollen, et un catalogue public rangé par domaines »</a:t>
            </a:r>
          </a:p>
          <a:p>
            <a:r>
              <a:t>• Le pollen.yaml du README marche tel quel · laisser 10 s pour scanner</a:t>
            </a:r>
          </a:p>
          <a:p>
            <a:r>
              <a:t>• Aux questions, revenir ici si on demande un lien</a:t>
            </a:r>
          </a:p>
          <a:p/>
          <a:p>
            <a:r>
              <a:t>────────</a:t>
            </a:r>
          </a:p>
          <a:p>
            <a:r>
              <a:t>De quoi l'essayer ce soir. pollen, et un catalogue public rangé par domaines, comme celui de la démo : le pollen.yaml du README marche tel quel.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a:t>
            </a:r>
          </a:p>
          <a:p>
            <a:r>
              <a:t>• Mazlum : « Ce n'est pas par magie que l'IA a codé comme nous. »</a:t>
            </a:r>
          </a:p>
          <a:p>
            <a:r>
              <a:t>• Guillaume : « C'est parce que les règles sont là. »</a:t>
            </a:r>
          </a:p>
          <a:p>
            <a:r>
              <a:t>• Mazlum : « Merci ! On prend vos questions. »</a:t>
            </a:r>
          </a:p>
          <a:p/>
          <a:p>
            <a:r>
              <a:t>────────</a:t>
            </a:r>
          </a:p>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3.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32.xml"/><Relationship Id="rId5"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3.xml"/><Relationship Id="rId5"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pic>
        <p:nvPicPr>
          <p:cNvPr id="17" name="badge_psg.png" descr="badge_psg.png"/>
          <p:cNvPicPr>
            <a:picLocks noChangeAspect="1"/>
          </p:cNvPicPr>
          <p:nvPr/>
        </p:nvPicPr>
        <p:blipFill>
          <a:blip r:embed="rId5"/>
          <a:stretch>
            <a:fillRect/>
          </a:stretch>
        </p:blipFill>
        <p:spPr>
          <a:xfrm rot="720000">
            <a:off x="5246371" y="1339597"/>
            <a:ext cx="866508" cy="868680"/>
          </a:xfrm>
          <a:prstGeom prst="rect">
            <a:avLst/>
          </a:prstGeom>
        </p:spPr>
      </p:pic>
      <p:sp>
        <p:nvSpPr>
          <p:cNvPr id="18" name="Rounded Rectangle 17"/>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uillaume.png"/>
          <p:cNvPicPr>
            <a:picLocks noChangeAspect="1"/>
          </p:cNvPicPr>
          <p:nvPr/>
        </p:nvPicPr>
        <p:blipFill>
          <a:blip r:embed="rId6"/>
          <a:stretch>
            <a:fillRect/>
          </a:stretch>
        </p:blipFill>
        <p:spPr>
          <a:xfrm>
            <a:off x="6629400" y="2011680"/>
            <a:ext cx="1737360" cy="1737360"/>
          </a:xfrm>
          <a:prstGeom prst="ellipse">
            <a:avLst/>
          </a:prstGeom>
        </p:spPr>
      </p:pic>
      <p:sp>
        <p:nvSpPr>
          <p:cNvPr id="22" name="TextBox 21"/>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3" name="Hexagon 22"/>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5" name="Hexagon 24"/>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7" name="Hexagon 26"/>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9" name="bee_cool.png" descr="bee_cool.png"/>
          <p:cNvPicPr>
            <a:picLocks noChangeAspect="1"/>
          </p:cNvPicPr>
          <p:nvPr/>
        </p:nvPicPr>
        <p:blipFill>
          <a:blip r:embed="rId8"/>
          <a:stretch>
            <a:fillRect/>
          </a:stretch>
        </p:blipFill>
        <p:spPr>
          <a:xfrm rot="480000">
            <a:off x="10744200" y="228600"/>
            <a:ext cx="997857" cy="1005840"/>
          </a:xfrm>
          <a:prstGeom prst="rect">
            <a:avLst/>
          </a:prstGeom>
        </p:spPr>
      </p:pic>
      <p:pic>
        <p:nvPicPr>
          <p:cNvPr id="30" name="bee_grad.png" descr="bee_grad.png"/>
          <p:cNvPicPr>
            <a:picLocks noChangeAspect="1"/>
          </p:cNvPicPr>
          <p:nvPr/>
        </p:nvPicPr>
        <p:blipFill>
          <a:blip r:embed="rId9"/>
          <a:stretch>
            <a:fillRect/>
          </a:stretch>
        </p:blipFill>
        <p:spPr>
          <a:xfrm rot="21240000">
            <a:off x="10607040" y="4663440"/>
            <a:ext cx="840441" cy="1143000"/>
          </a:xfrm>
          <a:prstGeom prst="rect">
            <a:avLst/>
          </a:prstGeom>
        </p:spPr>
      </p:pic>
      <p:pic>
        <p:nvPicPr>
          <p:cNvPr id="31" name="logo.png" descr="logo.png"/>
          <p:cNvPicPr>
            <a:picLocks noChangeAspect="1"/>
          </p:cNvPicPr>
          <p:nvPr/>
        </p:nvPicPr>
        <p:blipFill>
          <a:blip r:embed="rId10"/>
          <a:stretch>
            <a:fillRect/>
          </a:stretch>
        </p:blipFill>
        <p:spPr>
          <a:xfrm>
            <a:off x="566928" y="6263640"/>
            <a:ext cx="899514" cy="274320"/>
          </a:xfrm>
          <a:prstGeom prst="rect">
            <a:avLst/>
          </a:prstGeom>
        </p:spPr>
      </p:pic>
      <p:sp>
        <p:nvSpPr>
          <p:cNvPr id="32" name="TextBox 3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animEffect transition="in" filter="fade">
                                      <p:cBhvr>
                                        <p:cTn id="9" dur="500"/>
                                        <p:tgtEl>
                                          <p:spTgt spid="29"/>
                                        </p:tgtEl>
                                      </p:cBhvr>
                                    </p:animEffect>
                                  </p:childTnLst>
                                </p:cTn>
                              </p:par>
                              <p:par>
                                <p:cTn id="10" presetID="53" presetClass="entr" presetSubtype="16" fill="hold" nodeType="withEffect">
                                  <p:stCondLst>
                                    <p:cond delay="0"/>
                                  </p:stCondLst>
                                  <p:childTnLst>
                                    <p:set>
                                      <p:cBhvr>
                                        <p:cTn id="11" dur="1" fill="hold">
                                          <p:stCondLst>
                                            <p:cond delay="0"/>
                                          </p:stCondLst>
                                        </p:cTn>
                                        <p:tgtEl>
                                          <p:spTgt spid="30"/>
                                        </p:tgtEl>
                                        <p:attrNameLst>
                                          <p:attrName>style.visibility</p:attrName>
                                        </p:attrNameLst>
                                      </p:cBhvr>
                                      <p:to>
                                        <p:strVal val="visible"/>
                                      </p:to>
                                    </p:set>
                                    <p:anim calcmode="lin" valueType="num">
                                      <p:cBhvr>
                                        <p:cTn id="12" dur="500" fill="hold"/>
                                        <p:tgtEl>
                                          <p:spTgt spid="30"/>
                                        </p:tgtEl>
                                        <p:attrNameLst>
                                          <p:attrName>ppt_w</p:attrName>
                                        </p:attrNameLst>
                                      </p:cBhvr>
                                      <p:tavLst>
                                        <p:tav tm="0">
                                          <p:val>
                                            <p:fltVal val="0"/>
                                          </p:val>
                                        </p:tav>
                                        <p:tav tm="100000">
                                          <p:val>
                                            <p:strVal val="#ppt_w"/>
                                          </p:val>
                                        </p:tav>
                                      </p:tavLst>
                                    </p:anim>
                                    <p:anim calcmode="lin" valueType="num">
                                      <p:cBhvr>
                                        <p:cTn id="13" dur="500" fill="hold"/>
                                        <p:tgtEl>
                                          <p:spTgt spid="30"/>
                                        </p:tgtEl>
                                        <p:attrNameLst>
                                          <p:attrName>ppt_h</p:attrName>
                                        </p:attrNameLst>
                                      </p:cBhvr>
                                      <p:tavLst>
                                        <p:tav tm="0">
                                          <p:val>
                                            <p:fltVal val="0"/>
                                          </p:val>
                                        </p:tav>
                                        <p:tav tm="100000">
                                          <p:val>
                                            <p:strVal val="#ppt_h"/>
                                          </p:val>
                                        </p:tav>
                                      </p:tavLst>
                                    </p:anim>
                                    <p:animEffect transition="in" filter="fade">
                                      <p:cBhvr>
                                        <p:cTn id="1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En direct du TechCast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jt_satirique.jpg"/>
          <p:cNvPicPr>
            <a:picLocks noChangeAspect="1"/>
          </p:cNvPicPr>
          <p:nvPr/>
        </p:nvPicPr>
        <p:blipFill>
          <a:blip r:embed="rId2"/>
          <a:stretch>
            <a:fillRect/>
          </a:stretch>
        </p:blipFill>
        <p:spPr>
          <a:xfrm>
            <a:off x="2079409" y="1508760"/>
            <a:ext cx="8032876" cy="4480560"/>
          </a:xfrm>
          <a:prstGeom prst="rect">
            <a:avLst/>
          </a:prstGeom>
        </p:spPr>
      </p:pic>
      <p:pic>
        <p:nvPicPr>
          <p:cNvPr id="5"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6" name="TextBox 5"/>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Antigravity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npx skills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npx skills (Vercel)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CLI + un lockfile</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Épingle un ref (tag) + un hash</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Node ; déclaratif en expérimental</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Très large : skills.sh, 75+ agents</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pollen</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pollen.yaml déclaratif</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Épingle le commit d'une release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binaire, neutre côté langage</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outdated / autoupdate, validate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standard Agent Skills dessous : les deux se composent.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uv, hexagonal, Dockerfile, tests, CI, AGENTS.md</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Le delta, puis une vraie release : tag, PR labellisées, notes</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24/32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Quand un skill périme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Séparer le durable (archi) du volatil (flags, versions)</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L'agent se trompe : on corrige le skill, pas que le code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règle qui peut devenir un check le devient</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Scan IA : bon sur le factuel, le jugement reste humain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Prochaine marche : des evals, pas encore en place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règle périmée n'échoue pas : elle enseigne le mauvais pattern.</a:t>
            </a:r>
          </a:p>
        </p:txBody>
      </p:sp>
      <p:pic>
        <p:nvPicPr>
          <p:cNvPr id="22" name="bee_grad.png" descr="bee_grad.png"/>
          <p:cNvPicPr>
            <a:picLocks noChangeAspect="1"/>
          </p:cNvPicPr>
          <p:nvPr/>
        </p:nvPicPr>
        <p:blipFill>
          <a:blip r:embed="rId3"/>
          <a:stretch>
            <a:fillRect/>
          </a:stretch>
        </p:blipFill>
        <p:spPr>
          <a:xfrm rot="2124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28/32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Comment fait Google ?</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29/32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30/32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FFFFFF"/>
                </a:solidFill>
                <a:latin typeface="Avenir Next"/>
              </a:rPr>
              <a:t>Essayez-le</a:t>
            </a:r>
          </a:p>
        </p:txBody>
      </p:sp>
      <p:sp>
        <p:nvSpPr>
          <p:cNvPr id="5" name="Rectangle 4"/>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602839" y="1581912"/>
            <a:ext cx="2596896" cy="2596896"/>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qr_pollen.png" descr="qr_pollen.png"/>
          <p:cNvPicPr>
            <a:picLocks noChangeAspect="1"/>
          </p:cNvPicPr>
          <p:nvPr/>
        </p:nvPicPr>
        <p:blipFill>
          <a:blip r:embed="rId2"/>
          <a:stretch>
            <a:fillRect/>
          </a:stretch>
        </p:blipFill>
        <p:spPr>
          <a:xfrm>
            <a:off x="2712567" y="1691640"/>
            <a:ext cx="2377440" cy="2377440"/>
          </a:xfrm>
          <a:prstGeom prst="rect">
            <a:avLst/>
          </a:prstGeom>
        </p:spPr>
      </p:pic>
      <p:sp>
        <p:nvSpPr>
          <p:cNvPr id="8" name="TextBox 7"/>
          <p:cNvSpPr txBox="1"/>
          <p:nvPr/>
        </p:nvSpPr>
        <p:spPr>
          <a:xfrm>
            <a:off x="2255367" y="4233672"/>
            <a:ext cx="3291840" cy="731520"/>
          </a:xfrm>
          <a:prstGeom prst="rect">
            <a:avLst/>
          </a:prstGeom>
          <a:noFill/>
        </p:spPr>
        <p:txBody>
          <a:bodyPr wrap="square" lIns="0" rIns="0" tIns="0" bIns="0">
            <a:spAutoFit/>
          </a:bodyPr>
          <a:lstStyle/>
          <a:p>
            <a:pPr algn="ctr">
              <a:spcAft>
                <a:spcPts val="0"/>
              </a:spcAft>
            </a:pPr>
            <a:r>
              <a:rPr sz="2200">
                <a:solidFill>
                  <a:srgbClr val="C9CFDC"/>
                </a:solidFill>
                <a:latin typeface="Avenir Next"/>
              </a:rPr>
              <a:t>pollen</a:t>
            </a:r>
          </a:p>
          <a:p>
            <a:pPr algn="ctr">
              <a:spcAft>
                <a:spcPts val="0"/>
              </a:spcAft>
            </a:pPr>
            <a:r>
              <a:rPr sz="1800">
                <a:solidFill>
                  <a:srgbClr val="00B5FB"/>
                </a:solidFill>
                <a:latin typeface="Avenir Next"/>
              </a:rPr>
              <a:t>github.com/groupbees/pollen</a:t>
            </a:r>
          </a:p>
        </p:txBody>
      </p:sp>
      <p:sp>
        <p:nvSpPr>
          <p:cNvPr id="9" name="Rounded Rectangle 8"/>
          <p:cNvSpPr/>
          <p:nvPr/>
        </p:nvSpPr>
        <p:spPr>
          <a:xfrm>
            <a:off x="6991959" y="1581912"/>
            <a:ext cx="2596896" cy="2596896"/>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qr_skills_gitlab.png" descr="qr_skills_gitlab.png"/>
          <p:cNvPicPr>
            <a:picLocks noChangeAspect="1"/>
          </p:cNvPicPr>
          <p:nvPr/>
        </p:nvPicPr>
        <p:blipFill>
          <a:blip r:embed="rId3"/>
          <a:stretch>
            <a:fillRect/>
          </a:stretch>
        </p:blipFill>
        <p:spPr>
          <a:xfrm>
            <a:off x="7101687" y="1691640"/>
            <a:ext cx="2377440" cy="2377440"/>
          </a:xfrm>
          <a:prstGeom prst="rect">
            <a:avLst/>
          </a:prstGeom>
        </p:spPr>
      </p:pic>
      <p:sp>
        <p:nvSpPr>
          <p:cNvPr id="11" name="TextBox 10"/>
          <p:cNvSpPr txBox="1"/>
          <p:nvPr/>
        </p:nvSpPr>
        <p:spPr>
          <a:xfrm>
            <a:off x="6644487" y="4233672"/>
            <a:ext cx="3291840" cy="731520"/>
          </a:xfrm>
          <a:prstGeom prst="rect">
            <a:avLst/>
          </a:prstGeom>
          <a:noFill/>
        </p:spPr>
        <p:txBody>
          <a:bodyPr wrap="square" lIns="0" rIns="0" tIns="0" bIns="0">
            <a:spAutoFit/>
          </a:bodyPr>
          <a:lstStyle/>
          <a:p>
            <a:pPr algn="ctr">
              <a:spcAft>
                <a:spcPts val="0"/>
              </a:spcAft>
            </a:pPr>
            <a:r>
              <a:rPr sz="2200">
                <a:solidFill>
                  <a:srgbClr val="C9CFDC"/>
                </a:solidFill>
                <a:latin typeface="Avenir Next"/>
              </a:rPr>
              <a:t>Un catalogue d'exemple</a:t>
            </a:r>
          </a:p>
          <a:p>
            <a:pPr algn="ctr">
              <a:spcAft>
                <a:spcPts val="0"/>
              </a:spcAft>
            </a:pPr>
            <a:r>
              <a:rPr sz="1800">
                <a:solidFill>
                  <a:srgbClr val="00B5FB"/>
                </a:solidFill>
                <a:latin typeface="Avenir Next"/>
              </a:rPr>
              <a:t>github.com/groupbees/skills-gitlab</a:t>
            </a:r>
          </a:p>
        </p:txBody>
      </p:sp>
      <p:sp>
        <p:nvSpPr>
          <p:cNvPr id="12" name="TextBox 11"/>
          <p:cNvSpPr txBox="1"/>
          <p:nvPr/>
        </p:nvSpPr>
        <p:spPr>
          <a:xfrm>
            <a:off x="640080" y="5532120"/>
            <a:ext cx="10881360" cy="457200"/>
          </a:xfrm>
          <a:prstGeom prst="rect">
            <a:avLst/>
          </a:prstGeom>
          <a:noFill/>
        </p:spPr>
        <p:txBody>
          <a:bodyPr wrap="square" lIns="0" rIns="0" tIns="0" bIns="0">
            <a:spAutoFit/>
          </a:bodyPr>
          <a:lstStyle/>
          <a:p>
            <a:pPr algn="ctr">
              <a:spcAft>
                <a:spcPts val="0"/>
              </a:spcAft>
            </a:pPr>
            <a:r>
              <a:rPr sz="1800">
                <a:solidFill>
                  <a:srgbClr val="FFFFFF"/>
                </a:solidFill>
                <a:latin typeface="Consolas"/>
              </a:rPr>
              <a:t>brew install groupbees/tap/pollen  ·  pip install pollen-skills</a:t>
            </a:r>
          </a:p>
        </p:txBody>
      </p:sp>
      <p:pic>
        <p:nvPicPr>
          <p:cNvPr id="13" name="logo_light.png" descr="logo_light.png"/>
          <p:cNvPicPr>
            <a:picLocks noChangeAspect="1"/>
          </p:cNvPicPr>
          <p:nvPr/>
        </p:nvPicPr>
        <p:blipFill>
          <a:blip r:embed="rId5"/>
          <a:stretch>
            <a:fillRect/>
          </a:stretch>
        </p:blipFill>
        <p:spPr>
          <a:xfrm>
            <a:off x="566928" y="6263640"/>
            <a:ext cx="899514" cy="274320"/>
          </a:xfrm>
          <a:prstGeom prst="rect">
            <a:avLst/>
          </a:prstGeom>
        </p:spPr>
      </p:pic>
      <p:sp>
        <p:nvSpPr>
          <p:cNvPr id="14" name="TextBox 1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31/32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462772" y="2084832"/>
            <a:ext cx="1591056" cy="1591056"/>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qr_linkedin_mazlum.png" descr="qr_linkedin_mazlum.png"/>
          <p:cNvPicPr>
            <a:picLocks noChangeAspect="1"/>
          </p:cNvPicPr>
          <p:nvPr/>
        </p:nvPicPr>
        <p:blipFill>
          <a:blip r:embed="rId2"/>
          <a:stretch>
            <a:fillRect/>
          </a:stretch>
        </p:blipFill>
        <p:spPr>
          <a:xfrm>
            <a:off x="8572500" y="2194560"/>
            <a:ext cx="1371600" cy="1371600"/>
          </a:xfrm>
          <a:prstGeom prst="rect">
            <a:avLst/>
          </a:prstGeom>
        </p:spPr>
      </p:pic>
      <p:sp>
        <p:nvSpPr>
          <p:cNvPr id="6" name="TextBox 5"/>
          <p:cNvSpPr txBox="1"/>
          <p:nvPr/>
        </p:nvSpPr>
        <p:spPr>
          <a:xfrm>
            <a:off x="8115300" y="3730752"/>
            <a:ext cx="2286000" cy="731520"/>
          </a:xfrm>
          <a:prstGeom prst="rect">
            <a:avLst/>
          </a:prstGeom>
          <a:noFill/>
        </p:spPr>
        <p:txBody>
          <a:bodyPr wrap="square" lIns="0" rIns="0" tIns="0" bIns="0">
            <a:spAutoFit/>
          </a:bodyPr>
          <a:lstStyle/>
          <a:p>
            <a:pPr algn="ctr">
              <a:spcAft>
                <a:spcPts val="0"/>
              </a:spcAft>
            </a:pPr>
            <a:r>
              <a:rPr sz="1300">
                <a:solidFill>
                  <a:srgbClr val="C9CFDC"/>
                </a:solidFill>
                <a:latin typeface="Avenir Next"/>
              </a:rPr>
              <a:t>Mazlum · LinkedIn</a:t>
            </a:r>
          </a:p>
        </p:txBody>
      </p:sp>
      <p:sp>
        <p:nvSpPr>
          <p:cNvPr id="7" name="Rounded Rectangle 6"/>
          <p:cNvSpPr/>
          <p:nvPr/>
        </p:nvSpPr>
        <p:spPr>
          <a:xfrm>
            <a:off x="10245852" y="2084832"/>
            <a:ext cx="1591056" cy="1591056"/>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qr_linkedin_guillaume.png" descr="qr_linkedin_guillaume.png"/>
          <p:cNvPicPr>
            <a:picLocks noChangeAspect="1"/>
          </p:cNvPicPr>
          <p:nvPr/>
        </p:nvPicPr>
        <p:blipFill>
          <a:blip r:embed="rId3"/>
          <a:stretch>
            <a:fillRect/>
          </a:stretch>
        </p:blipFill>
        <p:spPr>
          <a:xfrm>
            <a:off x="10355580" y="2194560"/>
            <a:ext cx="1371600" cy="1371600"/>
          </a:xfrm>
          <a:prstGeom prst="rect">
            <a:avLst/>
          </a:prstGeom>
        </p:spPr>
      </p:pic>
      <p:sp>
        <p:nvSpPr>
          <p:cNvPr id="9" name="TextBox 8"/>
          <p:cNvSpPr txBox="1"/>
          <p:nvPr/>
        </p:nvSpPr>
        <p:spPr>
          <a:xfrm>
            <a:off x="9898380" y="3730752"/>
            <a:ext cx="2286000" cy="731520"/>
          </a:xfrm>
          <a:prstGeom prst="rect">
            <a:avLst/>
          </a:prstGeom>
          <a:noFill/>
        </p:spPr>
        <p:txBody>
          <a:bodyPr wrap="square" lIns="0" rIns="0" tIns="0" bIns="0">
            <a:spAutoFit/>
          </a:bodyPr>
          <a:lstStyle/>
          <a:p>
            <a:pPr algn="ctr">
              <a:spcAft>
                <a:spcPts val="0"/>
              </a:spcAft>
            </a:pPr>
            <a:r>
              <a:rPr sz="1300">
                <a:solidFill>
                  <a:srgbClr val="C9CFDC"/>
                </a:solidFill>
                <a:latin typeface="Avenir Next"/>
              </a:rPr>
              <a:t>Guillaume · LinkedIn</a:t>
            </a:r>
          </a:p>
        </p:txBody>
      </p:sp>
      <p:sp>
        <p:nvSpPr>
          <p:cNvPr id="10" name="TextBox 9"/>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11" name="Rectangle 10"/>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Merci ! Des questions ?</a:t>
            </a:r>
          </a:p>
        </p:txBody>
      </p:sp>
      <p:pic>
        <p:nvPicPr>
          <p:cNvPr id="13" name="logo_light.png" descr="logo_light.png"/>
          <p:cNvPicPr>
            <a:picLocks noChangeAspect="1"/>
          </p:cNvPicPr>
          <p:nvPr/>
        </p:nvPicPr>
        <p:blipFill>
          <a:blip r:embed="rId5"/>
          <a:stretch>
            <a:fillRect/>
          </a:stretch>
        </p:blipFill>
        <p:spPr>
          <a:xfrm>
            <a:off x="566928" y="6263640"/>
            <a:ext cx="899514" cy="274320"/>
          </a:xfrm>
          <a:prstGeom prst="rect">
            <a:avLst/>
          </a:prstGeom>
        </p:spPr>
      </p:pic>
      <p:sp>
        <p:nvSpPr>
          <p:cNvPr id="14" name="TextBox 1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32/32</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