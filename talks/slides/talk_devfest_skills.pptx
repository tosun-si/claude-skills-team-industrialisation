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 puis Guillaume</a:t>
            </a:r>
          </a:p>
          <a:p>
            <a:r>
              <a:t>• Générer du code avec une IA : trivial. Comme l'équipe l'attend : autre histoire.</a:t>
            </a:r>
          </a:p>
          <a:p>
            <a:r>
              <a:t>↪ Guillaume : « Et c'est cette histoire-là qu'on vient vous raconter. »</a:t>
            </a:r>
          </a:p>
          <a:p/>
          <a:p>
            <a:r>
              <a:t>────────</a:t>
            </a:r>
          </a:p>
          <a:p>
            <a:r>
              <a:t>Bonjour à tous ! Générer du code avec une IA, aujourd'hui, c'est trivial. Le générer comme votre équipe l'attend, c'est une autre histoire. On va vous raconter comment on s'y est pris chez GroupBees.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Chacun présente l'autre</a:t>
            </a:r>
          </a:p>
          <a:p>
            <a:r>
              <a:t>• Mazlum présente Guillaume (« m'empêche de mettre en prod le vendredi »)</a:t>
            </a:r>
          </a:p>
          <a:p>
            <a:r>
              <a:t>• Guillaume présente Mazlum (« écrit les règles… et les oublie dans son Dockerfile »)</a:t>
            </a:r>
          </a:p>
          <a:p>
            <a:r>
              <a:t>↪ Mazlum : « C'est exactement le sujet du talk. »</a:t>
            </a:r>
          </a:p>
          <a:p/>
          <a:p>
            <a:r>
              <a:t>────────</a:t>
            </a:r>
          </a:p>
          <a:p>
            <a:r>
              <a:t>Mazlum : Head of Data chez GroupBees, GDE Cloud et Docker Captain. Guillaume : Platform Engineer &amp; SRE chez GroupBees, fondateur de THEREALM, et formateur à EPITECH et Polytech.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Les deux, 10 secondes</a:t>
            </a:r>
          </a:p>
          <a:p>
            <a:r>
              <a:t>• Clin d'œil, on ne s'attarde pas : on lit le bandeau</a:t>
            </a:r>
          </a:p>
          <a:p>
            <a:r>
              <a:t>↪ Mazlum enchaîne sur le contexte GroupBees</a:t>
            </a:r>
          </a:p>
          <a:p/>
          <a:p>
            <a:r>
              <a:t>────────</a:t>
            </a:r>
          </a:p>
          <a:p>
            <a:r>
              <a:t>Clin d'œil façon Guignols de l'info, on ne s'y attarde pas : « Comment GroupBees a standardisé ses conventions avec les Agent Skills ? C'est notre sujet.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a:t>
            </a:r>
          </a:p>
          <a:p>
            <a:r>
              <a:t>• Registre d'API : producteurs publient, consommateurs découvrent, IA par-dessus</a:t>
            </a:r>
          </a:p>
          <a:p>
            <a:r>
              <a:t>• Stack exigeante : hexagonal, Terragrunt, Workload Identity, IAP</a:t>
            </a:r>
          </a:p>
          <a:p>
            <a:r>
              <a:t>↪ « Et derrière, une équipe qui n'a pas le même niveau sur tout ça. Guillaume ? »</a:t>
            </a:r>
          </a:p>
          <a:p/>
          <a:p>
            <a:r>
              <a:t>────────</a:t>
            </a:r>
          </a:p>
          <a:p>
            <a:r>
              <a:t>TODO : préciser en une phrase ce que l'IA génère sur la plateforme. L'idée : poser une stack moderne mais exigeante — hexagonal, Terragrunt, WIF, IAP. Pas triviale pour tout le monde.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Guillaume</a:t>
            </a:r>
          </a:p>
          <a:p>
            <a:r>
              <a:t>• 8 personnes : quelques seniors, un junior, un stagiaire</a:t>
            </a:r>
          </a:p>
          <a:p>
            <a:r>
              <a:t>• Grâce à Claude, tout le monde fait évoluer les stacks : la bonne nouvelle</a:t>
            </a:r>
          </a:p>
          <a:p>
            <a:r>
              <a:t>↪ Mazlum : « La mauvaise, c'est la suite. »</a:t>
            </a:r>
          </a:p>
          <a:p/>
          <a:p>
            <a:r>
              <a:t>────────</a:t>
            </a:r>
          </a:p>
          <a:p>
            <a:r>
              <a:t>Les seniors ont généré le premier backend, les fondations cloud et l'IaC — et, plus tard, les premiers skills transverses. Avec leur Claude, les autres ont réussi à faire évoluer ces stacks — c'est le côté positif.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a:t>
            </a:r>
          </a:p>
          <a:p>
            <a:r>
              <a:t>• Nouveau service, nouvelle stack IaC → nos conventions disparaissent</a:t>
            </a:r>
          </a:p>
          <a:p>
            <a:r>
              <a:t>• Chacun son Claude, son CLAUDE.md : l'IA ne connaît pas NOS règles</a:t>
            </a:r>
          </a:p>
          <a:p>
            <a:r>
              <a:t>↪ Guillaume : « Donc on a fait ce que tout le monde fait. »</a:t>
            </a:r>
          </a:p>
          <a:p/>
          <a:p>
            <a:r>
              <a:t>────────</a:t>
            </a:r>
          </a:p>
          <a:p>
            <a:r>
              <a:t>Dès qu'il fallait générer quelque chose de nouveau — un nouveau service back, une nouvelle stack IaC — les conventions n'étaient pas respectées. L'IA est douée, mais elle ne connaît pas NOS règles.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Guillaume</a:t>
            </a:r>
          </a:p>
          <a:p>
            <a:r>
              <a:t>• Un CLAUDE.md partagé, toutes les règles au même endroit</a:t>
            </a:r>
          </a:p>
          <a:p>
            <a:r>
              <a:t>↪ Mazlum : « Simple… pendant deux semaines. »</a:t>
            </a:r>
          </a:p>
          <a:p/>
          <a:p>
            <a:r>
              <a:t>────────</a:t>
            </a:r>
          </a:p>
          <a:p>
            <a:r>
              <a:t>Premier réflexe, naturel : on écrit un CLAUDE.md qu'on se partage. Toutes nos règles au même endroit.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Guillaume (montrer le vrai fichier qui scrolle)</a:t>
            </a:r>
          </a:p>
          <a:p>
            <a:r>
              <a:t>• Chargé tout le temps : un commit relit les règles Dockerfile</a:t>
            </a:r>
          </a:p>
          <a:p>
            <a:r>
              <a:t>• Coûte des tokens, dilue l'attention</a:t>
            </a:r>
          </a:p>
          <a:p>
            <a:r>
              <a:t>↪ Mazlum : « Alors on l'a découpé. »</a:t>
            </a:r>
          </a:p>
          <a:p/>
          <a:p>
            <a:r>
              <a:t>────────</a:t>
            </a:r>
          </a:p>
          <a:p>
            <a:r>
              <a:t>Montrer un vrai CLAUDE.md qui scrolle sans fin. Le problème n'est pas le contenu, c'est qu'il est chargé en permanence, même quand on écrit un commit et pas un Dockerfile.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a:t>
            </a:r>
          </a:p>
          <a:p>
            <a:r>
              <a:t>• Un skill = un CLAUDE.md modulaire, chargé à la demande</a:t>
            </a:r>
          </a:p>
          <a:p>
            <a:r>
              <a:t>• Une convention, un skill</a:t>
            </a:r>
          </a:p>
          <a:p/>
          <a:p>
            <a:r>
              <a:t>────────</a:t>
            </a:r>
          </a:p>
          <a:p>
            <a:r>
              <a:t>Naturellement, on a découpé : c'est l'idée des skills. Un CLAUDE.md modulaire, chargé à la demande.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a:t>
            </a:r>
          </a:p>
          <a:p>
            <a:r>
              <a:t>• Un dossier, un SKILL.md, standard Agent Skills</a:t>
            </a:r>
          </a:p>
          <a:p>
            <a:r>
              <a:t>• La description est toujours vue ; le corps, seulement si la tâche correspond</a:t>
            </a:r>
          </a:p>
          <a:p>
            <a:r>
              <a:t>↪ Guillaume : « Et un skill, ce n'est pas que du texte. »</a:t>
            </a:r>
          </a:p>
          <a:p/>
          <a:p>
            <a:r>
              <a:t>────────</a:t>
            </a:r>
          </a:p>
          <a:p>
            <a:r>
              <a:t>Un skill = un dossier, un SKILL.md, le standard ouvert Agent Skills (agentskills.io). La description sert de déclencheur : l'agent la voit en permanence, et ne lit le corps que si la tâche matche. C'est la progressive disclosure. Lu tel quel par Claude Code, Copilot, Cursor, Codex, Antigravity CLI.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Guillaume</a:t>
            </a:r>
          </a:p>
          <a:p>
            <a:r>
              <a:t>• references/ : lu à la demande · assets/ : fichiers à copier · scripts/ : contrôles</a:t>
            </a:r>
          </a:p>
          <a:p>
            <a:r>
              <a:t>↪ Mazlum : « Ce qui ne veut pas dire qu'on jette le CLAUDE.md. »</a:t>
            </a:r>
          </a:p>
          <a:p/>
          <a:p>
            <a:r>
              <a:t>────────</a:t>
            </a:r>
          </a:p>
          <a:p>
            <a:r>
              <a:t>Le standard Agent Skills prévoit trois dossiers optionnels à côté du SKILL.md. references/ : de la doc lue à la demande — sur un projet Node, l'agent lit node.md, pas les quatre autres. assets/ : des fichiers complets à copier — le Dockerfile Python, celui qui tourne en prod sur Solis. scripts/ : du code exécuté, jamais chargé dans le contexte — une convention vérifiable devient un script plutôt qu'une phrase. Trois niveaux de chargement : la description toujours, le SKILL.md au déclenchement, le reste seulement si besoin. Notre CI refuse tout autre dossier. → Bascule IDE sur skills-core pour ouvrir ces trois skills.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a:t>
            </a:r>
          </a:p>
          <a:p>
            <a:r>
              <a:t>• CLAUDE.md redevient le contexte durable du projet (AGENTS.md + pont d'une ligne)</a:t>
            </a:r>
          </a:p>
          <a:p>
            <a:r>
              <a:t>• Les conventions vivent dans les skills</a:t>
            </a:r>
          </a:p>
          <a:p/>
          <a:p>
            <a:r>
              <a:t>────────</a:t>
            </a:r>
          </a:p>
          <a:p>
            <a:r>
              <a:t>On ne jette pas le CLAUDE.md : il redevient ce qu'il doit être, le contexte durable du projet (chez nous un AGENTS.md + un pont CLAUDE.md). Les conventions, elles, partent dans les skills.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Guillaume</a:t>
            </a:r>
          </a:p>
          <a:p>
            <a:r>
              <a:t>• Docker générique + Python par-dessus, qui n'ajoute que le spécifique</a:t>
            </a:r>
          </a:p>
          <a:p>
            <a:r>
              <a:t>↪ Mazlum : « Restait à les partager dans l'équipe. »</a:t>
            </a:r>
          </a:p>
          <a:p/>
          <a:p>
            <a:r>
              <a:t>────────</a:t>
            </a:r>
          </a:p>
          <a:p>
            <a:r>
              <a:t>L'exemple de découpage : docker-image-conventions est agnostique du langage ; python-docker-multistage se compose par-dessus et n'ajoute que le spécifique Python. Même logique direnv / python-uv-direnv. Chaque skill reste petit, et le générique sert aux autres stacks.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Guillaume</a:t>
            </a:r>
          </a:p>
          <a:p>
            <a:r>
              <a:t>• Un repo git de skills, synchronisé sur la machine de chaque dev</a:t>
            </a:r>
          </a:p>
          <a:p/>
          <a:p>
            <a:r>
              <a:t>────────</a:t>
            </a:r>
          </a:p>
          <a:p>
            <a:r>
              <a:t>Il fallait ensuite partager ces skills. Première approche : un catalogue git, synchronisé sur la machine de chaque dev.</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Guillaume</a:t>
            </a:r>
          </a:p>
          <a:p>
            <a:r>
              <a:t>• Script → dossiers perso des agents ; plusieurs modules ; version = tag git</a:t>
            </a:r>
          </a:p>
          <a:p>
            <a:r>
              <a:t>↪ Mazlum : « … jusqu'à ce que je l'utilise chez un client. »</a:t>
            </a:r>
          </a:p>
          <a:p/>
          <a:p>
            <a:r>
              <a:t>────────</a:t>
            </a:r>
          </a:p>
          <a:p>
            <a:r>
              <a:t>Un module = un repo git. Le script copie chaque skill dans les répertoires personnels que lisent les outils. Plusieurs modules cohabitent grâce à un ledger par module. Version = tag git.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a:t>
            </a:r>
          </a:p>
          <a:p>
            <a:r>
              <a:t>• En global, nos règles s'appliquent partout : perso, clients</a:t>
            </a:r>
          </a:p>
          <a:p>
            <a:r>
              <a:t>• On veut choisir, projet par projet</a:t>
            </a:r>
          </a:p>
          <a:p>
            <a:r>
              <a:t>↪ Guillaume : « Et choisir des skills par projet, c'est gérer des dépendances. »</a:t>
            </a:r>
          </a:p>
          <a:p/>
          <a:p>
            <a:r>
              <a:t>────────</a:t>
            </a:r>
          </a:p>
          <a:p>
            <a:r>
              <a:t>Chargé en global, ça s'applique tout le temps, même sur nos projets non-GroupBees ou chez un client qui a ses propres règles. Même si ce sont de bonnes pratiques, on veut la flexibilité de choisir.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Guillaume</a:t>
            </a:r>
          </a:p>
          <a:p>
            <a:r>
              <a:t>• On importe les skills comme des dépendances, + les skills du projet</a:t>
            </a:r>
          </a:p>
          <a:p>
            <a:r>
              <a:t>• La factory accueillera d'autres projets que Solis</a:t>
            </a:r>
          </a:p>
          <a:p>
            <a:r>
              <a:t>↪ Mazlum : « À une condition : ne rien inventer de propriétaire. »</a:t>
            </a:r>
          </a:p>
          <a:p/>
          <a:p>
            <a:r>
              <a:t>────────</a:t>
            </a:r>
          </a:p>
          <a:p>
            <a:r>
              <a:t>D'où l'idée : ne pas copier les skills dans chaque projet, mais garder des modules de skills et les importer, comme des dépendances. Et la factory va accueillir de nouveaux projets après Solis : chacun déclarera les skills d'équipe dont il a besoin, plus ses propres skills spécialisés.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a:t>
            </a:r>
          </a:p>
          <a:p>
            <a:r>
              <a:t>• Agent Skills : Claude Code, Copilot, Cursor, Codex, Antigravity CLI</a:t>
            </a:r>
          </a:p>
          <a:p>
            <a:r>
              <a:t>• AGENTS.md pour le contexte ; on change d'agent, les skills restent</a:t>
            </a:r>
          </a:p>
          <a:p>
            <a:r>
              <a:t>↪ « Il manquait l'outil pour les installer. Guillaume, raconte-leur pollen. »</a:t>
            </a:r>
          </a:p>
          <a:p/>
          <a:p>
            <a:r>
              <a:t>────────</a:t>
            </a:r>
          </a:p>
          <a:p>
            <a:r>
              <a:t>On s'appuie sur des standards ouverts, rien de propre à un outil. Un skill, c'est un dossier avec un SKILL.md : le même fichier est lu par Claude Code, Copilot, Cursor, Codex ou Antigravity CLI. pollen le déploie dans .claude/skills et .agents/skills, le dossier commun aux autres agents : Claude Code, lui, ne lit encore que .claude/skills (vérifié sur la v2.1.303), d'où les deux cibles — et dans .github/skills si on veut Copilot : une ligne dans pollen.yaml. Si l'équipe change d'agent demain, les skills restent. AGENTS.md, lui aussi standard, porte le contexte durable du projet ; les conventions vivent dans les skills. Claude Code lit AGENTS.md nativement depuis la v2.1.277, mais seulement quand le repo n'a pas de CLAUDE.md : on garde donc un CLAUDE.md d'une ligne, @AGENTS.md, qui marche dans toutes les sessions et ne fait jamais lire le fichier deux fois. Si on nous parle d'Agent Plugins (le format de paquet, v1.0 en août 2026) : on ne l'utilise pas. Il ne lit que skills/&lt;nom&gt;/, nos domaines y seraient invisibles, et pollen n'en a pas besoin pour déployer.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Guillaume</a:t>
            </a:r>
          </a:p>
          <a:p>
            <a:r>
              <a:t>• CLI open source en Rust, pollen.yaml façon pre-commit</a:t>
            </a:r>
          </a:p>
          <a:p>
            <a:r>
              <a:t>• update : installe, rafraîchit, supprime ce qu'on a retiré</a:t>
            </a:r>
          </a:p>
          <a:p/>
          <a:p>
            <a:r>
              <a:t>────────</a:t>
            </a:r>
          </a:p>
          <a:p>
            <a:r>
              <a:t>pollen, notre CLI open source (Rust). Syntaxe inspirée de pre-commit : une liste de sources, chacune épinglée. Il installe, rafraîchit ce qui a bougé et supprime ce qu'on a retiré. Sources git — SSH pour les repos privés — ou dossier local. Déployé dans .claude/skills et .agents/skills : tous les agents sont servis.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Guillaume</a:t>
            </a:r>
          </a:p>
          <a:p>
            <a:r>
              <a:t>• Périmètre étroit : déplace des dossiers, valide la spec</a:t>
            </a:r>
          </a:p>
          <a:p>
            <a:r>
              <a:t>• Un skill écrit à la main n'est jamais écrasé</a:t>
            </a:r>
          </a:p>
          <a:p>
            <a:r>
              <a:t>↪ Mazlum : « Et la question à chaque fois : où est le lockfile ? »</a:t>
            </a:r>
          </a:p>
          <a:p/>
          <a:p>
            <a:r>
              <a:t>────────</a:t>
            </a:r>
          </a:p>
          <a:p>
            <a:r>
              <a:t>On assume un périmètre étroit : pollen déplace des dossiers qui existent et les valide contre la spec. Son état (.pollen.json) enregistre ce qu'il a installé et quelle config possède le dossier : un skill écrit à la main n'est jamais écrasé, et une seconde config sur le même dossier est refusée.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a:t>
            </a:r>
          </a:p>
          <a:p>
            <a:r>
              <a:t>• Pas de résolveur → pas de lockfile : le SHA épinglé EST le lock</a:t>
            </a:r>
          </a:p>
          <a:p>
            <a:r>
              <a:t>• outdated → autoupdate → PR</a:t>
            </a:r>
          </a:p>
          <a:p>
            <a:r>
              <a:t>↪ Mazlum : « Et l'autre question, sous mon post LinkedIn : pourquoi pas npx skills ? »</a:t>
            </a:r>
          </a:p>
          <a:p/>
          <a:p>
            <a:r>
              <a:t>────────</a:t>
            </a:r>
          </a:p>
          <a:p>
            <a:r>
              <a:t>On nous demande souvent : et le lockfile ? Un lockfile fige ce qu'un résolveur a choisi : des plages de versions et des dépendances transitives. pollen n'a ni l'un ni l'autre. Le commit épinglé dans pollen.yaml EST le lock, le tag en commentaire le rend lisible, et autoupdate --freeze (ou Renovate) le met à jour.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 puis Guillaume, Mazlum conclut</a:t>
            </a:r>
          </a:p>
          <a:p>
            <a:r>
              <a:t>• Mazlum : super outil, bien plus large, sait installer nos catalogues privés</a:t>
            </a:r>
          </a:p>
          <a:p>
            <a:r>
              <a:t>• Guillaume : avant pollen, seul outil open source trouvé, on l'a regardé</a:t>
            </a:r>
          </a:p>
          <a:p>
            <a:r>
              <a:t>• Guillaume : CLI + lock vs fichier déclaratif, sans package.json, épinglé sur une release</a:t>
            </a:r>
          </a:p>
          <a:p>
            <a:r>
              <a:t>• Mazlum : les deux installent les mêmes skills, aucun lock-in</a:t>
            </a:r>
          </a:p>
          <a:p/>
          <a:p>
            <a:r>
              <a:t>────────</a:t>
            </a:r>
          </a:p>
          <a:p>
            <a:r>
              <a:t>La question qu'on nous pose le plus. npx skills (Vercel) installe aussi nos catalogues : repos privés en SSH, GitLab, chemins locaux, structure par domaines. La différence est dans le modèle. Eux : une CLI, des add successifs, un skills-lock.json qui retient le ref (souvent un tag) et un hash du contenu ; le déclaratif existe, en expérimental, dans le package.json. Nous : un pollen.yaml façon .pre-commit-config.yaml, à la racine de n'importe quel repo, Terraform, Python ou Java, sans package.json dans un repo qui n'a rien à voir avec npm. Chaque source est épinglée sur le commit d'une release, outdated part du dernier tag, et la montée de version se relit en PR. Eux sont bien plus larges ; nous, plus stricts pour une équipe. Les deux installent les mêmes skills : aucun lock-in.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a:t>
            </a:r>
          </a:p>
          <a:p>
            <a:r>
              <a:t>• Ma vraie config : modules de l'orga (privés + publics), skill pollen, module perso</a:t>
            </a:r>
          </a:p>
          <a:p>
            <a:r>
              <a:t>• Les règles de l'équipe et les miennes se composent sans se mélanger</a:t>
            </a:r>
          </a:p>
          <a:p>
            <a:r>
              <a:t>↪ Guillaume : « Et on nous demande aussi : vous réinventez Spec Kit ? »</a:t>
            </a:r>
          </a:p>
          <a:p/>
          <a:p>
            <a:r>
              <a:t>────────</a:t>
            </a:r>
          </a:p>
          <a:p>
            <a:r>
              <a:t>Ma vraie config machine (les paths sont omis). Des modules de l'orga privés et publics, le skill de pollen lui-même, et un module perso sur mon compte : les règles d'équipe et les miennes se composent sans se mélanger. Un module perso vit sur le compte de celui qui le maintient ; un module d'équipe dans l'orga.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Guillaume</a:t>
            </a:r>
          </a:p>
          <a:p>
            <a:r>
              <a:t>• Eux aussi en Agent Skills, mais ils encodent un processus (spec → plan → tâches)</a:t>
            </a:r>
          </a:p>
          <a:p>
            <a:r>
              <a:t>• Nous, des conventions techniques : ils se composent</a:t>
            </a:r>
          </a:p>
          <a:p>
            <a:r>
              <a:t>↪ Mazlum : « Assez parlé. Montrons-le. »</a:t>
            </a:r>
          </a:p>
          <a:p/>
          <a:p>
            <a:r>
              <a:t>────────</a:t>
            </a:r>
          </a:p>
          <a:p>
            <a:r>
              <a:t>Question qu'on nous pose souvent. Spec Kit (GitHub, v1.0) et BMAD (v6) sont eux-mêmes livrés en Agent Skills : /speckit-specify, plan, tasks… et les personas BMAD (analyste, PM, architecte, dev). Ils structurent le processus d'une feature. Nos conventions techniques, eux les prennent en prose : la constitution.md de Spec Kit, les persistent_facts de BMAD. Les deux se composent : un /speckit-plan dans un repo qui a nos skills sort un plan hexagonal, avec notre Dockerfile et notre CI. Et eux aussi ont leur CLI de distribution par projet : le problème qu'on résout avec pollen est le même pour tout le monde.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Démo, on alterne (script-demo.md) · le non-pilote décide de basculer sur les filets</a:t>
            </a:r>
          </a:p>
          <a:p>
            <a:r>
              <a:t>0 · Cadrage : Mazlum parle</a:t>
            </a:r>
          </a:p>
          <a:p>
            <a:r>
              <a:t>1 · Lancer SANS : Mazlum pilote, Guillaume commente</a:t>
            </a:r>
          </a:p>
          <a:p>
            <a:r>
              <a:t>2 · pollen update + lancer AVEC : Guillaume pilote, Mazlum commente (quote-domain)</a:t>
            </a:r>
          </a:p>
          <a:p>
            <a:r>
              <a:t>3 · Sortie SANS : pip, 1 stage, GetRandomQuote, README seul (PAS « root » ni « sans auteur »)</a:t>
            </a:r>
          </a:p>
          <a:p>
            <a:r>
              <a:t>4 · Sortie AVEC : 3 couches, UseCase, uv multi-stage, AGENTS.md, ?lang=fr</a:t>
            </a:r>
          </a:p>
          <a:p>
            <a:r>
              <a:t>5 · Delta : ping-pong → « Les règles sont là. »</a:t>
            </a:r>
          </a:p>
          <a:p>
            <a:r>
              <a:t>6 · Release dans le navigateur : Mazlum pilote, Guillaume commente</a:t>
            </a:r>
          </a:p>
          <a:p>
            <a:r>
              <a:t>↪ Guillaume : « Une bibliothèque de skills, ça se gouverne. »</a:t>
            </a:r>
          </a:p>
          <a:p/>
          <a:p>
            <a:r>
              <a:t>────────</a:t>
            </a:r>
          </a:p>
          <a:p>
            <a:r>
              <a:t>Session vierge = terminal gauche : claude --safe-mode --disable-slash-commands (ni CLAUDE.md, ni skills, même les built-in). Le moment clé, c'est le contraste. Ce ne sont pas les talents de l'IA qui font la différence, ce sont les règles. Pas de déploiement en live : une vraie release déjà publiée, dans le navigateur. Filets : sorties pré-capturées + screencast.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a:t>
            </a:r>
          </a:p>
          <a:p>
            <a:r>
              <a:t>• Skills = code : versionnés, relus en PR, blast radius énorme</a:t>
            </a:r>
          </a:p>
          <a:p>
            <a:r>
              <a:t>• Transverses : Guillaume et moi · Domaine : ceux qui le connaissent · « On est huit, pas Google »</a:t>
            </a:r>
          </a:p>
          <a:p>
            <a:r>
              <a:t>↪ Guillaume : « Et même relu, un skill finit par vieillir. »</a:t>
            </a:r>
          </a:p>
          <a:p/>
          <a:p>
            <a:r>
              <a:t>────────</a:t>
            </a:r>
          </a:p>
          <a:p>
            <a:r>
              <a:t>Qui relit ? Les skills transverses (Docker, CI, IaC, commits…) : les référents tech, Guillaume et moi, qui les avons posés au départ. Un skill spécialisé, comme celui de l'API Solis, est porté par les référents du domaine : Iliass, chercheur, qui implémente une bonne partie des features de Solis, avec Youssef, lead API et produit, et Rafik, entre tech et produit. Des profils tech, spécialisés sur ce sujet, qui en savent plus que nous : on relit avec eux. Chez Orange, notre client, même modèle : les modules transverses sont tenus par les référents tech et l'équipe platform, les repos spécialisés par le référent de leur domaine. Toujours une PR, jamais relue par son seul auteur, et la CI vérifie le mécanique.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Guillaume, Mazlum, Guillaume</a:t>
            </a:r>
          </a:p>
          <a:p>
            <a:r>
              <a:t>• Une règle périmée n'échoue pas : elle apprend le mauvais pattern (run-all → run --all)</a:t>
            </a:r>
          </a:p>
          <a:p>
            <a:r>
              <a:t>• Mazlum : le factuel, un agent le repère ; « encore notre convention ? » reste humain</a:t>
            </a:r>
          </a:p>
          <a:p>
            <a:r>
              <a:t>• Guillaume : une règle qui peut devenir un check en devient un</a:t>
            </a:r>
          </a:p>
          <a:p/>
          <a:p>
            <a:r>
              <a:t>────────</a:t>
            </a:r>
          </a:p>
          <a:p>
            <a:r>
              <a:t>Le vrai risque d'une lib de skills, c'est la règle périmée : elle ne casse rien, elle apprend en silence le mauvais pattern à l'agent. Ce qui pourrit, c'est le volatil : flags, versions, commandes. On l'isole du durable. War story : un skill Terragrunt référençait run-all, remplacé par run --all. Péremption factuelle, parfaite pour un scan IA. La péremption de jugement — est-ce encore notre convention ? — reste humaine, en revue. Quand une règle est mécanique, on en fait un check qui casse fort : le hook commit-msg qui refuse les co-auteurs IA, skill-validator sur chaque skill en CI. Ce qu'on n'a pas encore : des evals, un prompt de référence rejoué avec le skill pour prouver qu'il produit toujours le bon résultat. C'est notre démo avec et sans skills, automatisée. On va commencer par quelques skills mécaniques, Docker et commits.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Guillaume</a:t>
            </a:r>
          </a:p>
          <a:p>
            <a:r>
              <a:t>• skill-validator : spec, liens, orphelins, taille</a:t>
            </a:r>
          </a:p>
          <a:p>
            <a:r>
              <a:t>• Workflow partagé épinglé par SHA, Dependabot</a:t>
            </a:r>
          </a:p>
          <a:p>
            <a:r>
              <a:t>↪ Mazlum : « Et on a appris une chose en route. »</a:t>
            </a:r>
          </a:p>
          <a:p/>
          <a:p>
            <a:r>
              <a:t>────────</a:t>
            </a:r>
          </a:p>
          <a:p>
            <a:r>
              <a:t>skill-validator (agent-ecosystem, open source) : conformité à la spec, budget de tokens, liens cassés, fichiers orphelins, qualité des descriptions. La CI vit dans un workflow partagé public, épinglé par commit ; Dependabot ouvre la PR quand il évolue.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a:t>
            </a:r>
          </a:p>
          <a:p>
            <a:r>
              <a:t>• 1re montée de version de pollen : 13 fichiers à retoucher</a:t>
            </a:r>
          </a:p>
          <a:p>
            <a:r>
              <a:t>• Désormais, la connaissance de pollen est un skill livré avec pollen</a:t>
            </a:r>
          </a:p>
          <a:p>
            <a:r>
              <a:t>↪ Guillaume : « Et pour aller plus loin, on a regardé chez les gros. »</a:t>
            </a:r>
          </a:p>
          <a:p/>
          <a:p>
            <a:r>
              <a:t>────────</a:t>
            </a:r>
          </a:p>
          <a:p>
            <a:r>
              <a:t>War story : à la première montée de version de pollen, il a fallu retoucher 13 fichiers dans nos modules. C'était exactement le CLAUDE.md monolithique qu'on dénonce, dupliqué. La connaissance de l'outil est devenue un skill livré avec l'outil ; les modules n'ont plus rien à retoucher.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a:t>
            </a:r>
          </a:p>
          <a:p>
            <a:r>
              <a:t>• « Skills are products, not snippets » ; evals obligatoires et hebdo, multi-agents</a:t>
            </a:r>
          </a:p>
          <a:p>
            <a:r>
              <a:t>• Notre prochaine marche : les evals</a:t>
            </a:r>
          </a:p>
          <a:p>
            <a:r>
              <a:t>• Adaptez la gouvernance à votre taille, mais gardez-en une</a:t>
            </a:r>
          </a:p>
          <a:p/>
          <a:p>
            <a:r>
              <a:t>────────</a:t>
            </a:r>
          </a:p>
          <a:p>
            <a:r>
              <a:t>Source : blog Google Cloud « Behind the scenes: how we build, test and scale Google agent skills » (août 2026). Leur CI : lint, vérification des liens, checklists assistées par IA, et surtout les evals. C'est là qu'on n'en est pas encore. Et un owner par skill : nous, on est huit, pas Google. Pas d'organigramme, mais ceux qui savent : les référents tech relisent le transverse, les référents d'un domaine portent ses skills spécialisés, et la CI vérifie le mécanique. Adaptez la gouvernance à votre taille, mais gardez-en une.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Un point chacun</a:t>
            </a:r>
          </a:p>
          <a:p>
            <a:r>
              <a:t>• Mazlum : conventions dans des skills, pas un CLAUDE.md géant</a:t>
            </a:r>
          </a:p>
          <a:p>
            <a:r>
              <a:t>• Guillaume : skills par projet, épinglés comme des dépendances</a:t>
            </a:r>
          </a:p>
          <a:p>
            <a:r>
              <a:t>• Mazlum : gouvernés comme du code · Guillaume : « relecture, CI… et bientôt des evals »</a:t>
            </a:r>
          </a:p>
          <a:p/>
          <a:p>
            <a:r>
              <a:t>────────</a:t>
            </a:r>
          </a:p>
          <a:p>
            <a:r>
              <a:t>Trois idées à ramener lundi matin dans votre équipe.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Mazlum ou Guillaume (à répartir)</a:t>
            </a:r>
          </a:p>
          <a:p>
            <a:r>
              <a:t>• « De quoi l'essayer ce soir : pollen, et nos skills de la démo, en public »</a:t>
            </a:r>
          </a:p>
          <a:p>
            <a:r>
              <a:t>• Le pollen.yaml du README marche tel quel · laisser 10 s pour scanner</a:t>
            </a:r>
          </a:p>
          <a:p>
            <a:r>
              <a:t>• Aux questions, revenir ici si on demande un lien</a:t>
            </a:r>
          </a:p>
          <a:p/>
          <a:p>
            <a:r>
              <a:t>────────</a:t>
            </a:r>
          </a:p>
          <a:p>
            <a:r>
              <a:t>De quoi l'essayer ce soir. pollen, et nos skills en public : le skills-core de la démo, rangé par domaines. Le pollen.yaml du README marche tel quel.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Les deux</a:t>
            </a:r>
          </a:p>
          <a:p>
            <a:r>
              <a:t>• Mazlum : « Ce n'est pas par magie que l'IA a codé comme nous. »</a:t>
            </a:r>
          </a:p>
          <a:p>
            <a:r>
              <a:t>• Guillaume : « C'est parce que les règles sont là. »</a:t>
            </a:r>
          </a:p>
          <a:p>
            <a:r>
              <a:t>• Mazlum : « Merci ! On prend vos questions. »</a:t>
            </a:r>
          </a:p>
          <a:p/>
          <a:p>
            <a:r>
              <a:t>────────</a:t>
            </a:r>
          </a:p>
          <a:p>
            <a:r>
              <a:t>Merci ! On prend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2.xml"/><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3.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5.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0.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9.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3.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32.xml"/><Relationship Id="rId5"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33.xml"/><Relationship Id="rId5"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logo_light.png" descr="logo_light.png"/>
          <p:cNvPicPr>
            <a:picLocks noChangeAspect="1"/>
          </p:cNvPicPr>
          <p:nvPr/>
        </p:nvPicPr>
        <p:blipFill>
          <a:blip r:embed="rId2"/>
          <a:stretch>
            <a:fillRect/>
          </a:stretch>
        </p:blipFill>
        <p:spPr>
          <a:xfrm>
            <a:off x="640080" y="566928"/>
            <a:ext cx="2286000" cy="697149"/>
          </a:xfrm>
          <a:prstGeom prst="rect">
            <a:avLst/>
          </a:prstGeom>
        </p:spPr>
      </p:pic>
      <p:pic>
        <p:nvPicPr>
          <p:cNvPr id="5" name="bee.png" descr="bee.png"/>
          <p:cNvPicPr>
            <a:picLocks noChangeAspect="1"/>
          </p:cNvPicPr>
          <p:nvPr/>
        </p:nvPicPr>
        <p:blipFill>
          <a:blip r:embed="rId3"/>
          <a:stretch>
            <a:fillRect/>
          </a:stretch>
        </p:blipFill>
        <p:spPr>
          <a:xfrm>
            <a:off x="8595360" y="1371600"/>
            <a:ext cx="3562685" cy="4206240"/>
          </a:xfrm>
          <a:prstGeom prst="rect">
            <a:avLst/>
          </a:prstGeom>
        </p:spPr>
      </p:pic>
      <p:sp>
        <p:nvSpPr>
          <p:cNvPr id="6" name="TextBox 5"/>
          <p:cNvSpPr txBox="1"/>
          <p:nvPr/>
        </p:nvSpPr>
        <p:spPr>
          <a:xfrm>
            <a:off x="640080" y="1737360"/>
            <a:ext cx="7863840" cy="1828800"/>
          </a:xfrm>
          <a:prstGeom prst="rect">
            <a:avLst/>
          </a:prstGeom>
          <a:noFill/>
        </p:spPr>
        <p:txBody>
          <a:bodyPr wrap="square" lIns="0" rIns="0" tIns="0" bIns="0" anchor="b">
            <a:spAutoFit/>
          </a:bodyPr>
          <a:lstStyle/>
          <a:p>
            <a:pPr algn="l">
              <a:spcAft>
                <a:spcPts val="0"/>
              </a:spcAft>
            </a:pPr>
            <a:r>
              <a:rPr sz="5400" b="1">
                <a:solidFill>
                  <a:srgbClr val="FFFFFF"/>
                </a:solidFill>
                <a:latin typeface="Avenir Next"/>
              </a:rPr>
              <a:t>Industrialiser l'IA</a:t>
            </a:r>
          </a:p>
          <a:p>
            <a:pPr algn="l">
              <a:spcAft>
                <a:spcPts val="0"/>
              </a:spcAft>
            </a:pPr>
            <a:r>
              <a:rPr sz="5400" b="1">
                <a:solidFill>
                  <a:srgbClr val="FFFFFF"/>
                </a:solidFill>
                <a:latin typeface="Avenir Next"/>
              </a:rPr>
              <a:t>en équipe</a:t>
            </a:r>
          </a:p>
        </p:txBody>
      </p:sp>
      <p:sp>
        <p:nvSpPr>
          <p:cNvPr id="7" name="TextBox 6"/>
          <p:cNvSpPr txBox="1"/>
          <p:nvPr/>
        </p:nvSpPr>
        <p:spPr>
          <a:xfrm>
            <a:off x="640080" y="3749039"/>
            <a:ext cx="7498079" cy="914400"/>
          </a:xfrm>
          <a:prstGeom prst="rect">
            <a:avLst/>
          </a:prstGeom>
          <a:noFill/>
        </p:spPr>
        <p:txBody>
          <a:bodyPr wrap="square" lIns="0" rIns="0" tIns="0" bIns="0">
            <a:spAutoFit/>
          </a:bodyPr>
          <a:lstStyle/>
          <a:p>
            <a:pPr algn="l">
              <a:spcAft>
                <a:spcPts val="0"/>
              </a:spcAft>
            </a:pPr>
            <a:r>
              <a:rPr sz="2400">
                <a:solidFill>
                  <a:srgbClr val="C9CFDC"/>
                </a:solidFill>
                <a:latin typeface="Avenir Next"/>
              </a:rPr>
              <a:t>Des skills qui encodent vos conventions</a:t>
            </a:r>
          </a:p>
        </p:txBody>
      </p:sp>
      <p:sp>
        <p:nvSpPr>
          <p:cNvPr id="8" name="Rectangle 7"/>
          <p:cNvSpPr/>
          <p:nvPr/>
        </p:nvSpPr>
        <p:spPr>
          <a:xfrm>
            <a:off x="640080" y="4709160"/>
            <a:ext cx="2194560" cy="9144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120640"/>
            <a:ext cx="7863840" cy="457200"/>
          </a:xfrm>
          <a:prstGeom prst="rect">
            <a:avLst/>
          </a:prstGeom>
          <a:noFill/>
        </p:spPr>
        <p:txBody>
          <a:bodyPr wrap="square" lIns="0" rIns="0" tIns="0" bIns="0">
            <a:spAutoFit/>
          </a:bodyPr>
          <a:lstStyle/>
          <a:p>
            <a:pPr algn="l">
              <a:spcAft>
                <a:spcPts val="0"/>
              </a:spcAft>
            </a:pPr>
            <a:r>
              <a:rPr sz="1600">
                <a:solidFill>
                  <a:srgbClr val="00B5FB"/>
                </a:solidFill>
                <a:latin typeface="Avenir Next"/>
              </a:rPr>
              <a:t>Mazlum Tosun &amp; Guillaume Leroy · GroupBees · DevFest Toulouse 2026</a:t>
            </a:r>
          </a:p>
        </p:txBody>
      </p:sp>
      <p:pic>
        <p:nvPicPr>
          <p:cNvPr id="10" name="bee_happy.png" descr="bee_happy.png"/>
          <p:cNvPicPr>
            <a:picLocks noChangeAspect="1"/>
          </p:cNvPicPr>
          <p:nvPr/>
        </p:nvPicPr>
        <p:blipFill>
          <a:blip r:embed="rId5"/>
          <a:stretch>
            <a:fillRect/>
          </a:stretch>
        </p:blipFill>
        <p:spPr>
          <a:xfrm rot="20880000" flipH="1">
            <a:off x="6949440" y="411480"/>
            <a:ext cx="696951" cy="8686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Qui sommes-nous ?</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600200"/>
            <a:ext cx="5257800" cy="4343400"/>
          </a:xfrm>
          <a:prstGeom prst="roundRect">
            <a:avLst>
              <a:gd name="adj" fmla="val 6000"/>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600200"/>
            <a:ext cx="5257800" cy="82296"/>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23544" y="1929384"/>
            <a:ext cx="1901952" cy="1901952"/>
          </a:xfrm>
          <a:prstGeom prst="ellipse">
            <a:avLst/>
          </a:prstGeom>
          <a:gradFill rotWithShape="1">
            <a:gsLst>
              <a:gs pos="0">
                <a:srgbClr val="00B5FB"/>
              </a:gs>
              <a:gs pos="100000">
                <a:srgbClr val="974E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azlum.jpg"/>
          <p:cNvPicPr>
            <a:picLocks noChangeAspect="1"/>
          </p:cNvPicPr>
          <p:nvPr/>
        </p:nvPicPr>
        <p:blipFill>
          <a:blip r:embed="rId2"/>
          <a:stretch>
            <a:fillRect/>
          </a:stretch>
        </p:blipFill>
        <p:spPr>
          <a:xfrm>
            <a:off x="1005840" y="2011680"/>
            <a:ext cx="1737360" cy="1737360"/>
          </a:xfrm>
          <a:prstGeom prst="ellipse">
            <a:avLst/>
          </a:prstGeom>
        </p:spPr>
      </p:pic>
      <p:sp>
        <p:nvSpPr>
          <p:cNvPr id="8" name="TextBox 7"/>
          <p:cNvSpPr txBox="1"/>
          <p:nvPr/>
        </p:nvSpPr>
        <p:spPr>
          <a:xfrm>
            <a:off x="3063240" y="2103120"/>
            <a:ext cx="2651760" cy="1280160"/>
          </a:xfrm>
          <a:prstGeom prst="rect">
            <a:avLst/>
          </a:prstGeom>
          <a:noFill/>
        </p:spPr>
        <p:txBody>
          <a:bodyPr wrap="square" lIns="0" rIns="0" tIns="0" bIns="0">
            <a:spAutoFit/>
          </a:bodyPr>
          <a:lstStyle/>
          <a:p>
            <a:pPr algn="l">
              <a:spcAft>
                <a:spcPts val="0"/>
              </a:spcAft>
            </a:pPr>
            <a:r>
              <a:rPr sz="3000" b="1">
                <a:solidFill>
                  <a:srgbClr val="14141A"/>
                </a:solidFill>
                <a:latin typeface="Avenir Next"/>
              </a:rPr>
              <a:t>Mazlum</a:t>
            </a:r>
          </a:p>
          <a:p>
            <a:pPr algn="l">
              <a:spcAft>
                <a:spcPts val="0"/>
              </a:spcAft>
            </a:pPr>
            <a:r>
              <a:rPr sz="3000" b="1">
                <a:solidFill>
                  <a:srgbClr val="14141A"/>
                </a:solidFill>
                <a:latin typeface="Avenir Next"/>
              </a:rPr>
              <a:t>Tosun</a:t>
            </a:r>
          </a:p>
        </p:txBody>
      </p:sp>
      <p:sp>
        <p:nvSpPr>
          <p:cNvPr id="9" name="Hexagon 8"/>
          <p:cNvSpPr/>
          <p:nvPr/>
        </p:nvSpPr>
        <p:spPr>
          <a:xfrm>
            <a:off x="1051560" y="4160520"/>
            <a:ext cx="146304" cy="146304"/>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4069080"/>
            <a:ext cx="4251960" cy="365760"/>
          </a:xfrm>
          <a:prstGeom prst="rect">
            <a:avLst/>
          </a:prstGeom>
          <a:noFill/>
        </p:spPr>
        <p:txBody>
          <a:bodyPr wrap="square" lIns="0" rIns="0" tIns="0" bIns="0">
            <a:spAutoFit/>
          </a:bodyPr>
          <a:lstStyle/>
          <a:p>
            <a:pPr algn="l">
              <a:spcAft>
                <a:spcPts val="0"/>
              </a:spcAft>
            </a:pPr>
            <a:r>
              <a:rPr sz="1800" b="1">
                <a:solidFill>
                  <a:srgbClr val="2A2F3A"/>
                </a:solidFill>
                <a:latin typeface="Avenir Next"/>
              </a:rPr>
              <a:t>Head of Data · GroupBees</a:t>
            </a:r>
          </a:p>
        </p:txBody>
      </p:sp>
      <p:sp>
        <p:nvSpPr>
          <p:cNvPr id="11" name="Hexagon 10"/>
          <p:cNvSpPr/>
          <p:nvPr/>
        </p:nvSpPr>
        <p:spPr>
          <a:xfrm>
            <a:off x="1051560" y="4572000"/>
            <a:ext cx="146304" cy="146304"/>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480560"/>
            <a:ext cx="4251960" cy="365760"/>
          </a:xfrm>
          <a:prstGeom prst="rect">
            <a:avLst/>
          </a:prstGeom>
          <a:noFill/>
        </p:spPr>
        <p:txBody>
          <a:bodyPr wrap="square" lIns="0" rIns="0" tIns="0" bIns="0">
            <a:spAutoFit/>
          </a:bodyPr>
          <a:lstStyle/>
          <a:p>
            <a:pPr algn="l">
              <a:spcAft>
                <a:spcPts val="0"/>
              </a:spcAft>
            </a:pPr>
            <a:r>
              <a:rPr sz="1800" b="0">
                <a:solidFill>
                  <a:srgbClr val="2A2F3A"/>
                </a:solidFill>
                <a:latin typeface="Avenir Next"/>
              </a:rPr>
              <a:t>Google Developer Expert Cloud</a:t>
            </a:r>
          </a:p>
        </p:txBody>
      </p:sp>
      <p:sp>
        <p:nvSpPr>
          <p:cNvPr id="13" name="Hexagon 12"/>
          <p:cNvSpPr/>
          <p:nvPr/>
        </p:nvSpPr>
        <p:spPr>
          <a:xfrm>
            <a:off x="1051560" y="4983480"/>
            <a:ext cx="146304" cy="146304"/>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4892040"/>
            <a:ext cx="4251960" cy="365760"/>
          </a:xfrm>
          <a:prstGeom prst="rect">
            <a:avLst/>
          </a:prstGeom>
          <a:noFill/>
        </p:spPr>
        <p:txBody>
          <a:bodyPr wrap="square" lIns="0" rIns="0" tIns="0" bIns="0">
            <a:spAutoFit/>
          </a:bodyPr>
          <a:lstStyle/>
          <a:p>
            <a:pPr algn="l">
              <a:spcAft>
                <a:spcPts val="0"/>
              </a:spcAft>
            </a:pPr>
            <a:r>
              <a:rPr sz="1800" b="0">
                <a:solidFill>
                  <a:srgbClr val="2A2F3A"/>
                </a:solidFill>
                <a:latin typeface="Avenir Next"/>
              </a:rPr>
              <a:t>Docker Captain</a:t>
            </a:r>
          </a:p>
        </p:txBody>
      </p:sp>
      <p:pic>
        <p:nvPicPr>
          <p:cNvPr id="15" name="badge_gde.png" descr="badge_gde.png"/>
          <p:cNvPicPr>
            <a:picLocks noChangeAspect="1"/>
          </p:cNvPicPr>
          <p:nvPr/>
        </p:nvPicPr>
        <p:blipFill>
          <a:blip r:embed="rId3"/>
          <a:stretch>
            <a:fillRect/>
          </a:stretch>
        </p:blipFill>
        <p:spPr>
          <a:xfrm>
            <a:off x="3063240" y="3255264"/>
            <a:ext cx="1667116" cy="347472"/>
          </a:xfrm>
          <a:prstGeom prst="rect">
            <a:avLst/>
          </a:prstGeom>
        </p:spPr>
      </p:pic>
      <p:pic>
        <p:nvPicPr>
          <p:cNvPr id="16" name="badge_docker_captain.png" descr="badge_docker_captain.png"/>
          <p:cNvPicPr>
            <a:picLocks noChangeAspect="1"/>
          </p:cNvPicPr>
          <p:nvPr/>
        </p:nvPicPr>
        <p:blipFill>
          <a:blip r:embed="rId4"/>
          <a:stretch>
            <a:fillRect/>
          </a:stretch>
        </p:blipFill>
        <p:spPr>
          <a:xfrm>
            <a:off x="5050396" y="3108960"/>
            <a:ext cx="476922" cy="640080"/>
          </a:xfrm>
          <a:prstGeom prst="rect">
            <a:avLst/>
          </a:prstGeom>
        </p:spPr>
      </p:pic>
      <p:pic>
        <p:nvPicPr>
          <p:cNvPr id="17" name="badge_psg.png" descr="badge_psg.png"/>
          <p:cNvPicPr>
            <a:picLocks noChangeAspect="1"/>
          </p:cNvPicPr>
          <p:nvPr/>
        </p:nvPicPr>
        <p:blipFill>
          <a:blip r:embed="rId5"/>
          <a:stretch>
            <a:fillRect/>
          </a:stretch>
        </p:blipFill>
        <p:spPr>
          <a:xfrm rot="720000">
            <a:off x="5246371" y="1339597"/>
            <a:ext cx="866508" cy="868680"/>
          </a:xfrm>
          <a:prstGeom prst="rect">
            <a:avLst/>
          </a:prstGeom>
        </p:spPr>
      </p:pic>
      <p:sp>
        <p:nvSpPr>
          <p:cNvPr id="18" name="Rounded Rectangle 17"/>
          <p:cNvSpPr/>
          <p:nvPr/>
        </p:nvSpPr>
        <p:spPr>
          <a:xfrm>
            <a:off x="6263640" y="1600200"/>
            <a:ext cx="5257800" cy="4343400"/>
          </a:xfrm>
          <a:prstGeom prst="roundRect">
            <a:avLst>
              <a:gd name="adj" fmla="val 6000"/>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1600200"/>
            <a:ext cx="5257800" cy="82296"/>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47104" y="1929384"/>
            <a:ext cx="1901952" cy="1901952"/>
          </a:xfrm>
          <a:prstGeom prst="ellipse">
            <a:avLst/>
          </a:prstGeom>
          <a:gradFill rotWithShape="1">
            <a:gsLst>
              <a:gs pos="0">
                <a:srgbClr val="00B5FB"/>
              </a:gs>
              <a:gs pos="100000">
                <a:srgbClr val="974E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guillaume.png"/>
          <p:cNvPicPr>
            <a:picLocks noChangeAspect="1"/>
          </p:cNvPicPr>
          <p:nvPr/>
        </p:nvPicPr>
        <p:blipFill>
          <a:blip r:embed="rId6"/>
          <a:stretch>
            <a:fillRect/>
          </a:stretch>
        </p:blipFill>
        <p:spPr>
          <a:xfrm>
            <a:off x="6629400" y="2011680"/>
            <a:ext cx="1737360" cy="1737360"/>
          </a:xfrm>
          <a:prstGeom prst="ellipse">
            <a:avLst/>
          </a:prstGeom>
        </p:spPr>
      </p:pic>
      <p:sp>
        <p:nvSpPr>
          <p:cNvPr id="22" name="TextBox 21"/>
          <p:cNvSpPr txBox="1"/>
          <p:nvPr/>
        </p:nvSpPr>
        <p:spPr>
          <a:xfrm>
            <a:off x="8686800" y="2103120"/>
            <a:ext cx="2651760" cy="1280160"/>
          </a:xfrm>
          <a:prstGeom prst="rect">
            <a:avLst/>
          </a:prstGeom>
          <a:noFill/>
        </p:spPr>
        <p:txBody>
          <a:bodyPr wrap="square" lIns="0" rIns="0" tIns="0" bIns="0">
            <a:spAutoFit/>
          </a:bodyPr>
          <a:lstStyle/>
          <a:p>
            <a:pPr algn="l">
              <a:spcAft>
                <a:spcPts val="0"/>
              </a:spcAft>
            </a:pPr>
            <a:r>
              <a:rPr sz="3000" b="1">
                <a:solidFill>
                  <a:srgbClr val="14141A"/>
                </a:solidFill>
                <a:latin typeface="Avenir Next"/>
              </a:rPr>
              <a:t>Guillaume</a:t>
            </a:r>
          </a:p>
          <a:p>
            <a:pPr algn="l">
              <a:spcAft>
                <a:spcPts val="0"/>
              </a:spcAft>
            </a:pPr>
            <a:r>
              <a:rPr sz="3000" b="1">
                <a:solidFill>
                  <a:srgbClr val="14141A"/>
                </a:solidFill>
                <a:latin typeface="Avenir Next"/>
              </a:rPr>
              <a:t>Leroy</a:t>
            </a:r>
          </a:p>
        </p:txBody>
      </p:sp>
      <p:sp>
        <p:nvSpPr>
          <p:cNvPr id="23" name="Hexagon 22"/>
          <p:cNvSpPr/>
          <p:nvPr/>
        </p:nvSpPr>
        <p:spPr>
          <a:xfrm>
            <a:off x="6675120" y="4160520"/>
            <a:ext cx="146304" cy="146304"/>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95160" y="4069080"/>
            <a:ext cx="4251960" cy="365760"/>
          </a:xfrm>
          <a:prstGeom prst="rect">
            <a:avLst/>
          </a:prstGeom>
          <a:noFill/>
        </p:spPr>
        <p:txBody>
          <a:bodyPr wrap="square" lIns="0" rIns="0" tIns="0" bIns="0">
            <a:spAutoFit/>
          </a:bodyPr>
          <a:lstStyle/>
          <a:p>
            <a:pPr algn="l">
              <a:spcAft>
                <a:spcPts val="0"/>
              </a:spcAft>
            </a:pPr>
            <a:r>
              <a:rPr sz="1800" b="1">
                <a:solidFill>
                  <a:srgbClr val="2A2F3A"/>
                </a:solidFill>
                <a:latin typeface="Avenir Next"/>
              </a:rPr>
              <a:t>Platform Engineer &amp; SRE · GroupBees</a:t>
            </a:r>
          </a:p>
        </p:txBody>
      </p:sp>
      <p:sp>
        <p:nvSpPr>
          <p:cNvPr id="25" name="Hexagon 24"/>
          <p:cNvSpPr/>
          <p:nvPr/>
        </p:nvSpPr>
        <p:spPr>
          <a:xfrm>
            <a:off x="6675120" y="4572000"/>
            <a:ext cx="146304" cy="146304"/>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95160" y="4480560"/>
            <a:ext cx="4251960" cy="365760"/>
          </a:xfrm>
          <a:prstGeom prst="rect">
            <a:avLst/>
          </a:prstGeom>
          <a:noFill/>
        </p:spPr>
        <p:txBody>
          <a:bodyPr wrap="square" lIns="0" rIns="0" tIns="0" bIns="0">
            <a:spAutoFit/>
          </a:bodyPr>
          <a:lstStyle/>
          <a:p>
            <a:pPr algn="l">
              <a:spcAft>
                <a:spcPts val="0"/>
              </a:spcAft>
            </a:pPr>
            <a:r>
              <a:rPr sz="1800" b="0">
                <a:solidFill>
                  <a:srgbClr val="2A2F3A"/>
                </a:solidFill>
                <a:latin typeface="Avenir Next"/>
              </a:rPr>
              <a:t>Fondateur · THEREALM</a:t>
            </a:r>
          </a:p>
        </p:txBody>
      </p:sp>
      <p:sp>
        <p:nvSpPr>
          <p:cNvPr id="27" name="Hexagon 26"/>
          <p:cNvSpPr/>
          <p:nvPr/>
        </p:nvSpPr>
        <p:spPr>
          <a:xfrm>
            <a:off x="6675120" y="4983480"/>
            <a:ext cx="146304" cy="146304"/>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95160" y="4892040"/>
            <a:ext cx="4251960" cy="365760"/>
          </a:xfrm>
          <a:prstGeom prst="rect">
            <a:avLst/>
          </a:prstGeom>
          <a:noFill/>
        </p:spPr>
        <p:txBody>
          <a:bodyPr wrap="square" lIns="0" rIns="0" tIns="0" bIns="0">
            <a:spAutoFit/>
          </a:bodyPr>
          <a:lstStyle/>
          <a:p>
            <a:pPr algn="l">
              <a:spcAft>
                <a:spcPts val="0"/>
              </a:spcAft>
            </a:pPr>
            <a:r>
              <a:rPr sz="1800" b="0">
                <a:solidFill>
                  <a:srgbClr val="2A2F3A"/>
                </a:solidFill>
                <a:latin typeface="Avenir Next"/>
              </a:rPr>
              <a:t>Formateur · EPITECH &amp; Polytech</a:t>
            </a:r>
          </a:p>
        </p:txBody>
      </p:sp>
      <p:pic>
        <p:nvPicPr>
          <p:cNvPr id="29" name="bee_cool.png" descr="bee_cool.png"/>
          <p:cNvPicPr>
            <a:picLocks noChangeAspect="1"/>
          </p:cNvPicPr>
          <p:nvPr/>
        </p:nvPicPr>
        <p:blipFill>
          <a:blip r:embed="rId8"/>
          <a:stretch>
            <a:fillRect/>
          </a:stretch>
        </p:blipFill>
        <p:spPr>
          <a:xfrm rot="480000">
            <a:off x="10744200" y="228600"/>
            <a:ext cx="997857" cy="1005840"/>
          </a:xfrm>
          <a:prstGeom prst="rect">
            <a:avLst/>
          </a:prstGeom>
        </p:spPr>
      </p:pic>
      <p:pic>
        <p:nvPicPr>
          <p:cNvPr id="30" name="bee_grad.png" descr="bee_grad.png"/>
          <p:cNvPicPr>
            <a:picLocks noChangeAspect="1"/>
          </p:cNvPicPr>
          <p:nvPr/>
        </p:nvPicPr>
        <p:blipFill>
          <a:blip r:embed="rId9"/>
          <a:stretch>
            <a:fillRect/>
          </a:stretch>
        </p:blipFill>
        <p:spPr>
          <a:xfrm rot="21240000">
            <a:off x="10607040" y="4663440"/>
            <a:ext cx="840441" cy="1143000"/>
          </a:xfrm>
          <a:prstGeom prst="rect">
            <a:avLst/>
          </a:prstGeom>
        </p:spPr>
      </p:pic>
      <p:pic>
        <p:nvPicPr>
          <p:cNvPr id="31" name="logo.png" descr="logo.png"/>
          <p:cNvPicPr>
            <a:picLocks noChangeAspect="1"/>
          </p:cNvPicPr>
          <p:nvPr/>
        </p:nvPicPr>
        <p:blipFill>
          <a:blip r:embed="rId10"/>
          <a:stretch>
            <a:fillRect/>
          </a:stretch>
        </p:blipFill>
        <p:spPr>
          <a:xfrm>
            <a:off x="566928" y="6263640"/>
            <a:ext cx="899514" cy="274320"/>
          </a:xfrm>
          <a:prstGeom prst="rect">
            <a:avLst/>
          </a:prstGeom>
        </p:spPr>
      </p:pic>
      <p:sp>
        <p:nvSpPr>
          <p:cNvPr id="32" name="TextBox 31"/>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1/32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par>
                                <p:cTn id="10" presetID="53" presetClass="entr" presetSubtype="16" fill="hold" nodeType="with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p:cTn id="12" dur="500" fill="hold"/>
                                        <p:tgtEl>
                                          <p:spTgt spid="30"/>
                                        </p:tgtEl>
                                        <p:attrNameLst>
                                          <p:attrName>ppt_w</p:attrName>
                                        </p:attrNameLst>
                                      </p:cBhvr>
                                      <p:tavLst>
                                        <p:tav tm="0">
                                          <p:val>
                                            <p:fltVal val="0"/>
                                          </p:val>
                                        </p:tav>
                                        <p:tav tm="100000">
                                          <p:val>
                                            <p:strVal val="#ppt_w"/>
                                          </p:val>
                                        </p:tav>
                                      </p:tavLst>
                                    </p:anim>
                                    <p:anim calcmode="lin" valueType="num">
                                      <p:cBhvr>
                                        <p:cTn id="13" dur="500" fill="hold"/>
                                        <p:tgtEl>
                                          <p:spTgt spid="30"/>
                                        </p:tgtEl>
                                        <p:attrNameLst>
                                          <p:attrName>ppt_h</p:attrName>
                                        </p:attrNameLst>
                                      </p:cBhvr>
                                      <p:tavLst>
                                        <p:tav tm="0">
                                          <p:val>
                                            <p:fltVal val="0"/>
                                          </p:val>
                                        </p:tav>
                                        <p:tav tm="100000">
                                          <p:val>
                                            <p:strVal val="#ppt_h"/>
                                          </p:val>
                                        </p:tav>
                                      </p:tavLst>
                                    </p:anim>
                                    <p:animEffect transition="in" filter="fade">
                                      <p:cBhvr>
                                        <p:cTn id="1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En direct du TechCast</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jt_satirique.jpg"/>
          <p:cNvPicPr>
            <a:picLocks noChangeAspect="1"/>
          </p:cNvPicPr>
          <p:nvPr/>
        </p:nvPicPr>
        <p:blipFill>
          <a:blip r:embed="rId2"/>
          <a:stretch>
            <a:fillRect/>
          </a:stretch>
        </p:blipFill>
        <p:spPr>
          <a:xfrm>
            <a:off x="2079409" y="1508760"/>
            <a:ext cx="8032876" cy="4480560"/>
          </a:xfrm>
          <a:prstGeom prst="rect">
            <a:avLst/>
          </a:prstGeom>
        </p:spPr>
      </p:pic>
      <p:pic>
        <p:nvPicPr>
          <p:cNvPr id="5"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6" name="TextBox 5"/>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2/32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xagon 1"/>
          <p:cNvSpPr/>
          <p:nvPr/>
        </p:nvSpPr>
        <p:spPr>
          <a:xfrm>
            <a:off x="10469880"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10957438"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10713659"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xagon 4"/>
          <p:cNvSpPr/>
          <p:nvPr/>
        </p:nvSpPr>
        <p:spPr>
          <a:xfrm>
            <a:off x="11201217"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469880"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xagon 6"/>
          <p:cNvSpPr/>
          <p:nvPr/>
        </p:nvSpPr>
        <p:spPr>
          <a:xfrm>
            <a:off x="10957438"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Le contexte : une plateforme d'API</a:t>
            </a:r>
          </a:p>
        </p:txBody>
      </p:sp>
      <p:sp>
        <p:nvSpPr>
          <p:cNvPr id="9" name="Rectangle 8"/>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bee_astro.png" descr="bee_astro.png"/>
          <p:cNvPicPr>
            <a:picLocks noChangeAspect="1"/>
          </p:cNvPicPr>
          <p:nvPr/>
        </p:nvPicPr>
        <p:blipFill>
          <a:blip r:embed="rId2"/>
          <a:stretch>
            <a:fillRect/>
          </a:stretch>
        </p:blipFill>
        <p:spPr>
          <a:xfrm>
            <a:off x="8778240" y="2011680"/>
            <a:ext cx="2347625" cy="2926080"/>
          </a:xfrm>
          <a:prstGeom prst="rect">
            <a:avLst/>
          </a:prstGeom>
        </p:spPr>
      </p:pic>
      <p:sp>
        <p:nvSpPr>
          <p:cNvPr id="11" name="Hexagon 10"/>
          <p:cNvSpPr/>
          <p:nvPr/>
        </p:nvSpPr>
        <p:spPr>
          <a:xfrm>
            <a:off x="713232" y="189280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1783080"/>
            <a:ext cx="704088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Un registre d'API : les producers publient, les consumers découvrent</a:t>
            </a:r>
          </a:p>
        </p:txBody>
      </p:sp>
      <p:sp>
        <p:nvSpPr>
          <p:cNvPr id="13" name="Hexagon 12"/>
          <p:cNvSpPr/>
          <p:nvPr/>
        </p:nvSpPr>
        <p:spPr>
          <a:xfrm>
            <a:off x="713232" y="2880360"/>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770632"/>
            <a:ext cx="704088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De l'IA par-dessus pour générer ce qui gravite autour</a:t>
            </a:r>
          </a:p>
        </p:txBody>
      </p:sp>
      <p:sp>
        <p:nvSpPr>
          <p:cNvPr id="15" name="Hexagon 14"/>
          <p:cNvSpPr/>
          <p:nvPr/>
        </p:nvSpPr>
        <p:spPr>
          <a:xfrm>
            <a:off x="713232" y="3520440"/>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410712"/>
            <a:ext cx="704088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Back Python / FastAPI en archi hexagonale</a:t>
            </a:r>
          </a:p>
        </p:txBody>
      </p:sp>
      <p:sp>
        <p:nvSpPr>
          <p:cNvPr id="17" name="Hexagon 16"/>
          <p:cNvSpPr/>
          <p:nvPr/>
        </p:nvSpPr>
        <p:spPr>
          <a:xfrm>
            <a:off x="713232" y="4160520"/>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4050792"/>
            <a:ext cx="704088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GCP : Cloud Run, IAP, IaC Terragrunt</a:t>
            </a:r>
          </a:p>
        </p:txBody>
      </p:sp>
      <p:sp>
        <p:nvSpPr>
          <p:cNvPr id="19" name="Hexagon 18"/>
          <p:cNvSpPr/>
          <p:nvPr/>
        </p:nvSpPr>
        <p:spPr>
          <a:xfrm>
            <a:off x="713232" y="4800600"/>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690872"/>
            <a:ext cx="704088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CI/CD GitHub Actions, du trunk à la prod</a:t>
            </a:r>
          </a:p>
        </p:txBody>
      </p:sp>
      <p:pic>
        <p:nvPicPr>
          <p:cNvPr id="21"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2" name="TextBox 21"/>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3/32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xagon 1"/>
          <p:cNvSpPr/>
          <p:nvPr/>
        </p:nvSpPr>
        <p:spPr>
          <a:xfrm>
            <a:off x="10469880"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10957438"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10713659"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xagon 4"/>
          <p:cNvSpPr/>
          <p:nvPr/>
        </p:nvSpPr>
        <p:spPr>
          <a:xfrm>
            <a:off x="11201217"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469880"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xagon 6"/>
          <p:cNvSpPr/>
          <p:nvPr/>
        </p:nvSpPr>
        <p:spPr>
          <a:xfrm>
            <a:off x="10957438"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L'équipe</a:t>
            </a:r>
          </a:p>
        </p:txBody>
      </p:sp>
      <p:sp>
        <p:nvSpPr>
          <p:cNvPr id="9" name="Rectangle 8"/>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bee_grad.png" descr="bee_grad.png"/>
          <p:cNvPicPr>
            <a:picLocks noChangeAspect="1"/>
          </p:cNvPicPr>
          <p:nvPr/>
        </p:nvPicPr>
        <p:blipFill>
          <a:blip r:embed="rId2"/>
          <a:stretch>
            <a:fillRect/>
          </a:stretch>
        </p:blipFill>
        <p:spPr>
          <a:xfrm>
            <a:off x="8778240" y="2011680"/>
            <a:ext cx="2151529" cy="2926080"/>
          </a:xfrm>
          <a:prstGeom prst="rect">
            <a:avLst/>
          </a:prstGeom>
        </p:spPr>
      </p:pic>
      <p:sp>
        <p:nvSpPr>
          <p:cNvPr id="11" name="Hexagon 10"/>
          <p:cNvSpPr/>
          <p:nvPr/>
        </p:nvSpPr>
        <p:spPr>
          <a:xfrm>
            <a:off x="713232" y="189280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1783080"/>
            <a:ext cx="704088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Une équipe de 8 personnes</a:t>
            </a:r>
          </a:p>
        </p:txBody>
      </p:sp>
      <p:sp>
        <p:nvSpPr>
          <p:cNvPr id="13" name="Hexagon 12"/>
          <p:cNvSpPr/>
          <p:nvPr/>
        </p:nvSpPr>
        <p:spPr>
          <a:xfrm>
            <a:off x="713232" y="253288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423160"/>
            <a:ext cx="704088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Quelques seniors… un junior… et un stagiaire</a:t>
            </a:r>
          </a:p>
        </p:txBody>
      </p:sp>
      <p:sp>
        <p:nvSpPr>
          <p:cNvPr id="15" name="Hexagon 14"/>
          <p:cNvSpPr/>
          <p:nvPr/>
        </p:nvSpPr>
        <p:spPr>
          <a:xfrm>
            <a:off x="713232" y="317296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063240"/>
            <a:ext cx="704088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Les seniors ont posé les fondations : backend, cloud, IaC</a:t>
            </a:r>
          </a:p>
        </p:txBody>
      </p:sp>
      <p:sp>
        <p:nvSpPr>
          <p:cNvPr id="17" name="Hexagon 16"/>
          <p:cNvSpPr/>
          <p:nvPr/>
        </p:nvSpPr>
        <p:spPr>
          <a:xfrm>
            <a:off x="713232" y="381304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703320"/>
            <a:ext cx="704088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Des concepts pas évidents à s'approprier pour tout le monde</a:t>
            </a:r>
          </a:p>
        </p:txBody>
      </p:sp>
      <p:sp>
        <p:nvSpPr>
          <p:cNvPr id="19" name="Rectangle 18"/>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Claude aide chacun à avancer. Mais chacun à sa façon.</a:t>
            </a:r>
          </a:p>
        </p:txBody>
      </p:sp>
      <p:pic>
        <p:nvPicPr>
          <p:cNvPr id="21"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2" name="TextBox 21"/>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4/32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xagon 1"/>
          <p:cNvSpPr/>
          <p:nvPr/>
        </p:nvSpPr>
        <p:spPr>
          <a:xfrm>
            <a:off x="10469880"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10957438"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10713659"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xagon 4"/>
          <p:cNvSpPr/>
          <p:nvPr/>
        </p:nvSpPr>
        <p:spPr>
          <a:xfrm>
            <a:off x="11201217"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469880"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xagon 6"/>
          <p:cNvSpPr/>
          <p:nvPr/>
        </p:nvSpPr>
        <p:spPr>
          <a:xfrm>
            <a:off x="10957438"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Le problème : ça diverge</a:t>
            </a:r>
          </a:p>
        </p:txBody>
      </p:sp>
      <p:sp>
        <p:nvSpPr>
          <p:cNvPr id="9" name="Rectangle 8"/>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exagon 9"/>
          <p:cNvSpPr/>
          <p:nvPr/>
        </p:nvSpPr>
        <p:spPr>
          <a:xfrm>
            <a:off x="713232" y="189280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78308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Chacun génère avec Claude Code dans son coin</a:t>
            </a:r>
          </a:p>
        </p:txBody>
      </p:sp>
      <p:sp>
        <p:nvSpPr>
          <p:cNvPr id="12" name="Hexagon 11"/>
          <p:cNvSpPr/>
          <p:nvPr/>
        </p:nvSpPr>
        <p:spPr>
          <a:xfrm>
            <a:off x="713232" y="253288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42316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Chacun son CLAUDE.md global, ses habitudes, ses prompts</a:t>
            </a:r>
          </a:p>
        </p:txBody>
      </p:sp>
      <p:sp>
        <p:nvSpPr>
          <p:cNvPr id="14" name="Hexagon 13"/>
          <p:cNvSpPr/>
          <p:nvPr/>
        </p:nvSpPr>
        <p:spPr>
          <a:xfrm>
            <a:off x="713232" y="317296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06324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Nouveau backend, nouvelle stack IaC : conventions ignorées</a:t>
            </a:r>
          </a:p>
        </p:txBody>
      </p:sp>
      <p:sp>
        <p:nvSpPr>
          <p:cNvPr id="16" name="Hexagon 15"/>
          <p:cNvSpPr/>
          <p:nvPr/>
        </p:nvSpPr>
        <p:spPr>
          <a:xfrm>
            <a:off x="713232" y="381304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0332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Dockerfile, tests, CI, PR : huit devs, huit façons de faire</a:t>
            </a:r>
          </a:p>
        </p:txBody>
      </p:sp>
      <p:sp>
        <p:nvSpPr>
          <p:cNvPr id="18" name="Rectangle 17"/>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Même IA, même stack… et pourtant du code qui ne se ressemble pas.</a:t>
            </a:r>
          </a:p>
        </p:txBody>
      </p:sp>
      <p:pic>
        <p:nvPicPr>
          <p:cNvPr id="20" name="bee.png" descr="bee.png"/>
          <p:cNvPicPr>
            <a:picLocks noChangeAspect="1"/>
          </p:cNvPicPr>
          <p:nvPr/>
        </p:nvPicPr>
        <p:blipFill>
          <a:blip r:embed="rId3"/>
          <a:stretch>
            <a:fillRect/>
          </a:stretch>
        </p:blipFill>
        <p:spPr>
          <a:xfrm rot="600000">
            <a:off x="10835640" y="274320"/>
            <a:ext cx="813222" cy="960120"/>
          </a:xfrm>
          <a:prstGeom prst="rect">
            <a:avLst/>
          </a:prstGeom>
        </p:spPr>
      </p:pic>
      <p:pic>
        <p:nvPicPr>
          <p:cNvPr id="21"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2" name="TextBox 21"/>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5/32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Première idée : un CLAUDE.md commun</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417320" y="3223260"/>
            <a:ext cx="9326880" cy="45720"/>
          </a:xfrm>
          <a:prstGeom prst="rect">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417320" y="3218688"/>
            <a:ext cx="2331720" cy="54864"/>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60704" y="2889504"/>
            <a:ext cx="713232" cy="713232"/>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FFFFFF"/>
                </a:solidFill>
                <a:latin typeface="Avenir Next"/>
              </a:rPr>
              <a:t>1</a:t>
            </a:r>
          </a:p>
        </p:txBody>
      </p:sp>
      <p:sp>
        <p:nvSpPr>
          <p:cNvPr id="7" name="TextBox 6"/>
          <p:cNvSpPr txBox="1"/>
          <p:nvPr/>
        </p:nvSpPr>
        <p:spPr>
          <a:xfrm>
            <a:off x="274320" y="3931920"/>
            <a:ext cx="2286000" cy="1280160"/>
          </a:xfrm>
          <a:prstGeom prst="rect">
            <a:avLst/>
          </a:prstGeom>
          <a:noFill/>
        </p:spPr>
        <p:txBody>
          <a:bodyPr wrap="square" lIns="0" rIns="0" tIns="0" bIns="0">
            <a:spAutoFit/>
          </a:bodyPr>
          <a:lstStyle/>
          <a:p>
            <a:pPr algn="ctr">
              <a:spcAft>
                <a:spcPts val="400"/>
              </a:spcAft>
            </a:pPr>
            <a:r>
              <a:rPr sz="1500" b="1">
                <a:solidFill>
                  <a:srgbClr val="14141A"/>
                </a:solidFill>
                <a:latin typeface="Avenir Next"/>
              </a:rPr>
              <a:t>CLAUDE.md perso</a:t>
            </a:r>
          </a:p>
          <a:p>
            <a:pPr algn="ctr">
              <a:spcAft>
                <a:spcPts val="0"/>
              </a:spcAft>
            </a:pPr>
            <a:r>
              <a:rPr sz="1300">
                <a:solidFill>
                  <a:srgbClr val="5B6372"/>
                </a:solidFill>
                <a:latin typeface="Avenir Next"/>
              </a:rPr>
              <a:t>chacun son Claude</a:t>
            </a:r>
          </a:p>
        </p:txBody>
      </p:sp>
      <p:sp>
        <p:nvSpPr>
          <p:cNvPr id="8" name="Hexagon 7"/>
          <p:cNvSpPr/>
          <p:nvPr/>
        </p:nvSpPr>
        <p:spPr>
          <a:xfrm>
            <a:off x="3268980" y="2766060"/>
            <a:ext cx="960120" cy="960120"/>
          </a:xfrm>
          <a:prstGeom prst="hexagon">
            <a:avLst/>
          </a:prstGeom>
          <a:gradFill rotWithShape="1">
            <a:gsLst>
              <a:gs pos="0">
                <a:srgbClr val="00B5FB"/>
              </a:gs>
              <a:gs pos="100000">
                <a:srgbClr val="974E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600" b="1">
                <a:solidFill>
                  <a:srgbClr val="FFFFFF"/>
                </a:solidFill>
                <a:latin typeface="Avenir Next"/>
              </a:rPr>
              <a:t>2</a:t>
            </a:r>
          </a:p>
        </p:txBody>
      </p:sp>
      <p:sp>
        <p:nvSpPr>
          <p:cNvPr id="9" name="TextBox 8"/>
          <p:cNvSpPr txBox="1"/>
          <p:nvPr/>
        </p:nvSpPr>
        <p:spPr>
          <a:xfrm>
            <a:off x="2606040" y="3931920"/>
            <a:ext cx="2286000" cy="1280160"/>
          </a:xfrm>
          <a:prstGeom prst="rect">
            <a:avLst/>
          </a:prstGeom>
          <a:noFill/>
        </p:spPr>
        <p:txBody>
          <a:bodyPr wrap="square" lIns="0" rIns="0" tIns="0" bIns="0">
            <a:spAutoFit/>
          </a:bodyPr>
          <a:lstStyle/>
          <a:p>
            <a:pPr algn="ctr">
              <a:spcAft>
                <a:spcPts val="400"/>
              </a:spcAft>
            </a:pPr>
            <a:r>
              <a:rPr sz="1700" b="1">
                <a:solidFill>
                  <a:srgbClr val="14141A"/>
                </a:solidFill>
                <a:latin typeface="Avenir Next"/>
              </a:rPr>
              <a:t>CLAUDE.md partagé</a:t>
            </a:r>
          </a:p>
          <a:p>
            <a:pPr algn="ctr">
              <a:spcAft>
                <a:spcPts val="0"/>
              </a:spcAft>
            </a:pPr>
            <a:r>
              <a:rPr sz="1300">
                <a:solidFill>
                  <a:srgbClr val="2A2F3A"/>
                </a:solidFill>
                <a:latin typeface="Avenir Next"/>
              </a:rPr>
              <a:t>un fichier pour tous</a:t>
            </a:r>
          </a:p>
        </p:txBody>
      </p:sp>
      <p:pic>
        <p:nvPicPr>
          <p:cNvPr id="10" name="bee_happy.png" descr="bee_happy.png"/>
          <p:cNvPicPr>
            <a:picLocks noChangeAspect="1"/>
          </p:cNvPicPr>
          <p:nvPr/>
        </p:nvPicPr>
        <p:blipFill>
          <a:blip r:embed="rId2"/>
          <a:stretch>
            <a:fillRect/>
          </a:stretch>
        </p:blipFill>
        <p:spPr>
          <a:xfrm>
            <a:off x="3337560" y="1371601"/>
            <a:ext cx="953723" cy="1188720"/>
          </a:xfrm>
          <a:prstGeom prst="rect">
            <a:avLst/>
          </a:prstGeom>
        </p:spPr>
      </p:pic>
      <p:sp>
        <p:nvSpPr>
          <p:cNvPr id="11" name="Hexagon 10"/>
          <p:cNvSpPr/>
          <p:nvPr/>
        </p:nvSpPr>
        <p:spPr>
          <a:xfrm>
            <a:off x="5724144" y="2889504"/>
            <a:ext cx="713232" cy="713232"/>
          </a:xfrm>
          <a:prstGeom prst="hexagon">
            <a:avLst/>
          </a:prstGeom>
          <a:solidFill>
            <a:srgbClr val="EBF6FE"/>
          </a:solidFill>
          <a:ln w="19050">
            <a:solidFill>
              <a:srgbClr val="C9C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5B6372"/>
                </a:solidFill>
                <a:latin typeface="Avenir Next"/>
              </a:rPr>
              <a:t>3</a:t>
            </a:r>
          </a:p>
        </p:txBody>
      </p:sp>
      <p:sp>
        <p:nvSpPr>
          <p:cNvPr id="12" name="TextBox 11"/>
          <p:cNvSpPr txBox="1"/>
          <p:nvPr/>
        </p:nvSpPr>
        <p:spPr>
          <a:xfrm>
            <a:off x="4937760" y="3931920"/>
            <a:ext cx="2286000" cy="1280160"/>
          </a:xfrm>
          <a:prstGeom prst="rect">
            <a:avLst/>
          </a:prstGeom>
          <a:noFill/>
        </p:spPr>
        <p:txBody>
          <a:bodyPr wrap="square" lIns="0" rIns="0" tIns="0" bIns="0">
            <a:spAutoFit/>
          </a:bodyPr>
          <a:lstStyle/>
          <a:p>
            <a:pPr algn="ctr">
              <a:spcAft>
                <a:spcPts val="400"/>
              </a:spcAft>
            </a:pPr>
            <a:r>
              <a:rPr sz="1500" b="1">
                <a:solidFill>
                  <a:srgbClr val="5B6372"/>
                </a:solidFill>
                <a:latin typeface="Avenir Next"/>
              </a:rPr>
              <a:t>Skills modulaires</a:t>
            </a:r>
          </a:p>
          <a:p>
            <a:pPr algn="ctr">
              <a:spcAft>
                <a:spcPts val="0"/>
              </a:spcAft>
            </a:pPr>
            <a:r>
              <a:rPr sz="1300">
                <a:solidFill>
                  <a:srgbClr val="5B6372"/>
                </a:solidFill>
                <a:latin typeface="Avenir Next"/>
              </a:rPr>
              <a:t>chargés à la demande</a:t>
            </a:r>
          </a:p>
        </p:txBody>
      </p:sp>
      <p:sp>
        <p:nvSpPr>
          <p:cNvPr id="13" name="Hexagon 12"/>
          <p:cNvSpPr/>
          <p:nvPr/>
        </p:nvSpPr>
        <p:spPr>
          <a:xfrm>
            <a:off x="8055864" y="2889504"/>
            <a:ext cx="713232" cy="713232"/>
          </a:xfrm>
          <a:prstGeom prst="hexagon">
            <a:avLst/>
          </a:prstGeom>
          <a:solidFill>
            <a:srgbClr val="EBF6FE"/>
          </a:solidFill>
          <a:ln w="19050">
            <a:solidFill>
              <a:srgbClr val="C9C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5B6372"/>
                </a:solidFill>
                <a:latin typeface="Avenir Next"/>
              </a:rPr>
              <a:t>4</a:t>
            </a:r>
          </a:p>
        </p:txBody>
      </p:sp>
      <p:sp>
        <p:nvSpPr>
          <p:cNvPr id="14" name="TextBox 13"/>
          <p:cNvSpPr txBox="1"/>
          <p:nvPr/>
        </p:nvSpPr>
        <p:spPr>
          <a:xfrm>
            <a:off x="7269480" y="3931920"/>
            <a:ext cx="2286000" cy="1280160"/>
          </a:xfrm>
          <a:prstGeom prst="rect">
            <a:avLst/>
          </a:prstGeom>
          <a:noFill/>
        </p:spPr>
        <p:txBody>
          <a:bodyPr wrap="square" lIns="0" rIns="0" tIns="0" bIns="0">
            <a:spAutoFit/>
          </a:bodyPr>
          <a:lstStyle/>
          <a:p>
            <a:pPr algn="ctr">
              <a:spcAft>
                <a:spcPts val="400"/>
              </a:spcAft>
            </a:pPr>
            <a:r>
              <a:rPr sz="1500" b="1">
                <a:solidFill>
                  <a:srgbClr val="5B6372"/>
                </a:solidFill>
                <a:latin typeface="Avenir Next"/>
              </a:rPr>
              <a:t>Sync global</a:t>
            </a:r>
          </a:p>
          <a:p>
            <a:pPr algn="ctr">
              <a:spcAft>
                <a:spcPts val="0"/>
              </a:spcAft>
            </a:pPr>
            <a:r>
              <a:rPr sz="1300">
                <a:solidFill>
                  <a:srgbClr val="5B6372"/>
                </a:solidFill>
                <a:latin typeface="Avenir Next"/>
              </a:rPr>
              <a:t>~/.claude/skills</a:t>
            </a:r>
          </a:p>
        </p:txBody>
      </p:sp>
      <p:sp>
        <p:nvSpPr>
          <p:cNvPr id="15" name="Hexagon 14"/>
          <p:cNvSpPr/>
          <p:nvPr/>
        </p:nvSpPr>
        <p:spPr>
          <a:xfrm>
            <a:off x="10387584" y="2889504"/>
            <a:ext cx="713232" cy="713232"/>
          </a:xfrm>
          <a:prstGeom prst="hexagon">
            <a:avLst/>
          </a:prstGeom>
          <a:solidFill>
            <a:srgbClr val="EBF6FE"/>
          </a:solidFill>
          <a:ln w="19050">
            <a:solidFill>
              <a:srgbClr val="C9C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5B6372"/>
                </a:solidFill>
                <a:latin typeface="Avenir Next"/>
              </a:rPr>
              <a:t>5</a:t>
            </a:r>
          </a:p>
        </p:txBody>
      </p:sp>
      <p:sp>
        <p:nvSpPr>
          <p:cNvPr id="16" name="TextBox 15"/>
          <p:cNvSpPr txBox="1"/>
          <p:nvPr/>
        </p:nvSpPr>
        <p:spPr>
          <a:xfrm>
            <a:off x="9601200" y="3931920"/>
            <a:ext cx="2286000" cy="1280160"/>
          </a:xfrm>
          <a:prstGeom prst="rect">
            <a:avLst/>
          </a:prstGeom>
          <a:noFill/>
        </p:spPr>
        <p:txBody>
          <a:bodyPr wrap="square" lIns="0" rIns="0" tIns="0" bIns="0">
            <a:spAutoFit/>
          </a:bodyPr>
          <a:lstStyle/>
          <a:p>
            <a:pPr algn="ctr">
              <a:spcAft>
                <a:spcPts val="400"/>
              </a:spcAft>
            </a:pPr>
            <a:r>
              <a:rPr sz="1500" b="1">
                <a:solidFill>
                  <a:srgbClr val="5B6372"/>
                </a:solidFill>
                <a:latin typeface="Avenir Next"/>
              </a:rPr>
              <a:t>Skills par projet</a:t>
            </a:r>
          </a:p>
          <a:p>
            <a:pPr algn="ctr">
              <a:spcAft>
                <a:spcPts val="0"/>
              </a:spcAft>
            </a:pPr>
            <a:r>
              <a:rPr sz="1300">
                <a:solidFill>
                  <a:srgbClr val="5B6372"/>
                </a:solidFill>
                <a:latin typeface="Avenir Next"/>
              </a:rPr>
              <a:t>pollen.yaml</a:t>
            </a:r>
          </a:p>
        </p:txBody>
      </p:sp>
      <p:sp>
        <p:nvSpPr>
          <p:cNvPr id="17" name="Rectangle 16"/>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Un fichier pour tous : la bonne idée… pour un temps.</a:t>
            </a:r>
          </a:p>
        </p:txBody>
      </p:sp>
      <p:pic>
        <p:nvPicPr>
          <p:cNvPr id="19"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0" name="TextBox 19"/>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6/32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xagon 1"/>
          <p:cNvSpPr/>
          <p:nvPr/>
        </p:nvSpPr>
        <p:spPr>
          <a:xfrm>
            <a:off x="10469880"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10957438"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10713659"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xagon 4"/>
          <p:cNvSpPr/>
          <p:nvPr/>
        </p:nvSpPr>
        <p:spPr>
          <a:xfrm>
            <a:off x="11201217"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469880"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xagon 6"/>
          <p:cNvSpPr/>
          <p:nvPr/>
        </p:nvSpPr>
        <p:spPr>
          <a:xfrm>
            <a:off x="10957438"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Le CLAUDE.md qui grossit</a:t>
            </a:r>
          </a:p>
        </p:txBody>
      </p:sp>
      <p:sp>
        <p:nvSpPr>
          <p:cNvPr id="9" name="Rectangle 8"/>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exagon 9"/>
          <p:cNvSpPr/>
          <p:nvPr/>
        </p:nvSpPr>
        <p:spPr>
          <a:xfrm>
            <a:off x="713232" y="189280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78308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Ça marche… au début</a:t>
            </a:r>
          </a:p>
        </p:txBody>
      </p:sp>
      <p:sp>
        <p:nvSpPr>
          <p:cNvPr id="12" name="Hexagon 11"/>
          <p:cNvSpPr/>
          <p:nvPr/>
        </p:nvSpPr>
        <p:spPr>
          <a:xfrm>
            <a:off x="713232" y="253288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42316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Chaque règle ajoutée pour tous, chargée à chaque session</a:t>
            </a:r>
          </a:p>
        </p:txBody>
      </p:sp>
      <p:sp>
        <p:nvSpPr>
          <p:cNvPr id="14" name="Hexagon 13"/>
          <p:cNvSpPr/>
          <p:nvPr/>
        </p:nvSpPr>
        <p:spPr>
          <a:xfrm>
            <a:off x="713232" y="317296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06324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Un monolithe : Docker, Terragrunt, commits, tests… tout mélangé</a:t>
            </a:r>
          </a:p>
        </p:txBody>
      </p:sp>
      <p:sp>
        <p:nvSpPr>
          <p:cNvPr id="16" name="Hexagon 15"/>
          <p:cNvSpPr/>
          <p:nvPr/>
        </p:nvSpPr>
        <p:spPr>
          <a:xfrm>
            <a:off x="713232" y="381304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0332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Coûteux en tokens, et du bruit pour l'IA</a:t>
            </a:r>
          </a:p>
        </p:txBody>
      </p:sp>
      <p:sp>
        <p:nvSpPr>
          <p:cNvPr id="18" name="Hexagon 17"/>
          <p:cNvSpPr/>
          <p:nvPr/>
        </p:nvSpPr>
        <p:spPr>
          <a:xfrm>
            <a:off x="713232" y="445312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4340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Personne n'ose plus y toucher</a:t>
            </a:r>
          </a:p>
        </p:txBody>
      </p:sp>
      <p:sp>
        <p:nvSpPr>
          <p:cNvPr id="20" name="Rectangle 19"/>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On a recréé le monolithe qu'on refuse dans notre code.</a:t>
            </a:r>
          </a:p>
        </p:txBody>
      </p:sp>
      <p:pic>
        <p:nvPicPr>
          <p:cNvPr id="22" name="bee_cool.png" descr="bee_cool.png"/>
          <p:cNvPicPr>
            <a:picLocks noChangeAspect="1"/>
          </p:cNvPicPr>
          <p:nvPr/>
        </p:nvPicPr>
        <p:blipFill>
          <a:blip r:embed="rId3"/>
          <a:stretch>
            <a:fillRect/>
          </a:stretch>
        </p:blipFill>
        <p:spPr>
          <a:xfrm rot="21120000">
            <a:off x="10789920" y="274320"/>
            <a:ext cx="907143" cy="914400"/>
          </a:xfrm>
          <a:prstGeom prst="rect">
            <a:avLst/>
          </a:prstGeom>
        </p:spPr>
      </p:pic>
      <p:pic>
        <p:nvPicPr>
          <p:cNvPr id="23"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4" name="TextBox 23"/>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7/32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Du monolithe aux modules : les skills</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417320" y="3223260"/>
            <a:ext cx="9326880" cy="45720"/>
          </a:xfrm>
          <a:prstGeom prst="rect">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417320" y="3218688"/>
            <a:ext cx="4663440" cy="54864"/>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60704" y="2889504"/>
            <a:ext cx="713232" cy="713232"/>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FFFFFF"/>
                </a:solidFill>
                <a:latin typeface="Avenir Next"/>
              </a:rPr>
              <a:t>1</a:t>
            </a:r>
          </a:p>
        </p:txBody>
      </p:sp>
      <p:sp>
        <p:nvSpPr>
          <p:cNvPr id="7" name="TextBox 6"/>
          <p:cNvSpPr txBox="1"/>
          <p:nvPr/>
        </p:nvSpPr>
        <p:spPr>
          <a:xfrm>
            <a:off x="274320" y="3931920"/>
            <a:ext cx="2286000" cy="1280160"/>
          </a:xfrm>
          <a:prstGeom prst="rect">
            <a:avLst/>
          </a:prstGeom>
          <a:noFill/>
        </p:spPr>
        <p:txBody>
          <a:bodyPr wrap="square" lIns="0" rIns="0" tIns="0" bIns="0">
            <a:spAutoFit/>
          </a:bodyPr>
          <a:lstStyle/>
          <a:p>
            <a:pPr algn="ctr">
              <a:spcAft>
                <a:spcPts val="400"/>
              </a:spcAft>
            </a:pPr>
            <a:r>
              <a:rPr sz="1500" b="1">
                <a:solidFill>
                  <a:srgbClr val="14141A"/>
                </a:solidFill>
                <a:latin typeface="Avenir Next"/>
              </a:rPr>
              <a:t>CLAUDE.md perso</a:t>
            </a:r>
          </a:p>
          <a:p>
            <a:pPr algn="ctr">
              <a:spcAft>
                <a:spcPts val="0"/>
              </a:spcAft>
            </a:pPr>
            <a:r>
              <a:rPr sz="1300">
                <a:solidFill>
                  <a:srgbClr val="5B6372"/>
                </a:solidFill>
                <a:latin typeface="Avenir Next"/>
              </a:rPr>
              <a:t>chacun son Claude</a:t>
            </a:r>
          </a:p>
        </p:txBody>
      </p:sp>
      <p:sp>
        <p:nvSpPr>
          <p:cNvPr id="8" name="Hexagon 7"/>
          <p:cNvSpPr/>
          <p:nvPr/>
        </p:nvSpPr>
        <p:spPr>
          <a:xfrm>
            <a:off x="3392424" y="2889504"/>
            <a:ext cx="713232" cy="713232"/>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FFFFFF"/>
                </a:solidFill>
                <a:latin typeface="Avenir Next"/>
              </a:rPr>
              <a:t>2</a:t>
            </a:r>
          </a:p>
        </p:txBody>
      </p:sp>
      <p:sp>
        <p:nvSpPr>
          <p:cNvPr id="9" name="TextBox 8"/>
          <p:cNvSpPr txBox="1"/>
          <p:nvPr/>
        </p:nvSpPr>
        <p:spPr>
          <a:xfrm>
            <a:off x="2606040" y="3931920"/>
            <a:ext cx="2286000" cy="1280160"/>
          </a:xfrm>
          <a:prstGeom prst="rect">
            <a:avLst/>
          </a:prstGeom>
          <a:noFill/>
        </p:spPr>
        <p:txBody>
          <a:bodyPr wrap="square" lIns="0" rIns="0" tIns="0" bIns="0">
            <a:spAutoFit/>
          </a:bodyPr>
          <a:lstStyle/>
          <a:p>
            <a:pPr algn="ctr">
              <a:spcAft>
                <a:spcPts val="400"/>
              </a:spcAft>
            </a:pPr>
            <a:r>
              <a:rPr sz="1500" b="1">
                <a:solidFill>
                  <a:srgbClr val="14141A"/>
                </a:solidFill>
                <a:latin typeface="Avenir Next"/>
              </a:rPr>
              <a:t>CLAUDE.md partagé</a:t>
            </a:r>
          </a:p>
          <a:p>
            <a:pPr algn="ctr">
              <a:spcAft>
                <a:spcPts val="0"/>
              </a:spcAft>
            </a:pPr>
            <a:r>
              <a:rPr sz="1300">
                <a:solidFill>
                  <a:srgbClr val="5B6372"/>
                </a:solidFill>
                <a:latin typeface="Avenir Next"/>
              </a:rPr>
              <a:t>un fichier pour tous</a:t>
            </a:r>
          </a:p>
        </p:txBody>
      </p:sp>
      <p:sp>
        <p:nvSpPr>
          <p:cNvPr id="10" name="Hexagon 9"/>
          <p:cNvSpPr/>
          <p:nvPr/>
        </p:nvSpPr>
        <p:spPr>
          <a:xfrm>
            <a:off x="5600700" y="2766060"/>
            <a:ext cx="960120" cy="960120"/>
          </a:xfrm>
          <a:prstGeom prst="hexagon">
            <a:avLst/>
          </a:prstGeom>
          <a:gradFill rotWithShape="1">
            <a:gsLst>
              <a:gs pos="0">
                <a:srgbClr val="00B5FB"/>
              </a:gs>
              <a:gs pos="100000">
                <a:srgbClr val="974E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600" b="1">
                <a:solidFill>
                  <a:srgbClr val="FFFFFF"/>
                </a:solidFill>
                <a:latin typeface="Avenir Next"/>
              </a:rPr>
              <a:t>3</a:t>
            </a:r>
          </a:p>
        </p:txBody>
      </p:sp>
      <p:sp>
        <p:nvSpPr>
          <p:cNvPr id="11" name="TextBox 10"/>
          <p:cNvSpPr txBox="1"/>
          <p:nvPr/>
        </p:nvSpPr>
        <p:spPr>
          <a:xfrm>
            <a:off x="4937760" y="3931920"/>
            <a:ext cx="2286000" cy="1280160"/>
          </a:xfrm>
          <a:prstGeom prst="rect">
            <a:avLst/>
          </a:prstGeom>
          <a:noFill/>
        </p:spPr>
        <p:txBody>
          <a:bodyPr wrap="square" lIns="0" rIns="0" tIns="0" bIns="0">
            <a:spAutoFit/>
          </a:bodyPr>
          <a:lstStyle/>
          <a:p>
            <a:pPr algn="ctr">
              <a:spcAft>
                <a:spcPts val="400"/>
              </a:spcAft>
            </a:pPr>
            <a:r>
              <a:rPr sz="1700" b="1">
                <a:solidFill>
                  <a:srgbClr val="14141A"/>
                </a:solidFill>
                <a:latin typeface="Avenir Next"/>
              </a:rPr>
              <a:t>Skills modulaires</a:t>
            </a:r>
          </a:p>
          <a:p>
            <a:pPr algn="ctr">
              <a:spcAft>
                <a:spcPts val="0"/>
              </a:spcAft>
            </a:pPr>
            <a:r>
              <a:rPr sz="1300">
                <a:solidFill>
                  <a:srgbClr val="2A2F3A"/>
                </a:solidFill>
                <a:latin typeface="Avenir Next"/>
              </a:rPr>
              <a:t>chargés à la demande</a:t>
            </a:r>
          </a:p>
        </p:txBody>
      </p:sp>
      <p:pic>
        <p:nvPicPr>
          <p:cNvPr id="12" name="bee.png" descr="bee.png"/>
          <p:cNvPicPr>
            <a:picLocks noChangeAspect="1"/>
          </p:cNvPicPr>
          <p:nvPr/>
        </p:nvPicPr>
        <p:blipFill>
          <a:blip r:embed="rId2"/>
          <a:stretch>
            <a:fillRect/>
          </a:stretch>
        </p:blipFill>
        <p:spPr>
          <a:xfrm>
            <a:off x="5669280" y="1371601"/>
            <a:ext cx="1006846" cy="1188720"/>
          </a:xfrm>
          <a:prstGeom prst="rect">
            <a:avLst/>
          </a:prstGeom>
        </p:spPr>
      </p:pic>
      <p:sp>
        <p:nvSpPr>
          <p:cNvPr id="13" name="Hexagon 12"/>
          <p:cNvSpPr/>
          <p:nvPr/>
        </p:nvSpPr>
        <p:spPr>
          <a:xfrm>
            <a:off x="8055864" y="2889504"/>
            <a:ext cx="713232" cy="713232"/>
          </a:xfrm>
          <a:prstGeom prst="hexagon">
            <a:avLst/>
          </a:prstGeom>
          <a:solidFill>
            <a:srgbClr val="EBF6FE"/>
          </a:solidFill>
          <a:ln w="19050">
            <a:solidFill>
              <a:srgbClr val="C9C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5B6372"/>
                </a:solidFill>
                <a:latin typeface="Avenir Next"/>
              </a:rPr>
              <a:t>4</a:t>
            </a:r>
          </a:p>
        </p:txBody>
      </p:sp>
      <p:sp>
        <p:nvSpPr>
          <p:cNvPr id="14" name="TextBox 13"/>
          <p:cNvSpPr txBox="1"/>
          <p:nvPr/>
        </p:nvSpPr>
        <p:spPr>
          <a:xfrm>
            <a:off x="7269480" y="3931920"/>
            <a:ext cx="2286000" cy="1280160"/>
          </a:xfrm>
          <a:prstGeom prst="rect">
            <a:avLst/>
          </a:prstGeom>
          <a:noFill/>
        </p:spPr>
        <p:txBody>
          <a:bodyPr wrap="square" lIns="0" rIns="0" tIns="0" bIns="0">
            <a:spAutoFit/>
          </a:bodyPr>
          <a:lstStyle/>
          <a:p>
            <a:pPr algn="ctr">
              <a:spcAft>
                <a:spcPts val="400"/>
              </a:spcAft>
            </a:pPr>
            <a:r>
              <a:rPr sz="1500" b="1">
                <a:solidFill>
                  <a:srgbClr val="5B6372"/>
                </a:solidFill>
                <a:latin typeface="Avenir Next"/>
              </a:rPr>
              <a:t>Sync global</a:t>
            </a:r>
          </a:p>
          <a:p>
            <a:pPr algn="ctr">
              <a:spcAft>
                <a:spcPts val="0"/>
              </a:spcAft>
            </a:pPr>
            <a:r>
              <a:rPr sz="1300">
                <a:solidFill>
                  <a:srgbClr val="5B6372"/>
                </a:solidFill>
                <a:latin typeface="Avenir Next"/>
              </a:rPr>
              <a:t>~/.claude/skills</a:t>
            </a:r>
          </a:p>
        </p:txBody>
      </p:sp>
      <p:sp>
        <p:nvSpPr>
          <p:cNvPr id="15" name="Hexagon 14"/>
          <p:cNvSpPr/>
          <p:nvPr/>
        </p:nvSpPr>
        <p:spPr>
          <a:xfrm>
            <a:off x="10387584" y="2889504"/>
            <a:ext cx="713232" cy="713232"/>
          </a:xfrm>
          <a:prstGeom prst="hexagon">
            <a:avLst/>
          </a:prstGeom>
          <a:solidFill>
            <a:srgbClr val="EBF6FE"/>
          </a:solidFill>
          <a:ln w="19050">
            <a:solidFill>
              <a:srgbClr val="C9C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5B6372"/>
                </a:solidFill>
                <a:latin typeface="Avenir Next"/>
              </a:rPr>
              <a:t>5</a:t>
            </a:r>
          </a:p>
        </p:txBody>
      </p:sp>
      <p:sp>
        <p:nvSpPr>
          <p:cNvPr id="16" name="TextBox 15"/>
          <p:cNvSpPr txBox="1"/>
          <p:nvPr/>
        </p:nvSpPr>
        <p:spPr>
          <a:xfrm>
            <a:off x="9601200" y="3931920"/>
            <a:ext cx="2286000" cy="1280160"/>
          </a:xfrm>
          <a:prstGeom prst="rect">
            <a:avLst/>
          </a:prstGeom>
          <a:noFill/>
        </p:spPr>
        <p:txBody>
          <a:bodyPr wrap="square" lIns="0" rIns="0" tIns="0" bIns="0">
            <a:spAutoFit/>
          </a:bodyPr>
          <a:lstStyle/>
          <a:p>
            <a:pPr algn="ctr">
              <a:spcAft>
                <a:spcPts val="400"/>
              </a:spcAft>
            </a:pPr>
            <a:r>
              <a:rPr sz="1500" b="1">
                <a:solidFill>
                  <a:srgbClr val="5B6372"/>
                </a:solidFill>
                <a:latin typeface="Avenir Next"/>
              </a:rPr>
              <a:t>Skills par projet</a:t>
            </a:r>
          </a:p>
          <a:p>
            <a:pPr algn="ctr">
              <a:spcAft>
                <a:spcPts val="0"/>
              </a:spcAft>
            </a:pPr>
            <a:r>
              <a:rPr sz="1300">
                <a:solidFill>
                  <a:srgbClr val="5B6372"/>
                </a:solidFill>
                <a:latin typeface="Avenir Next"/>
              </a:rPr>
              <a:t>pollen.yaml</a:t>
            </a:r>
          </a:p>
        </p:txBody>
      </p:sp>
      <p:sp>
        <p:nvSpPr>
          <p:cNvPr id="17" name="Rectangle 16"/>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Découper, et ne charger que ce dont la tâche a besoin.</a:t>
            </a:r>
          </a:p>
        </p:txBody>
      </p:sp>
      <p:pic>
        <p:nvPicPr>
          <p:cNvPr id="19"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0" name="TextBox 19"/>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8/32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Anatomie d'un skill</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481328"/>
            <a:ext cx="10881360" cy="3255264"/>
          </a:xfrm>
          <a:prstGeom prst="rect">
            <a:avLst/>
          </a:prstGeom>
          <a:solidFill>
            <a:srgbClr val="1B1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20040" tIns="201168" rIns="182880" bIns="182880"/>
          <a:lstStyle/>
          <a:p>
            <a:pPr algn="l">
              <a:spcAft>
                <a:spcPts val="0"/>
              </a:spcAft>
            </a:pPr>
            <a:r>
              <a:rPr sz="1400">
                <a:solidFill>
                  <a:srgbClr val="00B5FB"/>
                </a:solidFill>
                <a:latin typeface="Consolas"/>
              </a:rPr>
              <a:t># skills/docker/docker-image-conventions/SKILL.md</a:t>
            </a:r>
          </a:p>
          <a:p>
            <a:pPr algn="l">
              <a:spcAft>
                <a:spcPts val="0"/>
              </a:spcAft>
            </a:pPr>
            <a:r>
              <a:rPr sz="1400">
                <a:solidFill>
                  <a:srgbClr val="E8EAF2"/>
                </a:solidFill>
                <a:latin typeface="Consolas"/>
              </a:rPr>
              <a:t>---</a:t>
            </a:r>
          </a:p>
          <a:p>
            <a:pPr algn="l">
              <a:spcAft>
                <a:spcPts val="0"/>
              </a:spcAft>
            </a:pPr>
            <a:r>
              <a:rPr sz="1400">
                <a:solidFill>
                  <a:srgbClr val="E8EAF2"/>
                </a:solidFill>
                <a:latin typeface="Consolas"/>
              </a:rPr>
              <a:t>name: docker-image-conventions</a:t>
            </a:r>
          </a:p>
          <a:p>
            <a:pPr algn="l">
              <a:spcAft>
                <a:spcPts val="0"/>
              </a:spcAft>
            </a:pPr>
            <a:r>
              <a:rPr sz="1400">
                <a:solidFill>
                  <a:srgbClr val="E8EAF2"/>
                </a:solidFill>
                <a:latin typeface="Consolas"/>
              </a:rPr>
              <a:t>description: Stack-agnostic conventions for production Dockerfiles —</a:t>
            </a:r>
          </a:p>
          <a:p>
            <a:pPr algn="l">
              <a:spcAft>
                <a:spcPts val="0"/>
              </a:spcAft>
            </a:pPr>
            <a:r>
              <a:rPr sz="1400">
                <a:solidFill>
                  <a:srgbClr val="E8EAF2"/>
                </a:solidFill>
                <a:latin typeface="Consolas"/>
              </a:rPr>
              <a:t>  multi-stage, non-root at runtime, smallest viable base image...</a:t>
            </a:r>
          </a:p>
          <a:p>
            <a:pPr algn="l">
              <a:spcAft>
                <a:spcPts val="0"/>
              </a:spcAft>
            </a:pPr>
            <a:r>
              <a:rPr sz="1400">
                <a:solidFill>
                  <a:srgbClr val="E8EAF2"/>
                </a:solidFill>
                <a:latin typeface="Consolas"/>
              </a:rPr>
              <a:t>  Trigger when creating, editing, or reviewing any Dockerfile.</a:t>
            </a:r>
          </a:p>
          <a:p>
            <a:pPr algn="l">
              <a:spcAft>
                <a:spcPts val="0"/>
              </a:spcAft>
            </a:pPr>
            <a:r>
              <a:rPr sz="1400">
                <a:solidFill>
                  <a:srgbClr val="E8EAF2"/>
                </a:solidFill>
                <a:latin typeface="Consolas"/>
              </a:rPr>
              <a:t>---</a:t>
            </a:r>
          </a:p>
          <a:p>
            <a:pPr algn="l">
              <a:spcAft>
                <a:spcPts val="0"/>
              </a:spcAft>
            </a:pPr>
            <a:r>
              <a:rPr sz="1400">
                <a:solidFill>
                  <a:srgbClr val="E8EAF2"/>
                </a:solidFill>
                <a:latin typeface="Consolas"/>
              </a:rPr>
              <a:t> </a:t>
            </a:r>
          </a:p>
          <a:p>
            <a:pPr algn="l">
              <a:spcAft>
                <a:spcPts val="0"/>
              </a:spcAft>
            </a:pPr>
            <a:r>
              <a:rPr sz="1400">
                <a:solidFill>
                  <a:srgbClr val="00B5FB"/>
                </a:solidFill>
                <a:latin typeface="Consolas"/>
              </a:rPr>
              <a:t># Production Docker images — multi-stage + non-root</a:t>
            </a:r>
          </a:p>
          <a:p>
            <a:pPr algn="l">
              <a:spcAft>
                <a:spcPts val="0"/>
              </a:spcAft>
            </a:pPr>
            <a:r>
              <a:rPr sz="1400">
                <a:solidFill>
                  <a:srgbClr val="E8EAF2"/>
                </a:solidFill>
                <a:latin typeface="Consolas"/>
              </a:rPr>
              <a:t>1. Multi-stage build : builder + runtime</a:t>
            </a:r>
          </a:p>
          <a:p>
            <a:pPr algn="l">
              <a:spcAft>
                <a:spcPts val="0"/>
              </a:spcAft>
            </a:pPr>
            <a:r>
              <a:rPr sz="1400">
                <a:solidFill>
                  <a:srgbClr val="E8EAF2"/>
                </a:solidFill>
                <a:latin typeface="Consolas"/>
              </a:rPr>
              <a:t>2. Non-root user at runtime</a:t>
            </a:r>
          </a:p>
          <a:p>
            <a:pPr algn="l">
              <a:spcAft>
                <a:spcPts val="0"/>
              </a:spcAft>
            </a:pPr>
            <a:r>
              <a:rPr sz="1400">
                <a:solidFill>
                  <a:srgbClr val="E8EAF2"/>
                </a:solidFill>
                <a:latin typeface="Consolas"/>
              </a:rPr>
              <a:t>...</a:t>
            </a:r>
          </a:p>
        </p:txBody>
      </p:sp>
      <p:sp>
        <p:nvSpPr>
          <p:cNvPr id="5" name="Rectangle 4"/>
          <p:cNvSpPr/>
          <p:nvPr/>
        </p:nvSpPr>
        <p:spPr>
          <a:xfrm>
            <a:off x="640080" y="1481328"/>
            <a:ext cx="64008" cy="3255264"/>
          </a:xfrm>
          <a:prstGeom prst="rect">
            <a:avLst/>
          </a:prstGeom>
          <a:gradFill rotWithShape="1">
            <a:gsLst>
              <a:gs pos="0">
                <a:srgbClr val="00B5FB"/>
              </a:gs>
              <a:gs pos="100000">
                <a:srgbClr val="974EFF"/>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937760"/>
            <a:ext cx="10881360" cy="457200"/>
          </a:xfrm>
          <a:prstGeom prst="rect">
            <a:avLst/>
          </a:prstGeom>
          <a:noFill/>
        </p:spPr>
        <p:txBody>
          <a:bodyPr wrap="square" lIns="0" rIns="0" tIns="0" bIns="0">
            <a:spAutoFit/>
          </a:bodyPr>
          <a:lstStyle/>
          <a:p>
            <a:pPr algn="l">
              <a:spcAft>
                <a:spcPts val="0"/>
              </a:spcAft>
            </a:pPr>
            <a:r>
              <a:rPr sz="1700" b="1">
                <a:solidFill>
                  <a:srgbClr val="974EFF"/>
                </a:solidFill>
                <a:latin typeface="Avenir Next"/>
              </a:rPr>
              <a:t>Seule la description est toujours chargée. Le corps, à la demande.</a:t>
            </a:r>
          </a:p>
        </p:txBody>
      </p:sp>
      <p:pic>
        <p:nvPicPr>
          <p:cNvPr id="7" name="logo.png" descr="logo.png"/>
          <p:cNvPicPr>
            <a:picLocks noChangeAspect="1"/>
          </p:cNvPicPr>
          <p:nvPr/>
        </p:nvPicPr>
        <p:blipFill>
          <a:blip r:embed="rId3"/>
          <a:stretch>
            <a:fillRect/>
          </a:stretch>
        </p:blipFill>
        <p:spPr>
          <a:xfrm>
            <a:off x="566928" y="6263640"/>
            <a:ext cx="899514" cy="274320"/>
          </a:xfrm>
          <a:prstGeom prst="rect">
            <a:avLst/>
          </a:prstGeom>
        </p:spPr>
      </p:pic>
      <p:sp>
        <p:nvSpPr>
          <p:cNvPr id="8" name="TextBox 7"/>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9/32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Un skill, c'est un dossier</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481328"/>
            <a:ext cx="10881360" cy="3721608"/>
          </a:xfrm>
          <a:prstGeom prst="rect">
            <a:avLst/>
          </a:prstGeom>
          <a:solidFill>
            <a:srgbClr val="1B1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20040" tIns="201168" rIns="182880" bIns="182880"/>
          <a:lstStyle/>
          <a:p>
            <a:pPr algn="l">
              <a:spcAft>
                <a:spcPts val="0"/>
              </a:spcAft>
            </a:pPr>
            <a:r>
              <a:rPr sz="1400">
                <a:solidFill>
                  <a:srgbClr val="E8EAF2"/>
                </a:solidFill>
                <a:latin typeface="Consolas"/>
              </a:rPr>
              <a:t>skills/</a:t>
            </a:r>
          </a:p>
          <a:p>
            <a:pPr algn="l">
              <a:spcAft>
                <a:spcPts val="0"/>
              </a:spcAft>
            </a:pPr>
            <a:r>
              <a:rPr sz="1400">
                <a:solidFill>
                  <a:srgbClr val="E8EAF2"/>
                </a:solidFill>
                <a:latin typeface="Consolas"/>
              </a:rPr>
              <a:t>├── docker/python-docker-multistage/</a:t>
            </a:r>
          </a:p>
          <a:p>
            <a:pPr algn="l">
              <a:spcAft>
                <a:spcPts val="0"/>
              </a:spcAft>
            </a:pPr>
            <a:r>
              <a:rPr sz="1400">
                <a:solidFill>
                  <a:srgbClr val="E8EAF2"/>
                </a:solidFill>
                <a:latin typeface="Consolas"/>
              </a:rPr>
              <a:t>│   ├── SKILL.md          # les règles : lu au déclenchement</a:t>
            </a:r>
          </a:p>
          <a:p>
            <a:pPr algn="l">
              <a:spcAft>
                <a:spcPts val="0"/>
              </a:spcAft>
            </a:pPr>
            <a:r>
              <a:rPr sz="1400">
                <a:solidFill>
                  <a:srgbClr val="E8EAF2"/>
                </a:solidFill>
                <a:latin typeface="Consolas"/>
              </a:rPr>
              <a:t>│   └── assets/           # copié dans le projet, puis adapté</a:t>
            </a:r>
          </a:p>
          <a:p>
            <a:pPr algn="l">
              <a:spcAft>
                <a:spcPts val="0"/>
              </a:spcAft>
            </a:pPr>
            <a:r>
              <a:rPr sz="1400">
                <a:solidFill>
                  <a:srgbClr val="E8EAF2"/>
                </a:solidFill>
                <a:latin typeface="Consolas"/>
              </a:rPr>
              <a:t>│       ├── Dockerfile</a:t>
            </a:r>
          </a:p>
          <a:p>
            <a:pPr algn="l">
              <a:spcAft>
                <a:spcPts val="0"/>
              </a:spcAft>
            </a:pPr>
            <a:r>
              <a:rPr sz="1400">
                <a:solidFill>
                  <a:srgbClr val="E8EAF2"/>
                </a:solidFill>
                <a:latin typeface="Consolas"/>
              </a:rPr>
              <a:t>│       └── dockerignore</a:t>
            </a:r>
          </a:p>
          <a:p>
            <a:pPr algn="l">
              <a:spcAft>
                <a:spcPts val="0"/>
              </a:spcAft>
            </a:pPr>
            <a:r>
              <a:rPr sz="1400">
                <a:solidFill>
                  <a:srgbClr val="E8EAF2"/>
                </a:solidFill>
                <a:latin typeface="Consolas"/>
              </a:rPr>
              <a:t>├── docker/docker-image-conventions/</a:t>
            </a:r>
          </a:p>
          <a:p>
            <a:pPr algn="l">
              <a:spcAft>
                <a:spcPts val="0"/>
              </a:spcAft>
            </a:pPr>
            <a:r>
              <a:rPr sz="1400">
                <a:solidFill>
                  <a:srgbClr val="E8EAF2"/>
                </a:solidFill>
                <a:latin typeface="Consolas"/>
              </a:rPr>
              <a:t>│   ├── SKILL.md</a:t>
            </a:r>
          </a:p>
          <a:p>
            <a:pPr algn="l">
              <a:spcAft>
                <a:spcPts val="0"/>
              </a:spcAft>
            </a:pPr>
            <a:r>
              <a:rPr sz="1400">
                <a:solidFill>
                  <a:srgbClr val="E8EAF2"/>
                </a:solidFill>
                <a:latin typeface="Consolas"/>
              </a:rPr>
              <a:t>│   └── references/       # lu seulement si la tâche le demande</a:t>
            </a:r>
          </a:p>
          <a:p>
            <a:pPr algn="l">
              <a:spcAft>
                <a:spcPts val="0"/>
              </a:spcAft>
            </a:pPr>
            <a:r>
              <a:rPr sz="1400">
                <a:solidFill>
                  <a:srgbClr val="E8EAF2"/>
                </a:solidFill>
                <a:latin typeface="Consolas"/>
              </a:rPr>
              <a:t>│       └── node.md  jvm.md  go.md  rust.md  nginx.md</a:t>
            </a:r>
          </a:p>
          <a:p>
            <a:pPr algn="l">
              <a:spcAft>
                <a:spcPts val="0"/>
              </a:spcAft>
            </a:pPr>
            <a:r>
              <a:rPr sz="1400">
                <a:solidFill>
                  <a:srgbClr val="E8EAF2"/>
                </a:solidFill>
                <a:latin typeface="Consolas"/>
              </a:rPr>
              <a:t>└── git/tag-groupbees/</a:t>
            </a:r>
          </a:p>
          <a:p>
            <a:pPr algn="l">
              <a:spcAft>
                <a:spcPts val="0"/>
              </a:spcAft>
            </a:pPr>
            <a:r>
              <a:rPr sz="1400">
                <a:solidFill>
                  <a:srgbClr val="E8EAF2"/>
                </a:solidFill>
                <a:latin typeface="Consolas"/>
              </a:rPr>
              <a:t>    ├── SKILL.md</a:t>
            </a:r>
          </a:p>
          <a:p>
            <a:pPr algn="l">
              <a:spcAft>
                <a:spcPts val="0"/>
              </a:spcAft>
            </a:pPr>
            <a:r>
              <a:rPr sz="1400">
                <a:solidFill>
                  <a:srgbClr val="E8EAF2"/>
                </a:solidFill>
                <a:latin typeface="Consolas"/>
              </a:rPr>
              <a:t>    └── scripts/          # exécuté, jamais lu : 0 token</a:t>
            </a:r>
          </a:p>
          <a:p>
            <a:pPr algn="l">
              <a:spcAft>
                <a:spcPts val="0"/>
              </a:spcAft>
            </a:pPr>
            <a:r>
              <a:rPr sz="1400">
                <a:solidFill>
                  <a:srgbClr val="E8EAF2"/>
                </a:solidFill>
                <a:latin typeface="Consolas"/>
              </a:rPr>
              <a:t>        └── pre-tag-check.sh</a:t>
            </a:r>
          </a:p>
        </p:txBody>
      </p:sp>
      <p:sp>
        <p:nvSpPr>
          <p:cNvPr id="5" name="Rectangle 4"/>
          <p:cNvSpPr/>
          <p:nvPr/>
        </p:nvSpPr>
        <p:spPr>
          <a:xfrm>
            <a:off x="640080" y="1481328"/>
            <a:ext cx="64008" cy="3721608"/>
          </a:xfrm>
          <a:prstGeom prst="rect">
            <a:avLst/>
          </a:prstGeom>
          <a:gradFill rotWithShape="1">
            <a:gsLst>
              <a:gs pos="0">
                <a:srgbClr val="00B5FB"/>
              </a:gs>
              <a:gs pos="100000">
                <a:srgbClr val="974EFF"/>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404104"/>
            <a:ext cx="10881360" cy="457200"/>
          </a:xfrm>
          <a:prstGeom prst="rect">
            <a:avLst/>
          </a:prstGeom>
          <a:noFill/>
        </p:spPr>
        <p:txBody>
          <a:bodyPr wrap="square" lIns="0" rIns="0" tIns="0" bIns="0">
            <a:spAutoFit/>
          </a:bodyPr>
          <a:lstStyle/>
          <a:p>
            <a:pPr algn="l">
              <a:spcAft>
                <a:spcPts val="0"/>
              </a:spcAft>
            </a:pPr>
            <a:r>
              <a:rPr sz="1700" b="1">
                <a:solidFill>
                  <a:srgbClr val="974EFF"/>
                </a:solidFill>
                <a:latin typeface="Avenir Next"/>
              </a:rPr>
              <a:t>SKILL.md dit quoi faire. scripts/, references/, assets/ : avec quoi.</a:t>
            </a:r>
          </a:p>
        </p:txBody>
      </p:sp>
      <p:pic>
        <p:nvPicPr>
          <p:cNvPr id="7" name="bee_cool.png" descr="bee_cool.png"/>
          <p:cNvPicPr>
            <a:picLocks noChangeAspect="1"/>
          </p:cNvPicPr>
          <p:nvPr/>
        </p:nvPicPr>
        <p:blipFill>
          <a:blip r:embed="rId3"/>
          <a:stretch>
            <a:fillRect/>
          </a:stretch>
        </p:blipFill>
        <p:spPr>
          <a:xfrm rot="480000">
            <a:off x="10835640" y="228600"/>
            <a:ext cx="907143" cy="914400"/>
          </a:xfrm>
          <a:prstGeom prst="rect">
            <a:avLst/>
          </a:prstGeom>
        </p:spPr>
      </p:pic>
      <p:pic>
        <p:nvPicPr>
          <p:cNvPr id="8"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9" name="TextBox 8"/>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10/32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CLAUDE.md monolithe vs skills</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600200"/>
            <a:ext cx="5257800" cy="3794760"/>
          </a:xfrm>
          <a:prstGeom prst="rect">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600200"/>
            <a:ext cx="5257800" cy="6400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a:lstStyle/>
          <a:p>
            <a:pPr algn="l">
              <a:spcAft>
                <a:spcPts val="0"/>
              </a:spcAft>
            </a:pPr>
            <a:r>
              <a:rPr sz="2200" b="1">
                <a:solidFill>
                  <a:srgbClr val="FFFFFF"/>
                </a:solidFill>
                <a:latin typeface="Avenir Next"/>
              </a:rPr>
              <a:t>CLAUDE.md monolithe</a:t>
            </a:r>
          </a:p>
        </p:txBody>
      </p:sp>
      <p:sp>
        <p:nvSpPr>
          <p:cNvPr id="6" name="Hexagon 5"/>
          <p:cNvSpPr/>
          <p:nvPr/>
        </p:nvSpPr>
        <p:spPr>
          <a:xfrm>
            <a:off x="914400" y="2606040"/>
            <a:ext cx="155448" cy="155448"/>
          </a:xfrm>
          <a:prstGeom prst="hexagon">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2514600"/>
            <a:ext cx="443484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Tout chargé, tout le temps</a:t>
            </a:r>
          </a:p>
        </p:txBody>
      </p:sp>
      <p:sp>
        <p:nvSpPr>
          <p:cNvPr id="8" name="Hexagon 7"/>
          <p:cNvSpPr/>
          <p:nvPr/>
        </p:nvSpPr>
        <p:spPr>
          <a:xfrm>
            <a:off x="914400" y="3172968"/>
            <a:ext cx="155448" cy="155448"/>
          </a:xfrm>
          <a:prstGeom prst="hexagon">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3081528"/>
            <a:ext cx="443484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Un fichier, tous les sujets</a:t>
            </a:r>
          </a:p>
        </p:txBody>
      </p:sp>
      <p:sp>
        <p:nvSpPr>
          <p:cNvPr id="10" name="Hexagon 9"/>
          <p:cNvSpPr/>
          <p:nvPr/>
        </p:nvSpPr>
        <p:spPr>
          <a:xfrm>
            <a:off x="914400" y="3739896"/>
            <a:ext cx="155448" cy="155448"/>
          </a:xfrm>
          <a:prstGeom prst="hexagon">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3648456"/>
            <a:ext cx="443484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Relu par personne</a:t>
            </a:r>
          </a:p>
        </p:txBody>
      </p:sp>
      <p:sp>
        <p:nvSpPr>
          <p:cNvPr id="12" name="Hexagon 11"/>
          <p:cNvSpPr/>
          <p:nvPr/>
        </p:nvSpPr>
        <p:spPr>
          <a:xfrm>
            <a:off x="914400" y="4306824"/>
            <a:ext cx="155448" cy="155448"/>
          </a:xfrm>
          <a:prstGeom prst="hexagon">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4215384"/>
            <a:ext cx="443484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Spécifique à un outil</a:t>
            </a:r>
          </a:p>
        </p:txBody>
      </p:sp>
      <p:sp>
        <p:nvSpPr>
          <p:cNvPr id="14" name="Rectangle 13"/>
          <p:cNvSpPr/>
          <p:nvPr/>
        </p:nvSpPr>
        <p:spPr>
          <a:xfrm>
            <a:off x="6263640" y="1600200"/>
            <a:ext cx="5257800" cy="3794760"/>
          </a:xfrm>
          <a:prstGeom prst="rect">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600200"/>
            <a:ext cx="5257800" cy="64008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274320"/>
          <a:lstStyle/>
          <a:p>
            <a:pPr algn="l">
              <a:spcAft>
                <a:spcPts val="0"/>
              </a:spcAft>
            </a:pPr>
            <a:r>
              <a:rPr sz="2200" b="1">
                <a:solidFill>
                  <a:srgbClr val="FFFFFF"/>
                </a:solidFill>
                <a:latin typeface="Avenir Next"/>
              </a:rPr>
              <a:t>Skills</a:t>
            </a:r>
          </a:p>
        </p:txBody>
      </p:sp>
      <p:sp>
        <p:nvSpPr>
          <p:cNvPr id="16" name="Hexagon 15"/>
          <p:cNvSpPr/>
          <p:nvPr/>
        </p:nvSpPr>
        <p:spPr>
          <a:xfrm>
            <a:off x="6537960" y="2606040"/>
            <a:ext cx="155448" cy="155448"/>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2514600"/>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Chargés quand la tâche le demande</a:t>
            </a:r>
          </a:p>
        </p:txBody>
      </p:sp>
      <p:sp>
        <p:nvSpPr>
          <p:cNvPr id="18" name="Hexagon 17"/>
          <p:cNvSpPr/>
          <p:nvPr/>
        </p:nvSpPr>
        <p:spPr>
          <a:xfrm>
            <a:off x="6537960" y="3172968"/>
            <a:ext cx="155448" cy="155448"/>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3081528"/>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Un skill = une convention</a:t>
            </a:r>
          </a:p>
        </p:txBody>
      </p:sp>
      <p:sp>
        <p:nvSpPr>
          <p:cNvPr id="20" name="Hexagon 19"/>
          <p:cNvSpPr/>
          <p:nvPr/>
        </p:nvSpPr>
        <p:spPr>
          <a:xfrm>
            <a:off x="6537960" y="3739896"/>
            <a:ext cx="155448" cy="155448"/>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0" y="3648456"/>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Versionnés et relus en PR</a:t>
            </a:r>
          </a:p>
        </p:txBody>
      </p:sp>
      <p:sp>
        <p:nvSpPr>
          <p:cNvPr id="22" name="Hexagon 21"/>
          <p:cNvSpPr/>
          <p:nvPr/>
        </p:nvSpPr>
        <p:spPr>
          <a:xfrm>
            <a:off x="6537960" y="4306824"/>
            <a:ext cx="155448" cy="155448"/>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0" y="4215384"/>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Standard ouvert, multi-agents</a:t>
            </a:r>
          </a:p>
        </p:txBody>
      </p:sp>
      <p:sp>
        <p:nvSpPr>
          <p:cNvPr id="24" name="Rectangle 23"/>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Le CLAUDE.md reste : fin, pour le contexte du projet.</a:t>
            </a:r>
          </a:p>
        </p:txBody>
      </p:sp>
      <p:pic>
        <p:nvPicPr>
          <p:cNvPr id="26" name="logo.png" descr="logo.png"/>
          <p:cNvPicPr>
            <a:picLocks noChangeAspect="1"/>
          </p:cNvPicPr>
          <p:nvPr/>
        </p:nvPicPr>
        <p:blipFill>
          <a:blip r:embed="rId3"/>
          <a:stretch>
            <a:fillRect/>
          </a:stretch>
        </p:blipFill>
        <p:spPr>
          <a:xfrm>
            <a:off x="566928" y="6263640"/>
            <a:ext cx="899514" cy="274320"/>
          </a:xfrm>
          <a:prstGeom prst="rect">
            <a:avLst/>
          </a:prstGeom>
        </p:spPr>
      </p:pic>
      <p:sp>
        <p:nvSpPr>
          <p:cNvPr id="27" name="TextBox 26"/>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11/32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Modulariser : des domaines qui se composent</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481328"/>
            <a:ext cx="10881360" cy="3255264"/>
          </a:xfrm>
          <a:prstGeom prst="rect">
            <a:avLst/>
          </a:prstGeom>
          <a:solidFill>
            <a:srgbClr val="1B1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20040" tIns="201168" rIns="182880" bIns="182880"/>
          <a:lstStyle/>
          <a:p>
            <a:pPr algn="l">
              <a:spcAft>
                <a:spcPts val="0"/>
              </a:spcAft>
            </a:pPr>
            <a:r>
              <a:rPr sz="1400">
                <a:solidFill>
                  <a:srgbClr val="E8EAF2"/>
                </a:solidFill>
                <a:latin typeface="Consolas"/>
              </a:rPr>
              <a:t>skills/</a:t>
            </a:r>
          </a:p>
          <a:p>
            <a:pPr algn="l">
              <a:spcAft>
                <a:spcPts val="0"/>
              </a:spcAft>
            </a:pPr>
            <a:r>
              <a:rPr sz="1400">
                <a:solidFill>
                  <a:srgbClr val="E8EAF2"/>
                </a:solidFill>
                <a:latin typeface="Consolas"/>
              </a:rPr>
              <a:t>├── docker/</a:t>
            </a:r>
          </a:p>
          <a:p>
            <a:pPr algn="l">
              <a:spcAft>
                <a:spcPts val="0"/>
              </a:spcAft>
            </a:pPr>
            <a:r>
              <a:rPr sz="1400">
                <a:solidFill>
                  <a:srgbClr val="E8EAF2"/>
                </a:solidFill>
                <a:latin typeface="Consolas"/>
              </a:rPr>
              <a:t>│   ├── docker-image-conventions/   # universel : multi-stage, non-root</a:t>
            </a:r>
          </a:p>
          <a:p>
            <a:pPr algn="l">
              <a:spcAft>
                <a:spcPts val="0"/>
              </a:spcAft>
            </a:pPr>
            <a:r>
              <a:rPr sz="1400">
                <a:solidFill>
                  <a:srgbClr val="E8EAF2"/>
                </a:solidFill>
                <a:latin typeface="Consolas"/>
              </a:rPr>
              <a:t>│   └── python-docker-multistage/   # + Python : uv, slim vs alpine</a:t>
            </a:r>
          </a:p>
          <a:p>
            <a:pPr algn="l">
              <a:spcAft>
                <a:spcPts val="0"/>
              </a:spcAft>
            </a:pPr>
            <a:r>
              <a:rPr sz="1400">
                <a:solidFill>
                  <a:srgbClr val="E8EAF2"/>
                </a:solidFill>
                <a:latin typeface="Consolas"/>
              </a:rPr>
              <a:t>├── env/</a:t>
            </a:r>
          </a:p>
          <a:p>
            <a:pPr algn="l">
              <a:spcAft>
                <a:spcPts val="0"/>
              </a:spcAft>
            </a:pPr>
            <a:r>
              <a:rPr sz="1400">
                <a:solidFill>
                  <a:srgbClr val="E8EAF2"/>
                </a:solidFill>
                <a:latin typeface="Consolas"/>
              </a:rPr>
              <a:t>│   └── direnv-local-env/           # universel : .envrc, pas de .env</a:t>
            </a:r>
          </a:p>
          <a:p>
            <a:pPr algn="l">
              <a:spcAft>
                <a:spcPts val="0"/>
              </a:spcAft>
            </a:pPr>
            <a:r>
              <a:rPr sz="1400">
                <a:solidFill>
                  <a:srgbClr val="E8EAF2"/>
                </a:solidFill>
                <a:latin typeface="Consolas"/>
              </a:rPr>
              <a:t>├── python/</a:t>
            </a:r>
          </a:p>
          <a:p>
            <a:pPr algn="l">
              <a:spcAft>
                <a:spcPts val="0"/>
              </a:spcAft>
            </a:pPr>
            <a:r>
              <a:rPr sz="1400">
                <a:solidFill>
                  <a:srgbClr val="E8EAF2"/>
                </a:solidFill>
                <a:latin typeface="Consolas"/>
              </a:rPr>
              <a:t>│   ├── python-uv-direnv/           # + Python : venv uv via direnv</a:t>
            </a:r>
          </a:p>
          <a:p>
            <a:pPr algn="l">
              <a:spcAft>
                <a:spcPts val="0"/>
              </a:spcAft>
            </a:pPr>
            <a:r>
              <a:rPr sz="1400">
                <a:solidFill>
                  <a:srgbClr val="E8EAF2"/>
                </a:solidFill>
                <a:latin typeface="Consolas"/>
              </a:rPr>
              <a:t>│   └── python-hexagonal-clean-archi/</a:t>
            </a:r>
          </a:p>
          <a:p>
            <a:pPr algn="l">
              <a:spcAft>
                <a:spcPts val="0"/>
              </a:spcAft>
            </a:pPr>
            <a:r>
              <a:rPr sz="1400">
                <a:solidFill>
                  <a:srgbClr val="E8EAF2"/>
                </a:solidFill>
                <a:latin typeface="Consolas"/>
              </a:rPr>
              <a:t>├── git/        # commit-, pr-, tag-groupbees</a:t>
            </a:r>
          </a:p>
          <a:p>
            <a:pPr algn="l">
              <a:spcAft>
                <a:spcPts val="0"/>
              </a:spcAft>
            </a:pPr>
            <a:r>
              <a:rPr sz="1400">
                <a:solidFill>
                  <a:srgbClr val="E8EAF2"/>
                </a:solidFill>
                <a:latin typeface="Consolas"/>
              </a:rPr>
              <a:t>├── gcp/        # cloud-run-iap</a:t>
            </a:r>
          </a:p>
          <a:p>
            <a:pPr algn="l">
              <a:spcAft>
                <a:spcPts val="0"/>
              </a:spcAft>
            </a:pPr>
            <a:r>
              <a:rPr sz="1400">
                <a:solidFill>
                  <a:srgbClr val="E8EAF2"/>
                </a:solidFill>
                <a:latin typeface="Consolas"/>
              </a:rPr>
              <a:t>└── terraform/  # terragrunt-modular-style</a:t>
            </a:r>
          </a:p>
        </p:txBody>
      </p:sp>
      <p:sp>
        <p:nvSpPr>
          <p:cNvPr id="5" name="Rectangle 4"/>
          <p:cNvSpPr/>
          <p:nvPr/>
        </p:nvSpPr>
        <p:spPr>
          <a:xfrm>
            <a:off x="640080" y="1481328"/>
            <a:ext cx="64008" cy="3255264"/>
          </a:xfrm>
          <a:prstGeom prst="rect">
            <a:avLst/>
          </a:prstGeom>
          <a:gradFill rotWithShape="1">
            <a:gsLst>
              <a:gs pos="0">
                <a:srgbClr val="00B5FB"/>
              </a:gs>
              <a:gs pos="100000">
                <a:srgbClr val="974EFF"/>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937760"/>
            <a:ext cx="10881360" cy="457200"/>
          </a:xfrm>
          <a:prstGeom prst="rect">
            <a:avLst/>
          </a:prstGeom>
          <a:noFill/>
        </p:spPr>
        <p:txBody>
          <a:bodyPr wrap="square" lIns="0" rIns="0" tIns="0" bIns="0">
            <a:spAutoFit/>
          </a:bodyPr>
          <a:lstStyle/>
          <a:p>
            <a:pPr algn="l">
              <a:spcAft>
                <a:spcPts val="0"/>
              </a:spcAft>
            </a:pPr>
            <a:r>
              <a:rPr sz="1700" b="1">
                <a:solidFill>
                  <a:srgbClr val="974EFF"/>
                </a:solidFill>
                <a:latin typeface="Avenir Next"/>
              </a:rPr>
              <a:t>Un skill générique + un skill qui le spécialise, plutôt qu'un gros skill.</a:t>
            </a:r>
          </a:p>
        </p:txBody>
      </p:sp>
      <p:pic>
        <p:nvPicPr>
          <p:cNvPr id="7" name="logo.png" descr="logo.png"/>
          <p:cNvPicPr>
            <a:picLocks noChangeAspect="1"/>
          </p:cNvPicPr>
          <p:nvPr/>
        </p:nvPicPr>
        <p:blipFill>
          <a:blip r:embed="rId3"/>
          <a:stretch>
            <a:fillRect/>
          </a:stretch>
        </p:blipFill>
        <p:spPr>
          <a:xfrm>
            <a:off x="566928" y="6263640"/>
            <a:ext cx="899514" cy="274320"/>
          </a:xfrm>
          <a:prstGeom prst="rect">
            <a:avLst/>
          </a:prstGeom>
        </p:spPr>
      </p:pic>
      <p:sp>
        <p:nvSpPr>
          <p:cNvPr id="8" name="TextBox 7"/>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12/32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Partager : un catalogue synchronisé en global</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417320" y="3223260"/>
            <a:ext cx="9326880" cy="45720"/>
          </a:xfrm>
          <a:prstGeom prst="rect">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417320" y="3218688"/>
            <a:ext cx="6995160" cy="54864"/>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60704" y="2889504"/>
            <a:ext cx="713232" cy="713232"/>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FFFFFF"/>
                </a:solidFill>
                <a:latin typeface="Avenir Next"/>
              </a:rPr>
              <a:t>1</a:t>
            </a:r>
          </a:p>
        </p:txBody>
      </p:sp>
      <p:sp>
        <p:nvSpPr>
          <p:cNvPr id="7" name="TextBox 6"/>
          <p:cNvSpPr txBox="1"/>
          <p:nvPr/>
        </p:nvSpPr>
        <p:spPr>
          <a:xfrm>
            <a:off x="274320" y="3931920"/>
            <a:ext cx="2286000" cy="1280160"/>
          </a:xfrm>
          <a:prstGeom prst="rect">
            <a:avLst/>
          </a:prstGeom>
          <a:noFill/>
        </p:spPr>
        <p:txBody>
          <a:bodyPr wrap="square" lIns="0" rIns="0" tIns="0" bIns="0">
            <a:spAutoFit/>
          </a:bodyPr>
          <a:lstStyle/>
          <a:p>
            <a:pPr algn="ctr">
              <a:spcAft>
                <a:spcPts val="400"/>
              </a:spcAft>
            </a:pPr>
            <a:r>
              <a:rPr sz="1500" b="1">
                <a:solidFill>
                  <a:srgbClr val="14141A"/>
                </a:solidFill>
                <a:latin typeface="Avenir Next"/>
              </a:rPr>
              <a:t>CLAUDE.md perso</a:t>
            </a:r>
          </a:p>
          <a:p>
            <a:pPr algn="ctr">
              <a:spcAft>
                <a:spcPts val="0"/>
              </a:spcAft>
            </a:pPr>
            <a:r>
              <a:rPr sz="1300">
                <a:solidFill>
                  <a:srgbClr val="5B6372"/>
                </a:solidFill>
                <a:latin typeface="Avenir Next"/>
              </a:rPr>
              <a:t>chacun son Claude</a:t>
            </a:r>
          </a:p>
        </p:txBody>
      </p:sp>
      <p:sp>
        <p:nvSpPr>
          <p:cNvPr id="8" name="Hexagon 7"/>
          <p:cNvSpPr/>
          <p:nvPr/>
        </p:nvSpPr>
        <p:spPr>
          <a:xfrm>
            <a:off x="3392424" y="2889504"/>
            <a:ext cx="713232" cy="713232"/>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FFFFFF"/>
                </a:solidFill>
                <a:latin typeface="Avenir Next"/>
              </a:rPr>
              <a:t>2</a:t>
            </a:r>
          </a:p>
        </p:txBody>
      </p:sp>
      <p:sp>
        <p:nvSpPr>
          <p:cNvPr id="9" name="TextBox 8"/>
          <p:cNvSpPr txBox="1"/>
          <p:nvPr/>
        </p:nvSpPr>
        <p:spPr>
          <a:xfrm>
            <a:off x="2606040" y="3931920"/>
            <a:ext cx="2286000" cy="1280160"/>
          </a:xfrm>
          <a:prstGeom prst="rect">
            <a:avLst/>
          </a:prstGeom>
          <a:noFill/>
        </p:spPr>
        <p:txBody>
          <a:bodyPr wrap="square" lIns="0" rIns="0" tIns="0" bIns="0">
            <a:spAutoFit/>
          </a:bodyPr>
          <a:lstStyle/>
          <a:p>
            <a:pPr algn="ctr">
              <a:spcAft>
                <a:spcPts val="400"/>
              </a:spcAft>
            </a:pPr>
            <a:r>
              <a:rPr sz="1500" b="1">
                <a:solidFill>
                  <a:srgbClr val="14141A"/>
                </a:solidFill>
                <a:latin typeface="Avenir Next"/>
              </a:rPr>
              <a:t>CLAUDE.md partagé</a:t>
            </a:r>
          </a:p>
          <a:p>
            <a:pPr algn="ctr">
              <a:spcAft>
                <a:spcPts val="0"/>
              </a:spcAft>
            </a:pPr>
            <a:r>
              <a:rPr sz="1300">
                <a:solidFill>
                  <a:srgbClr val="5B6372"/>
                </a:solidFill>
                <a:latin typeface="Avenir Next"/>
              </a:rPr>
              <a:t>un fichier pour tous</a:t>
            </a:r>
          </a:p>
        </p:txBody>
      </p:sp>
      <p:sp>
        <p:nvSpPr>
          <p:cNvPr id="10" name="Hexagon 9"/>
          <p:cNvSpPr/>
          <p:nvPr/>
        </p:nvSpPr>
        <p:spPr>
          <a:xfrm>
            <a:off x="5724144" y="2889504"/>
            <a:ext cx="713232" cy="713232"/>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FFFFFF"/>
                </a:solidFill>
                <a:latin typeface="Avenir Next"/>
              </a:rPr>
              <a:t>3</a:t>
            </a:r>
          </a:p>
        </p:txBody>
      </p:sp>
      <p:sp>
        <p:nvSpPr>
          <p:cNvPr id="11" name="TextBox 10"/>
          <p:cNvSpPr txBox="1"/>
          <p:nvPr/>
        </p:nvSpPr>
        <p:spPr>
          <a:xfrm>
            <a:off x="4937760" y="3931920"/>
            <a:ext cx="2286000" cy="1280160"/>
          </a:xfrm>
          <a:prstGeom prst="rect">
            <a:avLst/>
          </a:prstGeom>
          <a:noFill/>
        </p:spPr>
        <p:txBody>
          <a:bodyPr wrap="square" lIns="0" rIns="0" tIns="0" bIns="0">
            <a:spAutoFit/>
          </a:bodyPr>
          <a:lstStyle/>
          <a:p>
            <a:pPr algn="ctr">
              <a:spcAft>
                <a:spcPts val="400"/>
              </a:spcAft>
            </a:pPr>
            <a:r>
              <a:rPr sz="1500" b="1">
                <a:solidFill>
                  <a:srgbClr val="14141A"/>
                </a:solidFill>
                <a:latin typeface="Avenir Next"/>
              </a:rPr>
              <a:t>Skills modulaires</a:t>
            </a:r>
          </a:p>
          <a:p>
            <a:pPr algn="ctr">
              <a:spcAft>
                <a:spcPts val="0"/>
              </a:spcAft>
            </a:pPr>
            <a:r>
              <a:rPr sz="1300">
                <a:solidFill>
                  <a:srgbClr val="5B6372"/>
                </a:solidFill>
                <a:latin typeface="Avenir Next"/>
              </a:rPr>
              <a:t>chargés à la demande</a:t>
            </a:r>
          </a:p>
        </p:txBody>
      </p:sp>
      <p:sp>
        <p:nvSpPr>
          <p:cNvPr id="12" name="Hexagon 11"/>
          <p:cNvSpPr/>
          <p:nvPr/>
        </p:nvSpPr>
        <p:spPr>
          <a:xfrm>
            <a:off x="7932420" y="2766060"/>
            <a:ext cx="960120" cy="960120"/>
          </a:xfrm>
          <a:prstGeom prst="hexagon">
            <a:avLst/>
          </a:prstGeom>
          <a:gradFill rotWithShape="1">
            <a:gsLst>
              <a:gs pos="0">
                <a:srgbClr val="00B5FB"/>
              </a:gs>
              <a:gs pos="100000">
                <a:srgbClr val="974E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600" b="1">
                <a:solidFill>
                  <a:srgbClr val="FFFFFF"/>
                </a:solidFill>
                <a:latin typeface="Avenir Next"/>
              </a:rPr>
              <a:t>4</a:t>
            </a:r>
          </a:p>
        </p:txBody>
      </p:sp>
      <p:sp>
        <p:nvSpPr>
          <p:cNvPr id="13" name="TextBox 12"/>
          <p:cNvSpPr txBox="1"/>
          <p:nvPr/>
        </p:nvSpPr>
        <p:spPr>
          <a:xfrm>
            <a:off x="7269480" y="3931920"/>
            <a:ext cx="2286000" cy="1280160"/>
          </a:xfrm>
          <a:prstGeom prst="rect">
            <a:avLst/>
          </a:prstGeom>
          <a:noFill/>
        </p:spPr>
        <p:txBody>
          <a:bodyPr wrap="square" lIns="0" rIns="0" tIns="0" bIns="0">
            <a:spAutoFit/>
          </a:bodyPr>
          <a:lstStyle/>
          <a:p>
            <a:pPr algn="ctr">
              <a:spcAft>
                <a:spcPts val="400"/>
              </a:spcAft>
            </a:pPr>
            <a:r>
              <a:rPr sz="1700" b="1">
                <a:solidFill>
                  <a:srgbClr val="14141A"/>
                </a:solidFill>
                <a:latin typeface="Avenir Next"/>
              </a:rPr>
              <a:t>Sync global</a:t>
            </a:r>
          </a:p>
          <a:p>
            <a:pPr algn="ctr">
              <a:spcAft>
                <a:spcPts val="0"/>
              </a:spcAft>
            </a:pPr>
            <a:r>
              <a:rPr sz="1300">
                <a:solidFill>
                  <a:srgbClr val="2A2F3A"/>
                </a:solidFill>
                <a:latin typeface="Avenir Next"/>
              </a:rPr>
              <a:t>~/.claude/skills</a:t>
            </a:r>
          </a:p>
        </p:txBody>
      </p:sp>
      <p:pic>
        <p:nvPicPr>
          <p:cNvPr id="14" name="bee_cool.png" descr="bee_cool.png"/>
          <p:cNvPicPr>
            <a:picLocks noChangeAspect="1"/>
          </p:cNvPicPr>
          <p:nvPr/>
        </p:nvPicPr>
        <p:blipFill>
          <a:blip r:embed="rId2"/>
          <a:stretch>
            <a:fillRect/>
          </a:stretch>
        </p:blipFill>
        <p:spPr>
          <a:xfrm>
            <a:off x="8001000" y="1371601"/>
            <a:ext cx="1179286" cy="1188720"/>
          </a:xfrm>
          <a:prstGeom prst="rect">
            <a:avLst/>
          </a:prstGeom>
        </p:spPr>
      </p:pic>
      <p:sp>
        <p:nvSpPr>
          <p:cNvPr id="15" name="Hexagon 14"/>
          <p:cNvSpPr/>
          <p:nvPr/>
        </p:nvSpPr>
        <p:spPr>
          <a:xfrm>
            <a:off x="10387584" y="2889504"/>
            <a:ext cx="713232" cy="713232"/>
          </a:xfrm>
          <a:prstGeom prst="hexagon">
            <a:avLst/>
          </a:prstGeom>
          <a:solidFill>
            <a:srgbClr val="EBF6FE"/>
          </a:solidFill>
          <a:ln w="19050">
            <a:solidFill>
              <a:srgbClr val="C9C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5B6372"/>
                </a:solidFill>
                <a:latin typeface="Avenir Next"/>
              </a:rPr>
              <a:t>5</a:t>
            </a:r>
          </a:p>
        </p:txBody>
      </p:sp>
      <p:sp>
        <p:nvSpPr>
          <p:cNvPr id="16" name="TextBox 15"/>
          <p:cNvSpPr txBox="1"/>
          <p:nvPr/>
        </p:nvSpPr>
        <p:spPr>
          <a:xfrm>
            <a:off x="9601200" y="3931920"/>
            <a:ext cx="2286000" cy="1280160"/>
          </a:xfrm>
          <a:prstGeom prst="rect">
            <a:avLst/>
          </a:prstGeom>
          <a:noFill/>
        </p:spPr>
        <p:txBody>
          <a:bodyPr wrap="square" lIns="0" rIns="0" tIns="0" bIns="0">
            <a:spAutoFit/>
          </a:bodyPr>
          <a:lstStyle/>
          <a:p>
            <a:pPr algn="ctr">
              <a:spcAft>
                <a:spcPts val="400"/>
              </a:spcAft>
            </a:pPr>
            <a:r>
              <a:rPr sz="1500" b="1">
                <a:solidFill>
                  <a:srgbClr val="5B6372"/>
                </a:solidFill>
                <a:latin typeface="Avenir Next"/>
              </a:rPr>
              <a:t>Skills par projet</a:t>
            </a:r>
          </a:p>
          <a:p>
            <a:pPr algn="ctr">
              <a:spcAft>
                <a:spcPts val="0"/>
              </a:spcAft>
            </a:pPr>
            <a:r>
              <a:rPr sz="1300">
                <a:solidFill>
                  <a:srgbClr val="5B6372"/>
                </a:solidFill>
                <a:latin typeface="Avenir Next"/>
              </a:rPr>
              <a:t>pollen.yaml</a:t>
            </a:r>
          </a:p>
        </p:txBody>
      </p:sp>
      <p:sp>
        <p:nvSpPr>
          <p:cNvPr id="17" name="Rectangle 16"/>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Un catalogue git, installé sur chaque poste.</a:t>
            </a:r>
          </a:p>
        </p:txBody>
      </p:sp>
      <p:pic>
        <p:nvPicPr>
          <p:cNvPr id="19"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0" name="TextBox 19"/>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13/32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Un module de skills, synchronisé en global</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481328"/>
            <a:ext cx="10881360" cy="3022092"/>
          </a:xfrm>
          <a:prstGeom prst="rect">
            <a:avLst/>
          </a:prstGeom>
          <a:solidFill>
            <a:srgbClr val="1B1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20040" tIns="201168" rIns="182880" bIns="182880"/>
          <a:lstStyle/>
          <a:p>
            <a:pPr algn="l">
              <a:spcAft>
                <a:spcPts val="0"/>
              </a:spcAft>
            </a:pPr>
            <a:r>
              <a:rPr sz="1400">
                <a:solidFill>
                  <a:srgbClr val="00B5FB"/>
                </a:solidFill>
                <a:latin typeface="Consolas"/>
              </a:rPr>
              <a:t># skills-core/  (+ skills-slides, skills-articles, …)</a:t>
            </a:r>
          </a:p>
          <a:p>
            <a:pPr algn="l">
              <a:spcAft>
                <a:spcPts val="0"/>
              </a:spcAft>
            </a:pPr>
            <a:r>
              <a:rPr sz="1400">
                <a:solidFill>
                  <a:srgbClr val="00B5FB"/>
                </a:solidFill>
                <a:latin typeface="Consolas"/>
              </a:rPr>
              <a:t>#   skills-module.json   → { name, description }</a:t>
            </a:r>
          </a:p>
          <a:p>
            <a:pPr algn="l">
              <a:spcAft>
                <a:spcPts val="0"/>
              </a:spcAft>
            </a:pPr>
            <a:r>
              <a:rPr sz="1400">
                <a:solidFill>
                  <a:srgbClr val="00B5FB"/>
                </a:solidFill>
                <a:latin typeface="Consolas"/>
              </a:rPr>
              <a:t>#   skills/&lt;domaine&gt;/&lt;skill&gt;/SKILL.md</a:t>
            </a:r>
          </a:p>
          <a:p>
            <a:pPr algn="l">
              <a:spcAft>
                <a:spcPts val="0"/>
              </a:spcAft>
            </a:pPr>
            <a:r>
              <a:rPr sz="1400">
                <a:solidFill>
                  <a:srgbClr val="E8EAF2"/>
                </a:solidFill>
                <a:latin typeface="Consolas"/>
              </a:rPr>
              <a:t> </a:t>
            </a:r>
          </a:p>
          <a:p>
            <a:pPr algn="l">
              <a:spcAft>
                <a:spcPts val="0"/>
              </a:spcAft>
            </a:pPr>
            <a:r>
              <a:rPr sz="1400">
                <a:solidFill>
                  <a:srgbClr val="E8EAF2"/>
                </a:solidFill>
                <a:latin typeface="Consolas"/>
              </a:rPr>
              <a:t>git pull &amp;&amp; ./sync-skills.sh --prune</a:t>
            </a:r>
          </a:p>
          <a:p>
            <a:pPr algn="l">
              <a:spcAft>
                <a:spcPts val="0"/>
              </a:spcAft>
            </a:pPr>
            <a:r>
              <a:rPr sz="1400">
                <a:solidFill>
                  <a:srgbClr val="E8EAF2"/>
                </a:solidFill>
                <a:latin typeface="Consolas"/>
              </a:rPr>
              <a:t> </a:t>
            </a:r>
          </a:p>
          <a:p>
            <a:pPr algn="l">
              <a:spcAft>
                <a:spcPts val="0"/>
              </a:spcAft>
            </a:pPr>
            <a:r>
              <a:rPr sz="1400">
                <a:solidFill>
                  <a:srgbClr val="00B5FB"/>
                </a:solidFill>
                <a:latin typeface="Consolas"/>
              </a:rPr>
              <a:t># → ~/.claude/skills/   Claude Code, Copilot VS Code, Cursor</a:t>
            </a:r>
          </a:p>
          <a:p>
            <a:pPr algn="l">
              <a:spcAft>
                <a:spcPts val="0"/>
              </a:spcAft>
            </a:pPr>
            <a:r>
              <a:rPr sz="1400">
                <a:solidFill>
                  <a:srgbClr val="00B5FB"/>
                </a:solidFill>
                <a:latin typeface="Consolas"/>
              </a:rPr>
              <a:t># → ~/.agents/skills/   Copilot JetBrains / CLI</a:t>
            </a:r>
          </a:p>
          <a:p>
            <a:pPr algn="l">
              <a:spcAft>
                <a:spcPts val="0"/>
              </a:spcAft>
            </a:pPr>
            <a:r>
              <a:rPr sz="1400">
                <a:solidFill>
                  <a:srgbClr val="00B5FB"/>
                </a:solidFill>
                <a:latin typeface="Consolas"/>
              </a:rPr>
              <a:t># ledger par module : --prune / --uninstall ne touchent que lui</a:t>
            </a:r>
          </a:p>
          <a:p>
            <a:pPr algn="l">
              <a:spcAft>
                <a:spcPts val="0"/>
              </a:spcAft>
            </a:pPr>
            <a:r>
              <a:rPr sz="1400">
                <a:solidFill>
                  <a:srgbClr val="E8EAF2"/>
                </a:solidFill>
                <a:latin typeface="Consolas"/>
              </a:rPr>
              <a:t> </a:t>
            </a:r>
          </a:p>
          <a:p>
            <a:pPr algn="l">
              <a:spcAft>
                <a:spcPts val="0"/>
              </a:spcAft>
            </a:pPr>
            <a:r>
              <a:rPr sz="1400">
                <a:solidFill>
                  <a:srgbClr val="E8EAF2"/>
                </a:solidFill>
                <a:latin typeface="Consolas"/>
              </a:rPr>
              <a:t>git checkout v1.2.0 &amp;&amp; ./sync-skills.sh --prune   # épingler</a:t>
            </a:r>
          </a:p>
        </p:txBody>
      </p:sp>
      <p:sp>
        <p:nvSpPr>
          <p:cNvPr id="5" name="Rectangle 4"/>
          <p:cNvSpPr/>
          <p:nvPr/>
        </p:nvSpPr>
        <p:spPr>
          <a:xfrm>
            <a:off x="640080" y="1481328"/>
            <a:ext cx="64008" cy="3022092"/>
          </a:xfrm>
          <a:prstGeom prst="rect">
            <a:avLst/>
          </a:prstGeom>
          <a:gradFill rotWithShape="1">
            <a:gsLst>
              <a:gs pos="0">
                <a:srgbClr val="00B5FB"/>
              </a:gs>
              <a:gs pos="100000">
                <a:srgbClr val="974EFF"/>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704588"/>
            <a:ext cx="10881360" cy="457200"/>
          </a:xfrm>
          <a:prstGeom prst="rect">
            <a:avLst/>
          </a:prstGeom>
          <a:noFill/>
        </p:spPr>
        <p:txBody>
          <a:bodyPr wrap="square" lIns="0" rIns="0" tIns="0" bIns="0">
            <a:spAutoFit/>
          </a:bodyPr>
          <a:lstStyle/>
          <a:p>
            <a:pPr algn="l">
              <a:spcAft>
                <a:spcPts val="0"/>
              </a:spcAft>
            </a:pPr>
            <a:r>
              <a:rPr sz="1700" b="1">
                <a:solidFill>
                  <a:srgbClr val="974EFF"/>
                </a:solidFill>
                <a:latin typeface="Avenir Next"/>
              </a:rPr>
              <a:t>Versionné par tags git, validé en CI. Simple, et ça marche.</a:t>
            </a:r>
          </a:p>
        </p:txBody>
      </p:sp>
      <p:pic>
        <p:nvPicPr>
          <p:cNvPr id="7" name="logo.png" descr="logo.png"/>
          <p:cNvPicPr>
            <a:picLocks noChangeAspect="1"/>
          </p:cNvPicPr>
          <p:nvPr/>
        </p:nvPicPr>
        <p:blipFill>
          <a:blip r:embed="rId3"/>
          <a:stretch>
            <a:fillRect/>
          </a:stretch>
        </p:blipFill>
        <p:spPr>
          <a:xfrm>
            <a:off x="566928" y="6263640"/>
            <a:ext cx="899514" cy="274320"/>
          </a:xfrm>
          <a:prstGeom prst="rect">
            <a:avLst/>
          </a:prstGeom>
        </p:spPr>
      </p:pic>
      <p:sp>
        <p:nvSpPr>
          <p:cNvPr id="8" name="TextBox 7"/>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14/32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Global : la limite</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600200"/>
            <a:ext cx="5257800" cy="3794760"/>
          </a:xfrm>
          <a:prstGeom prst="rect">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600200"/>
            <a:ext cx="5257800" cy="6400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a:lstStyle/>
          <a:p>
            <a:pPr algn="l">
              <a:spcAft>
                <a:spcPts val="0"/>
              </a:spcAft>
            </a:pPr>
            <a:r>
              <a:rPr sz="2200" b="1">
                <a:solidFill>
                  <a:srgbClr val="FFFFFF"/>
                </a:solidFill>
                <a:latin typeface="Avenir Next"/>
              </a:rPr>
              <a:t>Skills en global</a:t>
            </a:r>
          </a:p>
        </p:txBody>
      </p:sp>
      <p:sp>
        <p:nvSpPr>
          <p:cNvPr id="6" name="Hexagon 5"/>
          <p:cNvSpPr/>
          <p:nvPr/>
        </p:nvSpPr>
        <p:spPr>
          <a:xfrm>
            <a:off x="914400" y="2606040"/>
            <a:ext cx="155448" cy="155448"/>
          </a:xfrm>
          <a:prstGeom prst="hexagon">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2514600"/>
            <a:ext cx="443484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Actifs sur TOUS les projets</a:t>
            </a:r>
          </a:p>
        </p:txBody>
      </p:sp>
      <p:sp>
        <p:nvSpPr>
          <p:cNvPr id="8" name="Hexagon 7"/>
          <p:cNvSpPr/>
          <p:nvPr/>
        </p:nvSpPr>
        <p:spPr>
          <a:xfrm>
            <a:off x="914400" y="3172968"/>
            <a:ext cx="155448" cy="155448"/>
          </a:xfrm>
          <a:prstGeom prst="hexagon">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3081528"/>
            <a:ext cx="443484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Conventions GroupBees chez le client</a:t>
            </a:r>
          </a:p>
        </p:txBody>
      </p:sp>
      <p:sp>
        <p:nvSpPr>
          <p:cNvPr id="10" name="Hexagon 9"/>
          <p:cNvSpPr/>
          <p:nvPr/>
        </p:nvSpPr>
        <p:spPr>
          <a:xfrm>
            <a:off x="914400" y="3739896"/>
            <a:ext cx="155448" cy="155448"/>
          </a:xfrm>
          <a:prstGeom prst="hexagon">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3648456"/>
            <a:ext cx="443484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Une seule version pour tous les repos</a:t>
            </a:r>
          </a:p>
        </p:txBody>
      </p:sp>
      <p:sp>
        <p:nvSpPr>
          <p:cNvPr id="12" name="Hexagon 11"/>
          <p:cNvSpPr/>
          <p:nvPr/>
        </p:nvSpPr>
        <p:spPr>
          <a:xfrm>
            <a:off x="914400" y="4306824"/>
            <a:ext cx="155448" cy="155448"/>
          </a:xfrm>
          <a:prstGeom prst="hexagon">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4215384"/>
            <a:ext cx="443484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Le repo ne dit pas ce qu'il attend</a:t>
            </a:r>
          </a:p>
        </p:txBody>
      </p:sp>
      <p:sp>
        <p:nvSpPr>
          <p:cNvPr id="14" name="Rectangle 13"/>
          <p:cNvSpPr/>
          <p:nvPr/>
        </p:nvSpPr>
        <p:spPr>
          <a:xfrm>
            <a:off x="6263640" y="1600200"/>
            <a:ext cx="5257800" cy="3794760"/>
          </a:xfrm>
          <a:prstGeom prst="rect">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600200"/>
            <a:ext cx="5257800" cy="64008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274320"/>
          <a:lstStyle/>
          <a:p>
            <a:pPr algn="l">
              <a:spcAft>
                <a:spcPts val="0"/>
              </a:spcAft>
            </a:pPr>
            <a:r>
              <a:rPr sz="2200" b="1">
                <a:solidFill>
                  <a:srgbClr val="FFFFFF"/>
                </a:solidFill>
                <a:latin typeface="Avenir Next"/>
              </a:rPr>
              <a:t>Skills par projet</a:t>
            </a:r>
          </a:p>
        </p:txBody>
      </p:sp>
      <p:sp>
        <p:nvSpPr>
          <p:cNvPr id="16" name="Hexagon 15"/>
          <p:cNvSpPr/>
          <p:nvPr/>
        </p:nvSpPr>
        <p:spPr>
          <a:xfrm>
            <a:off x="6537960" y="2606040"/>
            <a:ext cx="155448" cy="155448"/>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2514600"/>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Chaque projet choisit ses modules</a:t>
            </a:r>
          </a:p>
        </p:txBody>
      </p:sp>
      <p:sp>
        <p:nvSpPr>
          <p:cNvPr id="18" name="Hexagon 17"/>
          <p:cNvSpPr/>
          <p:nvPr/>
        </p:nvSpPr>
        <p:spPr>
          <a:xfrm>
            <a:off x="6537960" y="3172968"/>
            <a:ext cx="155448" cy="155448"/>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3081528"/>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GroupBees, client, perso : sans mélange</a:t>
            </a:r>
          </a:p>
        </p:txBody>
      </p:sp>
      <p:sp>
        <p:nvSpPr>
          <p:cNvPr id="20" name="Hexagon 19"/>
          <p:cNvSpPr/>
          <p:nvPr/>
        </p:nvSpPr>
        <p:spPr>
          <a:xfrm>
            <a:off x="6537960" y="3739896"/>
            <a:ext cx="155448" cy="155448"/>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0" y="3648456"/>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Version épinglée par projet</a:t>
            </a:r>
          </a:p>
        </p:txBody>
      </p:sp>
      <p:sp>
        <p:nvSpPr>
          <p:cNvPr id="22" name="Hexagon 21"/>
          <p:cNvSpPr/>
          <p:nvPr/>
        </p:nvSpPr>
        <p:spPr>
          <a:xfrm>
            <a:off x="6537960" y="4306824"/>
            <a:ext cx="155448" cy="155448"/>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0" y="4215384"/>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Déclaré et versionné avec le code</a:t>
            </a:r>
          </a:p>
        </p:txBody>
      </p:sp>
      <p:sp>
        <p:nvSpPr>
          <p:cNvPr id="24" name="Rectangle 23"/>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De bonnes pratiques… mais on veut choisir où elles s'appliquent.</a:t>
            </a:r>
          </a:p>
        </p:txBody>
      </p:sp>
      <p:pic>
        <p:nvPicPr>
          <p:cNvPr id="26" name="bee_happy.png" descr="bee_happy.png"/>
          <p:cNvPicPr>
            <a:picLocks noChangeAspect="1"/>
          </p:cNvPicPr>
          <p:nvPr/>
        </p:nvPicPr>
        <p:blipFill>
          <a:blip r:embed="rId3"/>
          <a:stretch>
            <a:fillRect/>
          </a:stretch>
        </p:blipFill>
        <p:spPr>
          <a:xfrm rot="600000">
            <a:off x="10881360" y="274320"/>
            <a:ext cx="733633" cy="914400"/>
          </a:xfrm>
          <a:prstGeom prst="rect">
            <a:avLst/>
          </a:prstGeom>
        </p:spPr>
      </p:pic>
      <p:pic>
        <p:nvPicPr>
          <p:cNvPr id="27"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8" name="TextBox 27"/>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15/32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Par projet : un gestionnaire de skills</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417320" y="3223260"/>
            <a:ext cx="9326880" cy="45720"/>
          </a:xfrm>
          <a:prstGeom prst="rect">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417320" y="3218688"/>
            <a:ext cx="9326880" cy="54864"/>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60704" y="2889504"/>
            <a:ext cx="713232" cy="713232"/>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FFFFFF"/>
                </a:solidFill>
                <a:latin typeface="Avenir Next"/>
              </a:rPr>
              <a:t>1</a:t>
            </a:r>
          </a:p>
        </p:txBody>
      </p:sp>
      <p:sp>
        <p:nvSpPr>
          <p:cNvPr id="7" name="TextBox 6"/>
          <p:cNvSpPr txBox="1"/>
          <p:nvPr/>
        </p:nvSpPr>
        <p:spPr>
          <a:xfrm>
            <a:off x="274320" y="3931920"/>
            <a:ext cx="2286000" cy="1280160"/>
          </a:xfrm>
          <a:prstGeom prst="rect">
            <a:avLst/>
          </a:prstGeom>
          <a:noFill/>
        </p:spPr>
        <p:txBody>
          <a:bodyPr wrap="square" lIns="0" rIns="0" tIns="0" bIns="0">
            <a:spAutoFit/>
          </a:bodyPr>
          <a:lstStyle/>
          <a:p>
            <a:pPr algn="ctr">
              <a:spcAft>
                <a:spcPts val="400"/>
              </a:spcAft>
            </a:pPr>
            <a:r>
              <a:rPr sz="1500" b="1">
                <a:solidFill>
                  <a:srgbClr val="14141A"/>
                </a:solidFill>
                <a:latin typeface="Avenir Next"/>
              </a:rPr>
              <a:t>CLAUDE.md perso</a:t>
            </a:r>
          </a:p>
          <a:p>
            <a:pPr algn="ctr">
              <a:spcAft>
                <a:spcPts val="0"/>
              </a:spcAft>
            </a:pPr>
            <a:r>
              <a:rPr sz="1300">
                <a:solidFill>
                  <a:srgbClr val="5B6372"/>
                </a:solidFill>
                <a:latin typeface="Avenir Next"/>
              </a:rPr>
              <a:t>chacun son Claude</a:t>
            </a:r>
          </a:p>
        </p:txBody>
      </p:sp>
      <p:sp>
        <p:nvSpPr>
          <p:cNvPr id="8" name="Hexagon 7"/>
          <p:cNvSpPr/>
          <p:nvPr/>
        </p:nvSpPr>
        <p:spPr>
          <a:xfrm>
            <a:off x="3392424" y="2889504"/>
            <a:ext cx="713232" cy="713232"/>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FFFFFF"/>
                </a:solidFill>
                <a:latin typeface="Avenir Next"/>
              </a:rPr>
              <a:t>2</a:t>
            </a:r>
          </a:p>
        </p:txBody>
      </p:sp>
      <p:sp>
        <p:nvSpPr>
          <p:cNvPr id="9" name="TextBox 8"/>
          <p:cNvSpPr txBox="1"/>
          <p:nvPr/>
        </p:nvSpPr>
        <p:spPr>
          <a:xfrm>
            <a:off x="2606040" y="3931920"/>
            <a:ext cx="2286000" cy="1280160"/>
          </a:xfrm>
          <a:prstGeom prst="rect">
            <a:avLst/>
          </a:prstGeom>
          <a:noFill/>
        </p:spPr>
        <p:txBody>
          <a:bodyPr wrap="square" lIns="0" rIns="0" tIns="0" bIns="0">
            <a:spAutoFit/>
          </a:bodyPr>
          <a:lstStyle/>
          <a:p>
            <a:pPr algn="ctr">
              <a:spcAft>
                <a:spcPts val="400"/>
              </a:spcAft>
            </a:pPr>
            <a:r>
              <a:rPr sz="1500" b="1">
                <a:solidFill>
                  <a:srgbClr val="14141A"/>
                </a:solidFill>
                <a:latin typeface="Avenir Next"/>
              </a:rPr>
              <a:t>CLAUDE.md partagé</a:t>
            </a:r>
          </a:p>
          <a:p>
            <a:pPr algn="ctr">
              <a:spcAft>
                <a:spcPts val="0"/>
              </a:spcAft>
            </a:pPr>
            <a:r>
              <a:rPr sz="1300">
                <a:solidFill>
                  <a:srgbClr val="5B6372"/>
                </a:solidFill>
                <a:latin typeface="Avenir Next"/>
              </a:rPr>
              <a:t>un fichier pour tous</a:t>
            </a:r>
          </a:p>
        </p:txBody>
      </p:sp>
      <p:sp>
        <p:nvSpPr>
          <p:cNvPr id="10" name="Hexagon 9"/>
          <p:cNvSpPr/>
          <p:nvPr/>
        </p:nvSpPr>
        <p:spPr>
          <a:xfrm>
            <a:off x="5724144" y="2889504"/>
            <a:ext cx="713232" cy="713232"/>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FFFFFF"/>
                </a:solidFill>
                <a:latin typeface="Avenir Next"/>
              </a:rPr>
              <a:t>3</a:t>
            </a:r>
          </a:p>
        </p:txBody>
      </p:sp>
      <p:sp>
        <p:nvSpPr>
          <p:cNvPr id="11" name="TextBox 10"/>
          <p:cNvSpPr txBox="1"/>
          <p:nvPr/>
        </p:nvSpPr>
        <p:spPr>
          <a:xfrm>
            <a:off x="4937760" y="3931920"/>
            <a:ext cx="2286000" cy="1280160"/>
          </a:xfrm>
          <a:prstGeom prst="rect">
            <a:avLst/>
          </a:prstGeom>
          <a:noFill/>
        </p:spPr>
        <p:txBody>
          <a:bodyPr wrap="square" lIns="0" rIns="0" tIns="0" bIns="0">
            <a:spAutoFit/>
          </a:bodyPr>
          <a:lstStyle/>
          <a:p>
            <a:pPr algn="ctr">
              <a:spcAft>
                <a:spcPts val="400"/>
              </a:spcAft>
            </a:pPr>
            <a:r>
              <a:rPr sz="1500" b="1">
                <a:solidFill>
                  <a:srgbClr val="14141A"/>
                </a:solidFill>
                <a:latin typeface="Avenir Next"/>
              </a:rPr>
              <a:t>Skills modulaires</a:t>
            </a:r>
          </a:p>
          <a:p>
            <a:pPr algn="ctr">
              <a:spcAft>
                <a:spcPts val="0"/>
              </a:spcAft>
            </a:pPr>
            <a:r>
              <a:rPr sz="1300">
                <a:solidFill>
                  <a:srgbClr val="5B6372"/>
                </a:solidFill>
                <a:latin typeface="Avenir Next"/>
              </a:rPr>
              <a:t>chargés à la demande</a:t>
            </a:r>
          </a:p>
        </p:txBody>
      </p:sp>
      <p:sp>
        <p:nvSpPr>
          <p:cNvPr id="12" name="Hexagon 11"/>
          <p:cNvSpPr/>
          <p:nvPr/>
        </p:nvSpPr>
        <p:spPr>
          <a:xfrm>
            <a:off x="8055864" y="2889504"/>
            <a:ext cx="713232" cy="713232"/>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000" b="1">
                <a:solidFill>
                  <a:srgbClr val="FFFFFF"/>
                </a:solidFill>
                <a:latin typeface="Avenir Next"/>
              </a:rPr>
              <a:t>4</a:t>
            </a:r>
          </a:p>
        </p:txBody>
      </p:sp>
      <p:sp>
        <p:nvSpPr>
          <p:cNvPr id="13" name="TextBox 12"/>
          <p:cNvSpPr txBox="1"/>
          <p:nvPr/>
        </p:nvSpPr>
        <p:spPr>
          <a:xfrm>
            <a:off x="7269480" y="3931920"/>
            <a:ext cx="2286000" cy="1280160"/>
          </a:xfrm>
          <a:prstGeom prst="rect">
            <a:avLst/>
          </a:prstGeom>
          <a:noFill/>
        </p:spPr>
        <p:txBody>
          <a:bodyPr wrap="square" lIns="0" rIns="0" tIns="0" bIns="0">
            <a:spAutoFit/>
          </a:bodyPr>
          <a:lstStyle/>
          <a:p>
            <a:pPr algn="ctr">
              <a:spcAft>
                <a:spcPts val="400"/>
              </a:spcAft>
            </a:pPr>
            <a:r>
              <a:rPr sz="1500" b="1">
                <a:solidFill>
                  <a:srgbClr val="14141A"/>
                </a:solidFill>
                <a:latin typeface="Avenir Next"/>
              </a:rPr>
              <a:t>Sync global</a:t>
            </a:r>
          </a:p>
          <a:p>
            <a:pPr algn="ctr">
              <a:spcAft>
                <a:spcPts val="0"/>
              </a:spcAft>
            </a:pPr>
            <a:r>
              <a:rPr sz="1300">
                <a:solidFill>
                  <a:srgbClr val="5B6372"/>
                </a:solidFill>
                <a:latin typeface="Avenir Next"/>
              </a:rPr>
              <a:t>~/.claude/skills</a:t>
            </a:r>
          </a:p>
        </p:txBody>
      </p:sp>
      <p:sp>
        <p:nvSpPr>
          <p:cNvPr id="14" name="Hexagon 13"/>
          <p:cNvSpPr/>
          <p:nvPr/>
        </p:nvSpPr>
        <p:spPr>
          <a:xfrm>
            <a:off x="10264140" y="2766060"/>
            <a:ext cx="960120" cy="960120"/>
          </a:xfrm>
          <a:prstGeom prst="hexagon">
            <a:avLst/>
          </a:prstGeom>
          <a:gradFill rotWithShape="1">
            <a:gsLst>
              <a:gs pos="0">
                <a:srgbClr val="00B5FB"/>
              </a:gs>
              <a:gs pos="100000">
                <a:srgbClr val="974E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600" b="1">
                <a:solidFill>
                  <a:srgbClr val="FFFFFF"/>
                </a:solidFill>
                <a:latin typeface="Avenir Next"/>
              </a:rPr>
              <a:t>5</a:t>
            </a:r>
          </a:p>
        </p:txBody>
      </p:sp>
      <p:sp>
        <p:nvSpPr>
          <p:cNvPr id="15" name="TextBox 14"/>
          <p:cNvSpPr txBox="1"/>
          <p:nvPr/>
        </p:nvSpPr>
        <p:spPr>
          <a:xfrm>
            <a:off x="9601200" y="3931920"/>
            <a:ext cx="2286000" cy="1280160"/>
          </a:xfrm>
          <a:prstGeom prst="rect">
            <a:avLst/>
          </a:prstGeom>
          <a:noFill/>
        </p:spPr>
        <p:txBody>
          <a:bodyPr wrap="square" lIns="0" rIns="0" tIns="0" bIns="0">
            <a:spAutoFit/>
          </a:bodyPr>
          <a:lstStyle/>
          <a:p>
            <a:pPr algn="ctr">
              <a:spcAft>
                <a:spcPts val="400"/>
              </a:spcAft>
            </a:pPr>
            <a:r>
              <a:rPr sz="1700" b="1">
                <a:solidFill>
                  <a:srgbClr val="14141A"/>
                </a:solidFill>
                <a:latin typeface="Avenir Next"/>
              </a:rPr>
              <a:t>Skills par projet</a:t>
            </a:r>
          </a:p>
          <a:p>
            <a:pPr algn="ctr">
              <a:spcAft>
                <a:spcPts val="0"/>
              </a:spcAft>
            </a:pPr>
            <a:r>
              <a:rPr sz="1300">
                <a:solidFill>
                  <a:srgbClr val="2A2F3A"/>
                </a:solidFill>
                <a:latin typeface="Avenir Next"/>
              </a:rPr>
              <a:t>pollen.yaml</a:t>
            </a:r>
          </a:p>
        </p:txBody>
      </p:sp>
      <p:pic>
        <p:nvPicPr>
          <p:cNvPr id="16" name="bee_astro.png" descr="bee_astro.png"/>
          <p:cNvPicPr>
            <a:picLocks noChangeAspect="1"/>
          </p:cNvPicPr>
          <p:nvPr/>
        </p:nvPicPr>
        <p:blipFill>
          <a:blip r:embed="rId2"/>
          <a:stretch>
            <a:fillRect/>
          </a:stretch>
        </p:blipFill>
        <p:spPr>
          <a:xfrm>
            <a:off x="10332720" y="1371601"/>
            <a:ext cx="953723" cy="1188720"/>
          </a:xfrm>
          <a:prstGeom prst="rect">
            <a:avLst/>
          </a:prstGeom>
        </p:spPr>
      </p:pic>
      <p:sp>
        <p:nvSpPr>
          <p:cNvPr id="17" name="Rectangle 16"/>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Importer des modules de skills, comme des dépendances.</a:t>
            </a:r>
          </a:p>
        </p:txBody>
      </p:sp>
      <p:pic>
        <p:nvPicPr>
          <p:cNvPr id="19"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0" name="TextBox 19"/>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16/32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xagon 1"/>
          <p:cNvSpPr/>
          <p:nvPr/>
        </p:nvSpPr>
        <p:spPr>
          <a:xfrm>
            <a:off x="10469880"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10957438"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10713659"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xagon 4"/>
          <p:cNvSpPr/>
          <p:nvPr/>
        </p:nvSpPr>
        <p:spPr>
          <a:xfrm>
            <a:off x="11201217"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469880"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xagon 6"/>
          <p:cNvSpPr/>
          <p:nvPr/>
        </p:nvSpPr>
        <p:spPr>
          <a:xfrm>
            <a:off x="10957438"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S'appuyer sur les standards</a:t>
            </a:r>
          </a:p>
        </p:txBody>
      </p:sp>
      <p:sp>
        <p:nvSpPr>
          <p:cNvPr id="9" name="Rectangle 8"/>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exagon 9"/>
          <p:cNvSpPr/>
          <p:nvPr/>
        </p:nvSpPr>
        <p:spPr>
          <a:xfrm>
            <a:off x="713232" y="189280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78308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Agent Skills : un format ouvert, SKILL.md (agentskills.io)</a:t>
            </a:r>
          </a:p>
        </p:txBody>
      </p:sp>
      <p:sp>
        <p:nvSpPr>
          <p:cNvPr id="12" name="Hexagon 11"/>
          <p:cNvSpPr/>
          <p:nvPr/>
        </p:nvSpPr>
        <p:spPr>
          <a:xfrm>
            <a:off x="713232" y="253288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42316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Lu tel quel par Claude Code, Copilot, Cursor, Codex, Antigravity CLI…</a:t>
            </a:r>
          </a:p>
        </p:txBody>
      </p:sp>
      <p:sp>
        <p:nvSpPr>
          <p:cNvPr id="14" name="Hexagon 13"/>
          <p:cNvSpPr/>
          <p:nvPr/>
        </p:nvSpPr>
        <p:spPr>
          <a:xfrm>
            <a:off x="713232" y="317296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06324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AGENTS.md pour le contexte du projet, SKILL.md pour les conventions</a:t>
            </a:r>
          </a:p>
        </p:txBody>
      </p:sp>
      <p:sp>
        <p:nvSpPr>
          <p:cNvPr id="16" name="Hexagon 15"/>
          <p:cNvSpPr/>
          <p:nvPr/>
        </p:nvSpPr>
        <p:spPr>
          <a:xfrm>
            <a:off x="713232" y="381304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0332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Vérifié en CI : skill-validator contrôle le format</a:t>
            </a:r>
          </a:p>
        </p:txBody>
      </p:sp>
      <p:sp>
        <p:nvSpPr>
          <p:cNvPr id="18" name="Hexagon 17"/>
          <p:cNvSpPr/>
          <p:nvPr/>
        </p:nvSpPr>
        <p:spPr>
          <a:xfrm>
            <a:off x="713232" y="445312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4340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Ni installation ni épinglage dans le standard : c'est le rôle de pollen</a:t>
            </a:r>
          </a:p>
        </p:txBody>
      </p:sp>
      <p:sp>
        <p:nvSpPr>
          <p:cNvPr id="20" name="Rectangle 19"/>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Écrits une fois, lus par tous les agents : aucun lock-in.</a:t>
            </a:r>
          </a:p>
        </p:txBody>
      </p:sp>
      <p:pic>
        <p:nvPicPr>
          <p:cNvPr id="22" name="bee.png" descr="bee.png"/>
          <p:cNvPicPr>
            <a:picLocks noChangeAspect="1"/>
          </p:cNvPicPr>
          <p:nvPr/>
        </p:nvPicPr>
        <p:blipFill>
          <a:blip r:embed="rId3"/>
          <a:stretch>
            <a:fillRect/>
          </a:stretch>
        </p:blipFill>
        <p:spPr>
          <a:xfrm rot="21000000" flipH="1">
            <a:off x="10789920" y="274320"/>
            <a:ext cx="774497" cy="914400"/>
          </a:xfrm>
          <a:prstGeom prst="rect">
            <a:avLst/>
          </a:prstGeom>
        </p:spPr>
      </p:pic>
      <p:pic>
        <p:nvPicPr>
          <p:cNvPr id="23"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4" name="TextBox 23"/>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17/32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pollen : les skills comme des dépendances</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481328"/>
            <a:ext cx="10881360" cy="3255264"/>
          </a:xfrm>
          <a:prstGeom prst="rect">
            <a:avLst/>
          </a:prstGeom>
          <a:solidFill>
            <a:srgbClr val="1B1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20040" tIns="201168" rIns="182880" bIns="182880"/>
          <a:lstStyle/>
          <a:p>
            <a:pPr algn="l">
              <a:spcAft>
                <a:spcPts val="0"/>
              </a:spcAft>
            </a:pPr>
            <a:r>
              <a:rPr sz="1400">
                <a:solidFill>
                  <a:srgbClr val="00B5FB"/>
                </a:solidFill>
                <a:latin typeface="Consolas"/>
              </a:rPr>
              <a:t># pollen.yaml — committé à la racine du projet</a:t>
            </a:r>
          </a:p>
          <a:p>
            <a:pPr algn="l">
              <a:spcAft>
                <a:spcPts val="0"/>
              </a:spcAft>
            </a:pPr>
            <a:r>
              <a:rPr sz="1400">
                <a:solidFill>
                  <a:srgbClr val="E8EAF2"/>
                </a:solidFill>
                <a:latin typeface="Consolas"/>
              </a:rPr>
              <a:t>repos:</a:t>
            </a:r>
          </a:p>
          <a:p>
            <a:pPr algn="l">
              <a:spcAft>
                <a:spcPts val="0"/>
              </a:spcAft>
            </a:pPr>
            <a:r>
              <a:rPr sz="1400">
                <a:solidFill>
                  <a:srgbClr val="E8EAF2"/>
                </a:solidFill>
                <a:latin typeface="Consolas"/>
              </a:rPr>
              <a:t>  - repo: git@github.com:groupbees/skills-core.git</a:t>
            </a:r>
          </a:p>
          <a:p>
            <a:pPr algn="l">
              <a:spcAft>
                <a:spcPts val="0"/>
              </a:spcAft>
            </a:pPr>
            <a:r>
              <a:rPr sz="1400">
                <a:solidFill>
                  <a:srgbClr val="E8EAF2"/>
                </a:solidFill>
                <a:latin typeface="Consolas"/>
              </a:rPr>
              <a:t>    revision: 351fd495…  # v0.3.1</a:t>
            </a:r>
          </a:p>
          <a:p>
            <a:pPr algn="l">
              <a:spcAft>
                <a:spcPts val="0"/>
              </a:spcAft>
            </a:pPr>
            <a:r>
              <a:rPr sz="1400">
                <a:solidFill>
                  <a:srgbClr val="E8EAF2"/>
                </a:solidFill>
                <a:latin typeface="Consolas"/>
              </a:rPr>
              <a:t>    paths:</a:t>
            </a:r>
          </a:p>
          <a:p>
            <a:pPr algn="l">
              <a:spcAft>
                <a:spcPts val="0"/>
              </a:spcAft>
            </a:pPr>
            <a:r>
              <a:rPr sz="1400">
                <a:solidFill>
                  <a:srgbClr val="E8EAF2"/>
                </a:solidFill>
                <a:latin typeface="Consolas"/>
              </a:rPr>
              <a:t>      - path: skills/python      # on choisit ses domaines</a:t>
            </a:r>
          </a:p>
          <a:p>
            <a:pPr algn="l">
              <a:spcAft>
                <a:spcPts val="0"/>
              </a:spcAft>
            </a:pPr>
            <a:r>
              <a:rPr sz="1400">
                <a:solidFill>
                  <a:srgbClr val="E8EAF2"/>
                </a:solidFill>
                <a:latin typeface="Consolas"/>
              </a:rPr>
              <a:t>      - path: skills/docker</a:t>
            </a:r>
          </a:p>
          <a:p>
            <a:pPr algn="l">
              <a:spcAft>
                <a:spcPts val="0"/>
              </a:spcAft>
            </a:pPr>
            <a:r>
              <a:rPr sz="1400">
                <a:solidFill>
                  <a:srgbClr val="E8EAF2"/>
                </a:solidFill>
                <a:latin typeface="Consolas"/>
              </a:rPr>
              <a:t>  - repo: local                    # skills propres au projet</a:t>
            </a:r>
          </a:p>
          <a:p>
            <a:pPr algn="l">
              <a:spcAft>
                <a:spcPts val="0"/>
              </a:spcAft>
            </a:pPr>
            <a:r>
              <a:rPr sz="1400">
                <a:solidFill>
                  <a:srgbClr val="E8EAF2"/>
                </a:solidFill>
                <a:latin typeface="Consolas"/>
              </a:rPr>
              <a:t>    paths:</a:t>
            </a:r>
          </a:p>
          <a:p>
            <a:pPr algn="l">
              <a:spcAft>
                <a:spcPts val="0"/>
              </a:spcAft>
            </a:pPr>
            <a:r>
              <a:rPr sz="1400">
                <a:solidFill>
                  <a:srgbClr val="E8EAF2"/>
                </a:solidFill>
                <a:latin typeface="Consolas"/>
              </a:rPr>
              <a:t>      - path: .skills</a:t>
            </a:r>
          </a:p>
          <a:p>
            <a:pPr algn="l">
              <a:spcAft>
                <a:spcPts val="0"/>
              </a:spcAft>
            </a:pPr>
            <a:r>
              <a:rPr sz="1400">
                <a:solidFill>
                  <a:srgbClr val="E8EAF2"/>
                </a:solidFill>
                <a:latin typeface="Consolas"/>
              </a:rPr>
              <a:t> </a:t>
            </a:r>
          </a:p>
          <a:p>
            <a:pPr algn="l">
              <a:spcAft>
                <a:spcPts val="0"/>
              </a:spcAft>
            </a:pPr>
            <a:r>
              <a:rPr sz="1400">
                <a:solidFill>
                  <a:srgbClr val="E8EAF2"/>
                </a:solidFill>
                <a:latin typeface="Consolas"/>
              </a:rPr>
              <a:t>$ pollen update   # → .claude/skills/ + .agents/skills/</a:t>
            </a:r>
          </a:p>
        </p:txBody>
      </p:sp>
      <p:sp>
        <p:nvSpPr>
          <p:cNvPr id="5" name="Rectangle 4"/>
          <p:cNvSpPr/>
          <p:nvPr/>
        </p:nvSpPr>
        <p:spPr>
          <a:xfrm>
            <a:off x="640080" y="1481328"/>
            <a:ext cx="64008" cy="3255264"/>
          </a:xfrm>
          <a:prstGeom prst="rect">
            <a:avLst/>
          </a:prstGeom>
          <a:gradFill rotWithShape="1">
            <a:gsLst>
              <a:gs pos="0">
                <a:srgbClr val="00B5FB"/>
              </a:gs>
              <a:gs pos="100000">
                <a:srgbClr val="974EFF"/>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937760"/>
            <a:ext cx="10881360" cy="457200"/>
          </a:xfrm>
          <a:prstGeom prst="rect">
            <a:avLst/>
          </a:prstGeom>
          <a:noFill/>
        </p:spPr>
        <p:txBody>
          <a:bodyPr wrap="square" lIns="0" rIns="0" tIns="0" bIns="0">
            <a:spAutoFit/>
          </a:bodyPr>
          <a:lstStyle/>
          <a:p>
            <a:pPr algn="l">
              <a:spcAft>
                <a:spcPts val="0"/>
              </a:spcAft>
            </a:pPr>
            <a:r>
              <a:rPr sz="1700" b="1">
                <a:solidFill>
                  <a:srgbClr val="974EFF"/>
                </a:solidFill>
                <a:latin typeface="Avenir Next"/>
              </a:rPr>
              <a:t>Le projet déclare ses conventions. Un seul fichier, relu en PR.</a:t>
            </a:r>
          </a:p>
        </p:txBody>
      </p:sp>
      <p:pic>
        <p:nvPicPr>
          <p:cNvPr id="7" name="logo.png" descr="logo.png"/>
          <p:cNvPicPr>
            <a:picLocks noChangeAspect="1"/>
          </p:cNvPicPr>
          <p:nvPr/>
        </p:nvPicPr>
        <p:blipFill>
          <a:blip r:embed="rId3"/>
          <a:stretch>
            <a:fillRect/>
          </a:stretch>
        </p:blipFill>
        <p:spPr>
          <a:xfrm>
            <a:off x="566928" y="6263640"/>
            <a:ext cx="899514" cy="274320"/>
          </a:xfrm>
          <a:prstGeom prst="rect">
            <a:avLst/>
          </a:prstGeom>
        </p:spPr>
      </p:pic>
      <p:sp>
        <p:nvSpPr>
          <p:cNvPr id="8" name="TextBox 7"/>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18/32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xagon 1"/>
          <p:cNvSpPr/>
          <p:nvPr/>
        </p:nvSpPr>
        <p:spPr>
          <a:xfrm>
            <a:off x="10469880"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10957438"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10713659"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xagon 4"/>
          <p:cNvSpPr/>
          <p:nvPr/>
        </p:nvSpPr>
        <p:spPr>
          <a:xfrm>
            <a:off x="11201217"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469880"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xagon 6"/>
          <p:cNvSpPr/>
          <p:nvPr/>
        </p:nvSpPr>
        <p:spPr>
          <a:xfrm>
            <a:off x="10957438"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pollen, en pratique</a:t>
            </a:r>
          </a:p>
        </p:txBody>
      </p:sp>
      <p:sp>
        <p:nvSpPr>
          <p:cNvPr id="9" name="Rectangle 8"/>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bee_cool.png" descr="bee_cool.png"/>
          <p:cNvPicPr>
            <a:picLocks noChangeAspect="1"/>
          </p:cNvPicPr>
          <p:nvPr/>
        </p:nvPicPr>
        <p:blipFill>
          <a:blip r:embed="rId2"/>
          <a:stretch>
            <a:fillRect/>
          </a:stretch>
        </p:blipFill>
        <p:spPr>
          <a:xfrm>
            <a:off x="8778240" y="2011680"/>
            <a:ext cx="2902857" cy="2926080"/>
          </a:xfrm>
          <a:prstGeom prst="rect">
            <a:avLst/>
          </a:prstGeom>
        </p:spPr>
      </p:pic>
      <p:sp>
        <p:nvSpPr>
          <p:cNvPr id="11" name="Hexagon 10"/>
          <p:cNvSpPr/>
          <p:nvPr/>
        </p:nvSpPr>
        <p:spPr>
          <a:xfrm>
            <a:off x="713232" y="189280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1783080"/>
            <a:ext cx="704088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Déclaratif : install, refresh, prune</a:t>
            </a:r>
          </a:p>
        </p:txBody>
      </p:sp>
      <p:sp>
        <p:nvSpPr>
          <p:cNvPr id="13" name="Hexagon 12"/>
          <p:cNvSpPr/>
          <p:nvPr/>
        </p:nvSpPr>
        <p:spPr>
          <a:xfrm>
            <a:off x="713232" y="253288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423160"/>
            <a:ext cx="704088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Par projet, ou pour la machine : pollen update -g</a:t>
            </a:r>
          </a:p>
        </p:txBody>
      </p:sp>
      <p:sp>
        <p:nvSpPr>
          <p:cNvPr id="15" name="Hexagon 14"/>
          <p:cNvSpPr/>
          <p:nvPr/>
        </p:nvSpPr>
        <p:spPr>
          <a:xfrm>
            <a:off x="713232" y="317296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063240"/>
            <a:ext cx="704088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Ne touche jamais un skill qu'il n'a pas installé</a:t>
            </a:r>
          </a:p>
        </p:txBody>
      </p:sp>
      <p:sp>
        <p:nvSpPr>
          <p:cNvPr id="17" name="Hexagon 16"/>
          <p:cNvSpPr/>
          <p:nvPr/>
        </p:nvSpPr>
        <p:spPr>
          <a:xfrm>
            <a:off x="713232" y="381304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703320"/>
            <a:ext cx="704088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Une config par dossier cible, pas de suppression croisée</a:t>
            </a:r>
          </a:p>
        </p:txBody>
      </p:sp>
      <p:sp>
        <p:nvSpPr>
          <p:cNvPr id="19" name="Hexagon 18"/>
          <p:cNvSpPr/>
          <p:nvPr/>
        </p:nvSpPr>
        <p:spPr>
          <a:xfrm>
            <a:off x="713232" y="445312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343400"/>
            <a:ext cx="704088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Pas un registre, pas de résolution de dépendances</a:t>
            </a:r>
          </a:p>
        </p:txBody>
      </p:sp>
      <p:pic>
        <p:nvPicPr>
          <p:cNvPr id="21"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2" name="TextBox 21"/>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19/32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Épingler un commit… et pas de lockfile</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481328"/>
            <a:ext cx="10881360" cy="2322576"/>
          </a:xfrm>
          <a:prstGeom prst="rect">
            <a:avLst/>
          </a:prstGeom>
          <a:solidFill>
            <a:srgbClr val="1B1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20040" tIns="201168" rIns="182880" bIns="182880"/>
          <a:lstStyle/>
          <a:p>
            <a:pPr algn="l">
              <a:spcAft>
                <a:spcPts val="0"/>
              </a:spcAft>
            </a:pPr>
            <a:r>
              <a:rPr sz="1400">
                <a:solidFill>
                  <a:srgbClr val="00B5FB"/>
                </a:solidFill>
                <a:latin typeface="Consolas"/>
              </a:rPr>
              <a:t># un commit ne bouge pas — un tag peut, une branche bouge à chaque push</a:t>
            </a:r>
          </a:p>
          <a:p>
            <a:pPr algn="l">
              <a:spcAft>
                <a:spcPts val="0"/>
              </a:spcAft>
            </a:pPr>
            <a:r>
              <a:rPr sz="1400">
                <a:solidFill>
                  <a:srgbClr val="E8EAF2"/>
                </a:solidFill>
                <a:latin typeface="Consolas"/>
              </a:rPr>
              <a:t>revision: 4e1e8e25a2f32d8311cd52c5d9a703bad990e525  # v0.2.0</a:t>
            </a:r>
          </a:p>
          <a:p>
            <a:pPr algn="l">
              <a:spcAft>
                <a:spcPts val="0"/>
              </a:spcAft>
            </a:pPr>
            <a:r>
              <a:rPr sz="1400">
                <a:solidFill>
                  <a:srgbClr val="E8EAF2"/>
                </a:solidFill>
                <a:latin typeface="Consolas"/>
              </a:rPr>
              <a:t> </a:t>
            </a:r>
          </a:p>
          <a:p>
            <a:pPr algn="l">
              <a:spcAft>
                <a:spcPts val="0"/>
              </a:spcAft>
            </a:pPr>
            <a:r>
              <a:rPr sz="1400">
                <a:solidFill>
                  <a:srgbClr val="E8EAF2"/>
                </a:solidFill>
                <a:latin typeface="Consolas"/>
              </a:rPr>
              <a:t>$ pollen outdated</a:t>
            </a:r>
          </a:p>
          <a:p>
            <a:pPr algn="l">
              <a:spcAft>
                <a:spcPts val="0"/>
              </a:spcAft>
            </a:pPr>
            <a:r>
              <a:rPr sz="1400">
                <a:solidFill>
                  <a:srgbClr val="E8EAF2"/>
                </a:solidFill>
                <a:latin typeface="Consolas"/>
              </a:rPr>
              <a:t>skills-core  4e1e8e25 (v0.2.0)  -&gt; v0.2.5</a:t>
            </a:r>
          </a:p>
          <a:p>
            <a:pPr algn="l">
              <a:spcAft>
                <a:spcPts val="0"/>
              </a:spcAft>
            </a:pPr>
            <a:r>
              <a:rPr sz="1400">
                <a:solidFill>
                  <a:srgbClr val="E8EAF2"/>
                </a:solidFill>
                <a:latin typeface="Consolas"/>
              </a:rPr>
              <a:t> </a:t>
            </a:r>
          </a:p>
          <a:p>
            <a:pPr algn="l">
              <a:spcAft>
                <a:spcPts val="0"/>
              </a:spcAft>
            </a:pPr>
            <a:r>
              <a:rPr sz="1400">
                <a:solidFill>
                  <a:srgbClr val="E8EAF2"/>
                </a:solidFill>
                <a:latin typeface="Consolas"/>
              </a:rPr>
              <a:t>$ pollen autoupdate --freeze     # réécrit le SHA et le tag</a:t>
            </a:r>
          </a:p>
          <a:p>
            <a:pPr algn="l">
              <a:spcAft>
                <a:spcPts val="0"/>
              </a:spcAft>
            </a:pPr>
            <a:r>
              <a:rPr sz="1400">
                <a:solidFill>
                  <a:srgbClr val="E8EAF2"/>
                </a:solidFill>
                <a:latin typeface="Consolas"/>
              </a:rPr>
              <a:t>$ pollen validate --pinned       # en CI : refuse tags et branches</a:t>
            </a:r>
          </a:p>
        </p:txBody>
      </p:sp>
      <p:sp>
        <p:nvSpPr>
          <p:cNvPr id="5" name="Rectangle 4"/>
          <p:cNvSpPr/>
          <p:nvPr/>
        </p:nvSpPr>
        <p:spPr>
          <a:xfrm>
            <a:off x="640080" y="1481328"/>
            <a:ext cx="64008" cy="2322576"/>
          </a:xfrm>
          <a:prstGeom prst="rect">
            <a:avLst/>
          </a:prstGeom>
          <a:gradFill rotWithShape="1">
            <a:gsLst>
              <a:gs pos="0">
                <a:srgbClr val="00B5FB"/>
              </a:gs>
              <a:gs pos="100000">
                <a:srgbClr val="974EFF"/>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005072"/>
            <a:ext cx="10881360" cy="457200"/>
          </a:xfrm>
          <a:prstGeom prst="rect">
            <a:avLst/>
          </a:prstGeom>
          <a:noFill/>
        </p:spPr>
        <p:txBody>
          <a:bodyPr wrap="square" lIns="0" rIns="0" tIns="0" bIns="0">
            <a:spAutoFit/>
          </a:bodyPr>
          <a:lstStyle/>
          <a:p>
            <a:pPr algn="l">
              <a:spcAft>
                <a:spcPts val="0"/>
              </a:spcAft>
            </a:pPr>
            <a:r>
              <a:rPr sz="1700" b="1">
                <a:solidFill>
                  <a:srgbClr val="974EFF"/>
                </a:solidFill>
                <a:latin typeface="Avenir Next"/>
              </a:rPr>
              <a:t>Ni plage de versions, ni dépendance transitive : le SHA est le lock.</a:t>
            </a:r>
          </a:p>
        </p:txBody>
      </p:sp>
      <p:pic>
        <p:nvPicPr>
          <p:cNvPr id="7" name="logo.png" descr="logo.png"/>
          <p:cNvPicPr>
            <a:picLocks noChangeAspect="1"/>
          </p:cNvPicPr>
          <p:nvPr/>
        </p:nvPicPr>
        <p:blipFill>
          <a:blip r:embed="rId3"/>
          <a:stretch>
            <a:fillRect/>
          </a:stretch>
        </p:blipFill>
        <p:spPr>
          <a:xfrm>
            <a:off x="566928" y="6263640"/>
            <a:ext cx="899514" cy="274320"/>
          </a:xfrm>
          <a:prstGeom prst="rect">
            <a:avLst/>
          </a:prstGeom>
        </p:spPr>
      </p:pic>
      <p:sp>
        <p:nvSpPr>
          <p:cNvPr id="8" name="TextBox 7"/>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20/32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Et npx skills ?</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600200"/>
            <a:ext cx="5257800" cy="3794760"/>
          </a:xfrm>
          <a:prstGeom prst="rect">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600200"/>
            <a:ext cx="5257800" cy="6400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a:lstStyle/>
          <a:p>
            <a:pPr algn="l">
              <a:spcAft>
                <a:spcPts val="0"/>
              </a:spcAft>
            </a:pPr>
            <a:r>
              <a:rPr sz="2200" b="1">
                <a:solidFill>
                  <a:srgbClr val="FFFFFF"/>
                </a:solidFill>
                <a:latin typeface="Avenir Next"/>
              </a:rPr>
              <a:t>npx skills (Vercel)</a:t>
            </a:r>
          </a:p>
        </p:txBody>
      </p:sp>
      <p:sp>
        <p:nvSpPr>
          <p:cNvPr id="6" name="Hexagon 5"/>
          <p:cNvSpPr/>
          <p:nvPr/>
        </p:nvSpPr>
        <p:spPr>
          <a:xfrm>
            <a:off x="914400" y="2606040"/>
            <a:ext cx="155448" cy="155448"/>
          </a:xfrm>
          <a:prstGeom prst="hexagon">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2514600"/>
            <a:ext cx="443484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Une CLI + un lockfile</a:t>
            </a:r>
          </a:p>
        </p:txBody>
      </p:sp>
      <p:sp>
        <p:nvSpPr>
          <p:cNvPr id="8" name="Hexagon 7"/>
          <p:cNvSpPr/>
          <p:nvPr/>
        </p:nvSpPr>
        <p:spPr>
          <a:xfrm>
            <a:off x="914400" y="3172968"/>
            <a:ext cx="155448" cy="155448"/>
          </a:xfrm>
          <a:prstGeom prst="hexagon">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3081528"/>
            <a:ext cx="443484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Épingle un ref (tag) + un hash</a:t>
            </a:r>
          </a:p>
        </p:txBody>
      </p:sp>
      <p:sp>
        <p:nvSpPr>
          <p:cNvPr id="10" name="Hexagon 9"/>
          <p:cNvSpPr/>
          <p:nvPr/>
        </p:nvSpPr>
        <p:spPr>
          <a:xfrm>
            <a:off x="914400" y="3739896"/>
            <a:ext cx="155448" cy="155448"/>
          </a:xfrm>
          <a:prstGeom prst="hexagon">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3648456"/>
            <a:ext cx="443484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Node ; déclaratif en expérimental</a:t>
            </a:r>
          </a:p>
        </p:txBody>
      </p:sp>
      <p:sp>
        <p:nvSpPr>
          <p:cNvPr id="12" name="Hexagon 11"/>
          <p:cNvSpPr/>
          <p:nvPr/>
        </p:nvSpPr>
        <p:spPr>
          <a:xfrm>
            <a:off x="914400" y="4306824"/>
            <a:ext cx="155448" cy="155448"/>
          </a:xfrm>
          <a:prstGeom prst="hexagon">
            <a:avLst/>
          </a:prstGeom>
          <a:solidFill>
            <a:srgbClr val="C9C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4215384"/>
            <a:ext cx="443484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Très large : skills.sh, 75+ agents</a:t>
            </a:r>
          </a:p>
        </p:txBody>
      </p:sp>
      <p:sp>
        <p:nvSpPr>
          <p:cNvPr id="14" name="Rectangle 13"/>
          <p:cNvSpPr/>
          <p:nvPr/>
        </p:nvSpPr>
        <p:spPr>
          <a:xfrm>
            <a:off x="6263640" y="1600200"/>
            <a:ext cx="5257800" cy="3794760"/>
          </a:xfrm>
          <a:prstGeom prst="rect">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600200"/>
            <a:ext cx="5257800" cy="64008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274320"/>
          <a:lstStyle/>
          <a:p>
            <a:pPr algn="l">
              <a:spcAft>
                <a:spcPts val="0"/>
              </a:spcAft>
            </a:pPr>
            <a:r>
              <a:rPr sz="2200" b="1">
                <a:solidFill>
                  <a:srgbClr val="FFFFFF"/>
                </a:solidFill>
                <a:latin typeface="Avenir Next"/>
              </a:rPr>
              <a:t>pollen</a:t>
            </a:r>
          </a:p>
        </p:txBody>
      </p:sp>
      <p:sp>
        <p:nvSpPr>
          <p:cNvPr id="16" name="Hexagon 15"/>
          <p:cNvSpPr/>
          <p:nvPr/>
        </p:nvSpPr>
        <p:spPr>
          <a:xfrm>
            <a:off x="6537960" y="2606040"/>
            <a:ext cx="155448" cy="155448"/>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2514600"/>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Un pollen.yaml déclaratif</a:t>
            </a:r>
          </a:p>
        </p:txBody>
      </p:sp>
      <p:sp>
        <p:nvSpPr>
          <p:cNvPr id="18" name="Hexagon 17"/>
          <p:cNvSpPr/>
          <p:nvPr/>
        </p:nvSpPr>
        <p:spPr>
          <a:xfrm>
            <a:off x="6537960" y="3172968"/>
            <a:ext cx="155448" cy="155448"/>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3081528"/>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Épingle le commit d'une release</a:t>
            </a:r>
          </a:p>
        </p:txBody>
      </p:sp>
      <p:sp>
        <p:nvSpPr>
          <p:cNvPr id="20" name="Hexagon 19"/>
          <p:cNvSpPr/>
          <p:nvPr/>
        </p:nvSpPr>
        <p:spPr>
          <a:xfrm>
            <a:off x="6537960" y="3739896"/>
            <a:ext cx="155448" cy="155448"/>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0" y="3648456"/>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Un binaire, neutre côté langage</a:t>
            </a:r>
          </a:p>
        </p:txBody>
      </p:sp>
      <p:sp>
        <p:nvSpPr>
          <p:cNvPr id="22" name="Hexagon 21"/>
          <p:cNvSpPr/>
          <p:nvPr/>
        </p:nvSpPr>
        <p:spPr>
          <a:xfrm>
            <a:off x="6537960" y="4306824"/>
            <a:ext cx="155448" cy="155448"/>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0" y="4215384"/>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outdated / autoupdate, validate</a:t>
            </a:r>
          </a:p>
        </p:txBody>
      </p:sp>
      <p:sp>
        <p:nvSpPr>
          <p:cNvPr id="24" name="Rectangle 23"/>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Même standard Agent Skills dessous : les deux se composent.</a:t>
            </a:r>
          </a:p>
        </p:txBody>
      </p:sp>
      <p:pic>
        <p:nvPicPr>
          <p:cNvPr id="26" name="logo.png" descr="logo.png"/>
          <p:cNvPicPr>
            <a:picLocks noChangeAspect="1"/>
          </p:cNvPicPr>
          <p:nvPr/>
        </p:nvPicPr>
        <p:blipFill>
          <a:blip r:embed="rId3"/>
          <a:stretch>
            <a:fillRect/>
          </a:stretch>
        </p:blipFill>
        <p:spPr>
          <a:xfrm>
            <a:off x="566928" y="6263640"/>
            <a:ext cx="899514" cy="274320"/>
          </a:xfrm>
          <a:prstGeom prst="rect">
            <a:avLst/>
          </a:prstGeom>
        </p:spPr>
      </p:pic>
      <p:sp>
        <p:nvSpPr>
          <p:cNvPr id="27" name="TextBox 26"/>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21/32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Un fichier, trois propriétaires</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481328"/>
            <a:ext cx="10881360" cy="3255264"/>
          </a:xfrm>
          <a:prstGeom prst="rect">
            <a:avLst/>
          </a:prstGeom>
          <a:solidFill>
            <a:srgbClr val="1B1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20040" tIns="201168" rIns="182880" bIns="182880"/>
          <a:lstStyle/>
          <a:p>
            <a:pPr algn="l">
              <a:spcAft>
                <a:spcPts val="0"/>
              </a:spcAft>
            </a:pPr>
            <a:r>
              <a:rPr sz="1400">
                <a:solidFill>
                  <a:srgbClr val="00B5FB"/>
                </a:solidFill>
                <a:latin typeface="Consolas"/>
              </a:rPr>
              <a:t># ~/.config/pollen/pollen.yaml  →  pollen update -g</a:t>
            </a:r>
          </a:p>
          <a:p>
            <a:pPr algn="l">
              <a:spcAft>
                <a:spcPts val="0"/>
              </a:spcAft>
            </a:pPr>
            <a:r>
              <a:rPr sz="1400">
                <a:solidFill>
                  <a:srgbClr val="E8EAF2"/>
                </a:solidFill>
                <a:latin typeface="Consolas"/>
              </a:rPr>
              <a:t>repos:</a:t>
            </a:r>
          </a:p>
          <a:p>
            <a:pPr algn="l">
              <a:spcAft>
                <a:spcPts val="0"/>
              </a:spcAft>
            </a:pPr>
            <a:r>
              <a:rPr sz="1400">
                <a:solidFill>
                  <a:srgbClr val="E8EAF2"/>
                </a:solidFill>
                <a:latin typeface="Consolas"/>
              </a:rPr>
              <a:t>  - repo: git@github.com:groupbees/skills-core.git     # orga, privé</a:t>
            </a:r>
          </a:p>
          <a:p>
            <a:pPr algn="l">
              <a:spcAft>
                <a:spcPts val="0"/>
              </a:spcAft>
            </a:pPr>
            <a:r>
              <a:rPr sz="1400">
                <a:solidFill>
                  <a:srgbClr val="E8EAF2"/>
                </a:solidFill>
                <a:latin typeface="Consolas"/>
              </a:rPr>
              <a:t>    revision: 351fd495…  # v0.3.1</a:t>
            </a:r>
          </a:p>
          <a:p>
            <a:pPr algn="l">
              <a:spcAft>
                <a:spcPts val="0"/>
              </a:spcAft>
            </a:pPr>
            <a:r>
              <a:rPr sz="1400">
                <a:solidFill>
                  <a:srgbClr val="E8EAF2"/>
                </a:solidFill>
                <a:latin typeface="Consolas"/>
              </a:rPr>
              <a:t>  - repo: git@github.com:groupbees/skills-slides.git   # orga, privé</a:t>
            </a:r>
          </a:p>
          <a:p>
            <a:pPr algn="l">
              <a:spcAft>
                <a:spcPts val="0"/>
              </a:spcAft>
            </a:pPr>
            <a:r>
              <a:rPr sz="1400">
                <a:solidFill>
                  <a:srgbClr val="E8EAF2"/>
                </a:solidFill>
                <a:latin typeface="Consolas"/>
              </a:rPr>
              <a:t>    revision: e4d83514…  # v0.4.0</a:t>
            </a:r>
          </a:p>
          <a:p>
            <a:pPr algn="l">
              <a:spcAft>
                <a:spcPts val="0"/>
              </a:spcAft>
            </a:pPr>
            <a:r>
              <a:rPr sz="1400">
                <a:solidFill>
                  <a:srgbClr val="E8EAF2"/>
                </a:solidFill>
                <a:latin typeface="Consolas"/>
              </a:rPr>
              <a:t>  - repo: https://github.com/groupbees/skills-opensource  # orga, public</a:t>
            </a:r>
          </a:p>
          <a:p>
            <a:pPr algn="l">
              <a:spcAft>
                <a:spcPts val="0"/>
              </a:spcAft>
            </a:pPr>
            <a:r>
              <a:rPr sz="1400">
                <a:solidFill>
                  <a:srgbClr val="E8EAF2"/>
                </a:solidFill>
                <a:latin typeface="Consolas"/>
              </a:rPr>
              <a:t>    revision: 3a461867…  # v0.1.1</a:t>
            </a:r>
          </a:p>
          <a:p>
            <a:pPr algn="l">
              <a:spcAft>
                <a:spcPts val="0"/>
              </a:spcAft>
            </a:pPr>
            <a:r>
              <a:rPr sz="1400">
                <a:solidFill>
                  <a:srgbClr val="E8EAF2"/>
                </a:solidFill>
                <a:latin typeface="Consolas"/>
              </a:rPr>
              <a:t>  - repo: https://github.com/groupbees/pollen           # le skill pollen</a:t>
            </a:r>
          </a:p>
          <a:p>
            <a:pPr algn="l">
              <a:spcAft>
                <a:spcPts val="0"/>
              </a:spcAft>
            </a:pPr>
            <a:r>
              <a:rPr sz="1400">
                <a:solidFill>
                  <a:srgbClr val="E8EAF2"/>
                </a:solidFill>
                <a:latin typeface="Consolas"/>
              </a:rPr>
              <a:t>    revision: c327e7e7…  # v0.5.0</a:t>
            </a:r>
          </a:p>
          <a:p>
            <a:pPr algn="l">
              <a:spcAft>
                <a:spcPts val="0"/>
              </a:spcAft>
            </a:pPr>
            <a:r>
              <a:rPr sz="1400">
                <a:solidFill>
                  <a:srgbClr val="E8EAF2"/>
                </a:solidFill>
                <a:latin typeface="Consolas"/>
              </a:rPr>
              <a:t>  - repo: https://github.com/tosun-si/skills-articles   # perso</a:t>
            </a:r>
          </a:p>
          <a:p>
            <a:pPr algn="l">
              <a:spcAft>
                <a:spcPts val="0"/>
              </a:spcAft>
            </a:pPr>
            <a:r>
              <a:rPr sz="1400">
                <a:solidFill>
                  <a:srgbClr val="E8EAF2"/>
                </a:solidFill>
                <a:latin typeface="Consolas"/>
              </a:rPr>
              <a:t>    revision: cd21b30d…  # v0.1.1</a:t>
            </a:r>
          </a:p>
        </p:txBody>
      </p:sp>
      <p:sp>
        <p:nvSpPr>
          <p:cNvPr id="5" name="Rectangle 4"/>
          <p:cNvSpPr/>
          <p:nvPr/>
        </p:nvSpPr>
        <p:spPr>
          <a:xfrm>
            <a:off x="640080" y="1481328"/>
            <a:ext cx="64008" cy="3255264"/>
          </a:xfrm>
          <a:prstGeom prst="rect">
            <a:avLst/>
          </a:prstGeom>
          <a:gradFill rotWithShape="1">
            <a:gsLst>
              <a:gs pos="0">
                <a:srgbClr val="00B5FB"/>
              </a:gs>
              <a:gs pos="100000">
                <a:srgbClr val="974EFF"/>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937760"/>
            <a:ext cx="10881360" cy="457200"/>
          </a:xfrm>
          <a:prstGeom prst="rect">
            <a:avLst/>
          </a:prstGeom>
          <a:noFill/>
        </p:spPr>
        <p:txBody>
          <a:bodyPr wrap="square" lIns="0" rIns="0" tIns="0" bIns="0">
            <a:spAutoFit/>
          </a:bodyPr>
          <a:lstStyle/>
          <a:p>
            <a:pPr algn="l">
              <a:spcAft>
                <a:spcPts val="0"/>
              </a:spcAft>
            </a:pPr>
            <a:r>
              <a:rPr sz="1700" b="1">
                <a:solidFill>
                  <a:srgbClr val="974EFF"/>
                </a:solidFill>
                <a:latin typeface="Avenir Next"/>
              </a:rPr>
              <a:t>Mes conventions perso ne polluent pas l'équipe : un fichier, cinq commits.</a:t>
            </a:r>
          </a:p>
        </p:txBody>
      </p:sp>
      <p:pic>
        <p:nvPicPr>
          <p:cNvPr id="7" name="bee_happy.png" descr="bee_happy.png"/>
          <p:cNvPicPr>
            <a:picLocks noChangeAspect="1"/>
          </p:cNvPicPr>
          <p:nvPr/>
        </p:nvPicPr>
        <p:blipFill>
          <a:blip r:embed="rId3"/>
          <a:stretch>
            <a:fillRect/>
          </a:stretch>
        </p:blipFill>
        <p:spPr>
          <a:xfrm rot="600000">
            <a:off x="10881360" y="274320"/>
            <a:ext cx="696951" cy="868680"/>
          </a:xfrm>
          <a:prstGeom prst="rect">
            <a:avLst/>
          </a:prstGeom>
        </p:spPr>
      </p:pic>
      <p:pic>
        <p:nvPicPr>
          <p:cNvPr id="8"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9" name="TextBox 8"/>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22/32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Et Spec Kit, BMAD ?</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600200"/>
            <a:ext cx="5257800" cy="3794760"/>
          </a:xfrm>
          <a:prstGeom prst="rect">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600200"/>
            <a:ext cx="5257800" cy="640080"/>
          </a:xfrm>
          <a:prstGeom prst="rect">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a:lstStyle/>
          <a:p>
            <a:pPr algn="l">
              <a:spcAft>
                <a:spcPts val="0"/>
              </a:spcAft>
            </a:pPr>
            <a:r>
              <a:rPr sz="2200" b="1">
                <a:solidFill>
                  <a:srgbClr val="FFFFFF"/>
                </a:solidFill>
                <a:latin typeface="Avenir Next"/>
              </a:rPr>
              <a:t>Skills de processus</a:t>
            </a:r>
          </a:p>
        </p:txBody>
      </p:sp>
      <p:sp>
        <p:nvSpPr>
          <p:cNvPr id="6" name="Hexagon 5"/>
          <p:cNvSpPr/>
          <p:nvPr/>
        </p:nvSpPr>
        <p:spPr>
          <a:xfrm>
            <a:off x="914400" y="2606040"/>
            <a:ext cx="155448" cy="155448"/>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2514600"/>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Spec Kit, BMAD : le quoi et le quand</a:t>
            </a:r>
          </a:p>
        </p:txBody>
      </p:sp>
      <p:sp>
        <p:nvSpPr>
          <p:cNvPr id="8" name="Hexagon 7"/>
          <p:cNvSpPr/>
          <p:nvPr/>
        </p:nvSpPr>
        <p:spPr>
          <a:xfrm>
            <a:off x="914400" y="3172968"/>
            <a:ext cx="155448" cy="155448"/>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3081528"/>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spec · plan · tasks · implement</a:t>
            </a:r>
          </a:p>
        </p:txBody>
      </p:sp>
      <p:sp>
        <p:nvSpPr>
          <p:cNvPr id="10" name="Hexagon 9"/>
          <p:cNvSpPr/>
          <p:nvPr/>
        </p:nvSpPr>
        <p:spPr>
          <a:xfrm>
            <a:off x="914400" y="3739896"/>
            <a:ext cx="155448" cy="155448"/>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3648456"/>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Un cycle par feature</a:t>
            </a:r>
          </a:p>
        </p:txBody>
      </p:sp>
      <p:sp>
        <p:nvSpPr>
          <p:cNvPr id="12" name="Hexagon 11"/>
          <p:cNvSpPr/>
          <p:nvPr/>
        </p:nvSpPr>
        <p:spPr>
          <a:xfrm>
            <a:off x="914400" y="4306824"/>
            <a:ext cx="155448" cy="155448"/>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4215384"/>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Nos conventions ? En prose, à injecter</a:t>
            </a:r>
          </a:p>
        </p:txBody>
      </p:sp>
      <p:sp>
        <p:nvSpPr>
          <p:cNvPr id="14" name="Rectangle 13"/>
          <p:cNvSpPr/>
          <p:nvPr/>
        </p:nvSpPr>
        <p:spPr>
          <a:xfrm>
            <a:off x="6263640" y="1600200"/>
            <a:ext cx="5257800" cy="3794760"/>
          </a:xfrm>
          <a:prstGeom prst="rect">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600200"/>
            <a:ext cx="5257800" cy="64008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lIns="274320"/>
          <a:lstStyle/>
          <a:p>
            <a:pPr algn="l">
              <a:spcAft>
                <a:spcPts val="0"/>
              </a:spcAft>
            </a:pPr>
            <a:r>
              <a:rPr sz="2200" b="1">
                <a:solidFill>
                  <a:srgbClr val="FFFFFF"/>
                </a:solidFill>
                <a:latin typeface="Avenir Next"/>
              </a:rPr>
              <a:t>Skills de conventions</a:t>
            </a:r>
          </a:p>
        </p:txBody>
      </p:sp>
      <p:sp>
        <p:nvSpPr>
          <p:cNvPr id="16" name="Hexagon 15"/>
          <p:cNvSpPr/>
          <p:nvPr/>
        </p:nvSpPr>
        <p:spPr>
          <a:xfrm>
            <a:off x="6537960" y="2606040"/>
            <a:ext cx="155448" cy="155448"/>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2514600"/>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GroupBees : le comment</a:t>
            </a:r>
          </a:p>
        </p:txBody>
      </p:sp>
      <p:sp>
        <p:nvSpPr>
          <p:cNvPr id="18" name="Hexagon 17"/>
          <p:cNvSpPr/>
          <p:nvPr/>
        </p:nvSpPr>
        <p:spPr>
          <a:xfrm>
            <a:off x="6537960" y="3172968"/>
            <a:ext cx="155448" cy="155448"/>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3081528"/>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Archi, Dockerfile, CI, Git, IaC</a:t>
            </a:r>
          </a:p>
        </p:txBody>
      </p:sp>
      <p:sp>
        <p:nvSpPr>
          <p:cNvPr id="20" name="Hexagon 19"/>
          <p:cNvSpPr/>
          <p:nvPr/>
        </p:nvSpPr>
        <p:spPr>
          <a:xfrm>
            <a:off x="6537960" y="3739896"/>
            <a:ext cx="155448" cy="155448"/>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0" y="3648456"/>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Actifs sur tout le projet</a:t>
            </a:r>
          </a:p>
        </p:txBody>
      </p:sp>
      <p:sp>
        <p:nvSpPr>
          <p:cNvPr id="22" name="Hexagon 21"/>
          <p:cNvSpPr/>
          <p:nvPr/>
        </p:nvSpPr>
        <p:spPr>
          <a:xfrm>
            <a:off x="6537960" y="4306824"/>
            <a:ext cx="155448" cy="155448"/>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0" y="4215384"/>
            <a:ext cx="4434840" cy="548640"/>
          </a:xfrm>
          <a:prstGeom prst="rect">
            <a:avLst/>
          </a:prstGeom>
          <a:noFill/>
        </p:spPr>
        <p:txBody>
          <a:bodyPr wrap="square" lIns="0" rIns="0" tIns="0" bIns="0">
            <a:spAutoFit/>
          </a:bodyPr>
          <a:lstStyle/>
          <a:p>
            <a:pPr algn="l">
              <a:spcAft>
                <a:spcPts val="0"/>
              </a:spcAft>
            </a:pPr>
            <a:r>
              <a:rPr sz="1800">
                <a:solidFill>
                  <a:srgbClr val="2A2F3A"/>
                </a:solidFill>
                <a:latin typeface="Avenir Next"/>
              </a:rPr>
              <a:t>Une convention = un skill, à la demande</a:t>
            </a:r>
          </a:p>
        </p:txBody>
      </p:sp>
      <p:sp>
        <p:nvSpPr>
          <p:cNvPr id="24" name="Rectangle 23"/>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Même format SKILL.md, autre contenu : ils se composent.</a:t>
            </a:r>
          </a:p>
        </p:txBody>
      </p:sp>
      <p:pic>
        <p:nvPicPr>
          <p:cNvPr id="26" name="bee_cool.png" descr="bee_cool.png"/>
          <p:cNvPicPr>
            <a:picLocks noChangeAspect="1"/>
          </p:cNvPicPr>
          <p:nvPr/>
        </p:nvPicPr>
        <p:blipFill>
          <a:blip r:embed="rId3"/>
          <a:stretch>
            <a:fillRect/>
          </a:stretch>
        </p:blipFill>
        <p:spPr>
          <a:xfrm rot="21120000">
            <a:off x="10835640" y="274320"/>
            <a:ext cx="907143" cy="914400"/>
          </a:xfrm>
          <a:prstGeom prst="rect">
            <a:avLst/>
          </a:prstGeom>
        </p:spPr>
      </p:pic>
      <p:pic>
        <p:nvPicPr>
          <p:cNvPr id="27"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8" name="TextBox 27"/>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23/32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bee.png" descr="bee.png"/>
          <p:cNvPicPr>
            <a:picLocks noChangeAspect="1"/>
          </p:cNvPicPr>
          <p:nvPr/>
        </p:nvPicPr>
        <p:blipFill>
          <a:blip r:embed="rId2"/>
          <a:stretch>
            <a:fillRect/>
          </a:stretch>
        </p:blipFill>
        <p:spPr>
          <a:xfrm>
            <a:off x="9326880" y="2103120"/>
            <a:ext cx="2788188" cy="3291840"/>
          </a:xfrm>
          <a:prstGeom prst="rect">
            <a:avLst/>
          </a:prstGeom>
        </p:spPr>
      </p:pic>
      <p:sp>
        <p:nvSpPr>
          <p:cNvPr id="5" name="TextBox 4"/>
          <p:cNvSpPr txBox="1"/>
          <p:nvPr/>
        </p:nvSpPr>
        <p:spPr>
          <a:xfrm>
            <a:off x="731520" y="1005840"/>
            <a:ext cx="7772400" cy="1371600"/>
          </a:xfrm>
          <a:prstGeom prst="rect">
            <a:avLst/>
          </a:prstGeom>
          <a:noFill/>
        </p:spPr>
        <p:txBody>
          <a:bodyPr wrap="square" lIns="0" rIns="0" tIns="0" bIns="0">
            <a:spAutoFit/>
          </a:bodyPr>
          <a:lstStyle/>
          <a:p>
            <a:pPr algn="l">
              <a:spcAft>
                <a:spcPts val="0"/>
              </a:spcAft>
            </a:pPr>
            <a:r>
              <a:rPr sz="8800" b="1">
                <a:solidFill>
                  <a:srgbClr val="FFFFFF"/>
                </a:solidFill>
                <a:latin typeface="Avenir Next"/>
              </a:rPr>
              <a:t>DÉMO</a:t>
            </a:r>
          </a:p>
        </p:txBody>
      </p:sp>
      <p:sp>
        <p:nvSpPr>
          <p:cNvPr id="6" name="Rectangle 5"/>
          <p:cNvSpPr/>
          <p:nvPr/>
        </p:nvSpPr>
        <p:spPr>
          <a:xfrm>
            <a:off x="777240" y="2331720"/>
            <a:ext cx="2926080" cy="109728"/>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697480"/>
            <a:ext cx="7680960" cy="731520"/>
          </a:xfrm>
          <a:prstGeom prst="rect">
            <a:avLst/>
          </a:prstGeom>
          <a:noFill/>
        </p:spPr>
        <p:txBody>
          <a:bodyPr wrap="square" lIns="0" rIns="0" tIns="0" bIns="0">
            <a:spAutoFit/>
          </a:bodyPr>
          <a:lstStyle/>
          <a:p>
            <a:pPr algn="l">
              <a:spcAft>
                <a:spcPts val="0"/>
              </a:spcAft>
            </a:pPr>
            <a:r>
              <a:rPr sz="2600">
                <a:solidFill>
                  <a:srgbClr val="00B5FB"/>
                </a:solidFill>
                <a:latin typeface="Avenir Next"/>
              </a:rPr>
              <a:t>Même prompt, sans puis avec les skills</a:t>
            </a:r>
          </a:p>
        </p:txBody>
      </p:sp>
      <p:sp>
        <p:nvSpPr>
          <p:cNvPr id="8" name="Hexagon 7"/>
          <p:cNvSpPr/>
          <p:nvPr/>
        </p:nvSpPr>
        <p:spPr>
          <a:xfrm>
            <a:off x="804672" y="3657600"/>
            <a:ext cx="155448" cy="155448"/>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3566160"/>
            <a:ext cx="7680960" cy="457200"/>
          </a:xfrm>
          <a:prstGeom prst="rect">
            <a:avLst/>
          </a:prstGeom>
          <a:noFill/>
        </p:spPr>
        <p:txBody>
          <a:bodyPr wrap="square" lIns="0" rIns="0" tIns="0" bIns="0">
            <a:spAutoFit/>
          </a:bodyPr>
          <a:lstStyle/>
          <a:p>
            <a:pPr algn="l">
              <a:spcAft>
                <a:spcPts val="0"/>
              </a:spcAft>
            </a:pPr>
            <a:r>
              <a:rPr sz="1900">
                <a:solidFill>
                  <a:srgbClr val="C9CFDC"/>
                </a:solidFill>
                <a:latin typeface="Avenir Next"/>
              </a:rPr>
              <a:t>Session vierge : le prompt, la sortie générique</a:t>
            </a:r>
          </a:p>
        </p:txBody>
      </p:sp>
      <p:sp>
        <p:nvSpPr>
          <p:cNvPr id="10" name="Hexagon 9"/>
          <p:cNvSpPr/>
          <p:nvPr/>
        </p:nvSpPr>
        <p:spPr>
          <a:xfrm>
            <a:off x="804672" y="4224528"/>
            <a:ext cx="155448" cy="155448"/>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133088"/>
            <a:ext cx="7680960" cy="457200"/>
          </a:xfrm>
          <a:prstGeom prst="rect">
            <a:avLst/>
          </a:prstGeom>
          <a:noFill/>
        </p:spPr>
        <p:txBody>
          <a:bodyPr wrap="square" lIns="0" rIns="0" tIns="0" bIns="0">
            <a:spAutoFit/>
          </a:bodyPr>
          <a:lstStyle/>
          <a:p>
            <a:pPr algn="l">
              <a:spcAft>
                <a:spcPts val="0"/>
              </a:spcAft>
            </a:pPr>
            <a:r>
              <a:rPr sz="1900">
                <a:solidFill>
                  <a:srgbClr val="C9CFDC"/>
                </a:solidFill>
                <a:latin typeface="Avenir Next"/>
              </a:rPr>
              <a:t>pollen update : les skills du projet arrivent</a:t>
            </a:r>
          </a:p>
        </p:txBody>
      </p:sp>
      <p:sp>
        <p:nvSpPr>
          <p:cNvPr id="12" name="Hexagon 11"/>
          <p:cNvSpPr/>
          <p:nvPr/>
        </p:nvSpPr>
        <p:spPr>
          <a:xfrm>
            <a:off x="804672" y="4791456"/>
            <a:ext cx="155448" cy="155448"/>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700016"/>
            <a:ext cx="7680960" cy="457200"/>
          </a:xfrm>
          <a:prstGeom prst="rect">
            <a:avLst/>
          </a:prstGeom>
          <a:noFill/>
        </p:spPr>
        <p:txBody>
          <a:bodyPr wrap="square" lIns="0" rIns="0" tIns="0" bIns="0">
            <a:spAutoFit/>
          </a:bodyPr>
          <a:lstStyle/>
          <a:p>
            <a:pPr algn="l">
              <a:spcAft>
                <a:spcPts val="0"/>
              </a:spcAft>
            </a:pPr>
            <a:r>
              <a:rPr sz="1900">
                <a:solidFill>
                  <a:srgbClr val="C9CFDC"/>
                </a:solidFill>
                <a:latin typeface="Avenir Next"/>
              </a:rPr>
              <a:t>Même prompt : uv, hexagonal, Dockerfile, tests, CI, AGENTS.md</a:t>
            </a:r>
          </a:p>
        </p:txBody>
      </p:sp>
      <p:sp>
        <p:nvSpPr>
          <p:cNvPr id="14" name="Hexagon 13"/>
          <p:cNvSpPr/>
          <p:nvPr/>
        </p:nvSpPr>
        <p:spPr>
          <a:xfrm>
            <a:off x="804672" y="5358384"/>
            <a:ext cx="155448" cy="155448"/>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5266944"/>
            <a:ext cx="7680960" cy="457200"/>
          </a:xfrm>
          <a:prstGeom prst="rect">
            <a:avLst/>
          </a:prstGeom>
          <a:noFill/>
        </p:spPr>
        <p:txBody>
          <a:bodyPr wrap="square" lIns="0" rIns="0" tIns="0" bIns="0">
            <a:spAutoFit/>
          </a:bodyPr>
          <a:lstStyle/>
          <a:p>
            <a:pPr algn="l">
              <a:spcAft>
                <a:spcPts val="0"/>
              </a:spcAft>
            </a:pPr>
            <a:r>
              <a:rPr sz="1900">
                <a:solidFill>
                  <a:srgbClr val="C9CFDC"/>
                </a:solidFill>
                <a:latin typeface="Avenir Next"/>
              </a:rPr>
              <a:t>Le delta, puis une vraie release : tag, PR labellisées, notes</a:t>
            </a:r>
          </a:p>
        </p:txBody>
      </p:sp>
      <p:pic>
        <p:nvPicPr>
          <p:cNvPr id="16" name="logo_light.png" descr="logo_light.png"/>
          <p:cNvPicPr>
            <a:picLocks noChangeAspect="1"/>
          </p:cNvPicPr>
          <p:nvPr/>
        </p:nvPicPr>
        <p:blipFill>
          <a:blip r:embed="rId4"/>
          <a:stretch>
            <a:fillRect/>
          </a:stretch>
        </p:blipFill>
        <p:spPr>
          <a:xfrm>
            <a:off x="566928" y="6263640"/>
            <a:ext cx="899514" cy="274320"/>
          </a:xfrm>
          <a:prstGeom prst="rect">
            <a:avLst/>
          </a:prstGeom>
        </p:spPr>
      </p:pic>
      <p:sp>
        <p:nvSpPr>
          <p:cNvPr id="17" name="TextBox 16"/>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C9CFDC"/>
                </a:solidFill>
                <a:latin typeface="Avenir Next"/>
              </a:rPr>
              <a:t>Industrialiser l'IA en équipe · DevFest Toulouse   ·   24/32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xagon 1"/>
          <p:cNvSpPr/>
          <p:nvPr/>
        </p:nvSpPr>
        <p:spPr>
          <a:xfrm>
            <a:off x="10469880"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10957438"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10713659"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xagon 4"/>
          <p:cNvSpPr/>
          <p:nvPr/>
        </p:nvSpPr>
        <p:spPr>
          <a:xfrm>
            <a:off x="11201217"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469880"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xagon 6"/>
          <p:cNvSpPr/>
          <p:nvPr/>
        </p:nvSpPr>
        <p:spPr>
          <a:xfrm>
            <a:off x="10957438"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Une lib de skills, ça se gouverne</a:t>
            </a:r>
          </a:p>
        </p:txBody>
      </p:sp>
      <p:sp>
        <p:nvSpPr>
          <p:cNvPr id="9" name="Rectangle 8"/>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exagon 9"/>
          <p:cNvSpPr/>
          <p:nvPr/>
        </p:nvSpPr>
        <p:spPr>
          <a:xfrm>
            <a:off x="713232" y="189280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78308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Les skills sont du code : versionnés, relus en PR</a:t>
            </a:r>
          </a:p>
        </p:txBody>
      </p:sp>
      <p:sp>
        <p:nvSpPr>
          <p:cNvPr id="12" name="Hexagon 11"/>
          <p:cNvSpPr/>
          <p:nvPr/>
        </p:nvSpPr>
        <p:spPr>
          <a:xfrm>
            <a:off x="713232" y="253288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42316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Blast radius : un skill s'applique à tout ce qui est généré</a:t>
            </a:r>
          </a:p>
        </p:txBody>
      </p:sp>
      <p:sp>
        <p:nvSpPr>
          <p:cNvPr id="14" name="Hexagon 13"/>
          <p:cNvSpPr/>
          <p:nvPr/>
        </p:nvSpPr>
        <p:spPr>
          <a:xfrm>
            <a:off x="713232" y="317296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06324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L'IA drafte les mises à jour, l'humain relit et merge</a:t>
            </a:r>
          </a:p>
        </p:txBody>
      </p:sp>
      <p:sp>
        <p:nvSpPr>
          <p:cNvPr id="16" name="Hexagon 15"/>
          <p:cNvSpPr/>
          <p:nvPr/>
        </p:nvSpPr>
        <p:spPr>
          <a:xfrm>
            <a:off x="713232" y="381304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0332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Capture à chaud : un gotcha rencontré remonte dans le skill</a:t>
            </a:r>
          </a:p>
        </p:txBody>
      </p:sp>
      <p:sp>
        <p:nvSpPr>
          <p:cNvPr id="18" name="Hexagon 17"/>
          <p:cNvSpPr/>
          <p:nvPr/>
        </p:nvSpPr>
        <p:spPr>
          <a:xfrm>
            <a:off x="713232" y="445312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4340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Relecture : référents tech (transverse), référents du domaine (spécialisé)</a:t>
            </a:r>
          </a:p>
        </p:txBody>
      </p:sp>
      <p:sp>
        <p:nvSpPr>
          <p:cNvPr id="20" name="Rectangle 19"/>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Sans gouvernance, on recrée le monolithe… éclaté en N fichiers.</a:t>
            </a:r>
          </a:p>
        </p:txBody>
      </p:sp>
      <p:pic>
        <p:nvPicPr>
          <p:cNvPr id="22" name="bee_grad.png" descr="bee_grad.png"/>
          <p:cNvPicPr>
            <a:picLocks noChangeAspect="1"/>
          </p:cNvPicPr>
          <p:nvPr/>
        </p:nvPicPr>
        <p:blipFill>
          <a:blip r:embed="rId3"/>
          <a:stretch>
            <a:fillRect/>
          </a:stretch>
        </p:blipFill>
        <p:spPr>
          <a:xfrm rot="360000">
            <a:off x="10789920" y="182880"/>
            <a:ext cx="773206" cy="1051560"/>
          </a:xfrm>
          <a:prstGeom prst="rect">
            <a:avLst/>
          </a:prstGeom>
        </p:spPr>
      </p:pic>
      <p:pic>
        <p:nvPicPr>
          <p:cNvPr id="23"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4" name="TextBox 23"/>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25/32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xagon 1"/>
          <p:cNvSpPr/>
          <p:nvPr/>
        </p:nvSpPr>
        <p:spPr>
          <a:xfrm>
            <a:off x="10469880"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10957438"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10713659"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xagon 4"/>
          <p:cNvSpPr/>
          <p:nvPr/>
        </p:nvSpPr>
        <p:spPr>
          <a:xfrm>
            <a:off x="11201217"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469880"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xagon 6"/>
          <p:cNvSpPr/>
          <p:nvPr/>
        </p:nvSpPr>
        <p:spPr>
          <a:xfrm>
            <a:off x="10957438"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Quand un skill périme</a:t>
            </a:r>
          </a:p>
        </p:txBody>
      </p:sp>
      <p:sp>
        <p:nvSpPr>
          <p:cNvPr id="9" name="Rectangle 8"/>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exagon 9"/>
          <p:cNvSpPr/>
          <p:nvPr/>
        </p:nvSpPr>
        <p:spPr>
          <a:xfrm>
            <a:off x="713232" y="189280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78308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Séparer le durable (archi) du volatil (flags, versions)</a:t>
            </a:r>
          </a:p>
        </p:txBody>
      </p:sp>
      <p:sp>
        <p:nvSpPr>
          <p:cNvPr id="12" name="Hexagon 11"/>
          <p:cNvSpPr/>
          <p:nvPr/>
        </p:nvSpPr>
        <p:spPr>
          <a:xfrm>
            <a:off x="713232" y="253288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42316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L'agent se trompe : on corrige le skill, pas que le code</a:t>
            </a:r>
          </a:p>
        </p:txBody>
      </p:sp>
      <p:sp>
        <p:nvSpPr>
          <p:cNvPr id="14" name="Hexagon 13"/>
          <p:cNvSpPr/>
          <p:nvPr/>
        </p:nvSpPr>
        <p:spPr>
          <a:xfrm>
            <a:off x="713232" y="317296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06324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Une règle qui peut devenir un check le devient</a:t>
            </a:r>
          </a:p>
        </p:txBody>
      </p:sp>
      <p:sp>
        <p:nvSpPr>
          <p:cNvPr id="16" name="Hexagon 15"/>
          <p:cNvSpPr/>
          <p:nvPr/>
        </p:nvSpPr>
        <p:spPr>
          <a:xfrm>
            <a:off x="713232" y="381304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0332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Scan IA : bon sur le factuel, le jugement reste humain</a:t>
            </a:r>
          </a:p>
        </p:txBody>
      </p:sp>
      <p:sp>
        <p:nvSpPr>
          <p:cNvPr id="18" name="Hexagon 17"/>
          <p:cNvSpPr/>
          <p:nvPr/>
        </p:nvSpPr>
        <p:spPr>
          <a:xfrm>
            <a:off x="713232" y="445312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4340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Prochaine marche : des evals, pas encore en place</a:t>
            </a:r>
          </a:p>
        </p:txBody>
      </p:sp>
      <p:sp>
        <p:nvSpPr>
          <p:cNvPr id="20" name="Rectangle 19"/>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Une règle périmée n'échoue pas : elle enseigne le mauvais pattern.</a:t>
            </a:r>
          </a:p>
        </p:txBody>
      </p:sp>
      <p:pic>
        <p:nvPicPr>
          <p:cNvPr id="22" name="bee_grad.png" descr="bee_grad.png"/>
          <p:cNvPicPr>
            <a:picLocks noChangeAspect="1"/>
          </p:cNvPicPr>
          <p:nvPr/>
        </p:nvPicPr>
        <p:blipFill>
          <a:blip r:embed="rId3"/>
          <a:stretch>
            <a:fillRect/>
          </a:stretch>
        </p:blipFill>
        <p:spPr>
          <a:xfrm rot="21240000">
            <a:off x="10789920" y="182880"/>
            <a:ext cx="773206" cy="1051560"/>
          </a:xfrm>
          <a:prstGeom prst="rect">
            <a:avLst/>
          </a:prstGeom>
        </p:spPr>
      </p:pic>
      <p:pic>
        <p:nvPicPr>
          <p:cNvPr id="23"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4" name="TextBox 23"/>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26/32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La CI d'un module de skills</a:t>
            </a:r>
          </a:p>
        </p:txBody>
      </p:sp>
      <p:sp>
        <p:nvSpPr>
          <p:cNvPr id="3" name="Rectangle 2"/>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481328"/>
            <a:ext cx="10881360" cy="2555748"/>
          </a:xfrm>
          <a:prstGeom prst="rect">
            <a:avLst/>
          </a:prstGeom>
          <a:solidFill>
            <a:srgbClr val="1B1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320040" tIns="201168" rIns="182880" bIns="182880"/>
          <a:lstStyle/>
          <a:p>
            <a:pPr algn="l">
              <a:spcAft>
                <a:spcPts val="0"/>
              </a:spcAft>
            </a:pPr>
            <a:r>
              <a:rPr sz="1400">
                <a:solidFill>
                  <a:srgbClr val="00B5FB"/>
                </a:solidFill>
                <a:latin typeface="Consolas"/>
              </a:rPr>
              <a:t># .github/workflows/ci.yml d'un module : une seule ligne utile</a:t>
            </a:r>
          </a:p>
          <a:p>
            <a:pPr algn="l">
              <a:spcAft>
                <a:spcPts val="0"/>
              </a:spcAft>
            </a:pPr>
            <a:r>
              <a:rPr sz="1400">
                <a:solidFill>
                  <a:srgbClr val="E8EAF2"/>
                </a:solidFill>
                <a:latin typeface="Consolas"/>
              </a:rPr>
              <a:t>jobs:</a:t>
            </a:r>
          </a:p>
          <a:p>
            <a:pPr algn="l">
              <a:spcAft>
                <a:spcPts val="0"/>
              </a:spcAft>
            </a:pPr>
            <a:r>
              <a:rPr sz="1400">
                <a:solidFill>
                  <a:srgbClr val="E8EAF2"/>
                </a:solidFill>
                <a:latin typeface="Consolas"/>
              </a:rPr>
              <a:t>  module:</a:t>
            </a:r>
          </a:p>
          <a:p>
            <a:pPr algn="l">
              <a:spcAft>
                <a:spcPts val="0"/>
              </a:spcAft>
            </a:pPr>
            <a:r>
              <a:rPr sz="1400">
                <a:solidFill>
                  <a:srgbClr val="E8EAF2"/>
                </a:solidFill>
                <a:latin typeface="Consolas"/>
              </a:rPr>
              <a:t>    uses: groupbees/.github/.github/workflows/skills-module.yml@3b24f023…  # v1.1.0</a:t>
            </a:r>
          </a:p>
          <a:p>
            <a:pPr algn="l">
              <a:spcAft>
                <a:spcPts val="0"/>
              </a:spcAft>
            </a:pPr>
            <a:r>
              <a:rPr sz="1400">
                <a:solidFill>
                  <a:srgbClr val="E8EAF2"/>
                </a:solidFill>
                <a:latin typeface="Consolas"/>
              </a:rPr>
              <a:t> </a:t>
            </a:r>
          </a:p>
          <a:p>
            <a:pPr algn="l">
              <a:spcAft>
                <a:spcPts val="0"/>
              </a:spcAft>
            </a:pPr>
            <a:r>
              <a:rPr sz="1400">
                <a:solidFill>
                  <a:srgbClr val="00B5FB"/>
                </a:solidFill>
                <a:latin typeface="Consolas"/>
              </a:rPr>
              <a:t># ce que vérifie le workflow partagé, à chaque PR :</a:t>
            </a:r>
          </a:p>
          <a:p>
            <a:pPr algn="l">
              <a:spcAft>
                <a:spcPts val="0"/>
              </a:spcAft>
            </a:pPr>
            <a:r>
              <a:rPr sz="1400">
                <a:solidFill>
                  <a:srgbClr val="00B5FB"/>
                </a:solidFill>
                <a:latin typeface="Consolas"/>
              </a:rPr>
              <a:t>#   skill-validator --strict   spec, tokens, liens, descriptions</a:t>
            </a:r>
          </a:p>
          <a:p>
            <a:pPr algn="l">
              <a:spcAft>
                <a:spcPts val="0"/>
              </a:spcAft>
            </a:pPr>
            <a:r>
              <a:rPr sz="1400">
                <a:solidFill>
                  <a:srgbClr val="00B5FB"/>
                </a:solidFill>
                <a:latin typeface="Consolas"/>
              </a:rPr>
              <a:t>#   pollen validate            se déploie comme chez un consommateur</a:t>
            </a:r>
          </a:p>
          <a:p>
            <a:pPr algn="l">
              <a:spcAft>
                <a:spcPts val="0"/>
              </a:spcAft>
            </a:pPr>
            <a:r>
              <a:rPr sz="1400">
                <a:solidFill>
                  <a:srgbClr val="00B5FB"/>
                </a:solidFill>
                <a:latin typeface="Consolas"/>
              </a:rPr>
              <a:t>#   README généré · noms uniques · shellcheck</a:t>
            </a:r>
          </a:p>
        </p:txBody>
      </p:sp>
      <p:sp>
        <p:nvSpPr>
          <p:cNvPr id="5" name="Rectangle 4"/>
          <p:cNvSpPr/>
          <p:nvPr/>
        </p:nvSpPr>
        <p:spPr>
          <a:xfrm>
            <a:off x="640080" y="1481328"/>
            <a:ext cx="64008" cy="2555748"/>
          </a:xfrm>
          <a:prstGeom prst="rect">
            <a:avLst/>
          </a:prstGeom>
          <a:gradFill rotWithShape="1">
            <a:gsLst>
              <a:gs pos="0">
                <a:srgbClr val="00B5FB"/>
              </a:gs>
              <a:gs pos="100000">
                <a:srgbClr val="974EFF"/>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238244"/>
            <a:ext cx="10881360" cy="457200"/>
          </a:xfrm>
          <a:prstGeom prst="rect">
            <a:avLst/>
          </a:prstGeom>
          <a:noFill/>
        </p:spPr>
        <p:txBody>
          <a:bodyPr wrap="square" lIns="0" rIns="0" tIns="0" bIns="0">
            <a:spAutoFit/>
          </a:bodyPr>
          <a:lstStyle/>
          <a:p>
            <a:pPr algn="l">
              <a:spcAft>
                <a:spcPts val="0"/>
              </a:spcAft>
            </a:pPr>
            <a:r>
              <a:rPr sz="1700" b="1">
                <a:solidFill>
                  <a:srgbClr val="974EFF"/>
                </a:solidFill>
                <a:latin typeface="Avenir Next"/>
              </a:rPr>
              <a:t>Barre de review plus haute que pour du code : ça s'applique à tout.</a:t>
            </a:r>
          </a:p>
        </p:txBody>
      </p:sp>
      <p:pic>
        <p:nvPicPr>
          <p:cNvPr id="7" name="logo.png" descr="logo.png"/>
          <p:cNvPicPr>
            <a:picLocks noChangeAspect="1"/>
          </p:cNvPicPr>
          <p:nvPr/>
        </p:nvPicPr>
        <p:blipFill>
          <a:blip r:embed="rId3"/>
          <a:stretch>
            <a:fillRect/>
          </a:stretch>
        </p:blipFill>
        <p:spPr>
          <a:xfrm>
            <a:off x="566928" y="6263640"/>
            <a:ext cx="899514" cy="274320"/>
          </a:xfrm>
          <a:prstGeom prst="rect">
            <a:avLst/>
          </a:prstGeom>
        </p:spPr>
      </p:pic>
      <p:sp>
        <p:nvSpPr>
          <p:cNvPr id="8" name="TextBox 7"/>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27/32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xagon 1"/>
          <p:cNvSpPr/>
          <p:nvPr/>
        </p:nvSpPr>
        <p:spPr>
          <a:xfrm>
            <a:off x="10469880"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10957438"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10713659"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xagon 4"/>
          <p:cNvSpPr/>
          <p:nvPr/>
        </p:nvSpPr>
        <p:spPr>
          <a:xfrm>
            <a:off x="11201217"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469880"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xagon 6"/>
          <p:cNvSpPr/>
          <p:nvPr/>
        </p:nvSpPr>
        <p:spPr>
          <a:xfrm>
            <a:off x="10957438"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La doc d'un outil est aussi un skill</a:t>
            </a:r>
          </a:p>
        </p:txBody>
      </p:sp>
      <p:sp>
        <p:nvSpPr>
          <p:cNvPr id="9" name="Rectangle 8"/>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exagon 9"/>
          <p:cNvSpPr/>
          <p:nvPr/>
        </p:nvSpPr>
        <p:spPr>
          <a:xfrm>
            <a:off x="713232" y="189280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78308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Chaque module réexpliquait pollen : 13 fichiers par version</a:t>
            </a:r>
          </a:p>
        </p:txBody>
      </p:sp>
      <p:sp>
        <p:nvSpPr>
          <p:cNvPr id="12" name="Hexagon 11"/>
          <p:cNvSpPr/>
          <p:nvPr/>
        </p:nvSpPr>
        <p:spPr>
          <a:xfrm>
            <a:off x="713232" y="253288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42316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Le skill pollen vit dans le repo pollen, versionné avec lui</a:t>
            </a:r>
          </a:p>
        </p:txBody>
      </p:sp>
      <p:sp>
        <p:nvSpPr>
          <p:cNvPr id="14" name="Hexagon 13"/>
          <p:cNvSpPr/>
          <p:nvPr/>
        </p:nvSpPr>
        <p:spPr>
          <a:xfrm>
            <a:off x="713232" y="317296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06324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Installé… par pollen, au niveau projet ou machine</a:t>
            </a:r>
          </a:p>
        </p:txBody>
      </p:sp>
      <p:sp>
        <p:nvSpPr>
          <p:cNvPr id="16" name="Hexagon 15"/>
          <p:cNvSpPr/>
          <p:nvPr/>
        </p:nvSpPr>
        <p:spPr>
          <a:xfrm>
            <a:off x="713232" y="381304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0332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Les modules ne gardent qu'un lien</a:t>
            </a:r>
          </a:p>
        </p:txBody>
      </p:sp>
      <p:sp>
        <p:nvSpPr>
          <p:cNvPr id="18" name="Hexagon 17"/>
          <p:cNvSpPr/>
          <p:nvPr/>
        </p:nvSpPr>
        <p:spPr>
          <a:xfrm>
            <a:off x="713232" y="445312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4340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Même règle pour la CI : un workflow partagé, épinglé</a:t>
            </a:r>
          </a:p>
        </p:txBody>
      </p:sp>
      <p:sp>
        <p:nvSpPr>
          <p:cNvPr id="20" name="Rectangle 19"/>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Une source par sujet. Sinon le monolithe revient, en N copies.</a:t>
            </a:r>
          </a:p>
        </p:txBody>
      </p:sp>
      <p:pic>
        <p:nvPicPr>
          <p:cNvPr id="22" name="bee_astro.png" descr="bee_astro.png"/>
          <p:cNvPicPr>
            <a:picLocks noChangeAspect="1"/>
          </p:cNvPicPr>
          <p:nvPr/>
        </p:nvPicPr>
        <p:blipFill>
          <a:blip r:embed="rId3"/>
          <a:stretch>
            <a:fillRect/>
          </a:stretch>
        </p:blipFill>
        <p:spPr>
          <a:xfrm rot="21120000">
            <a:off x="10835640" y="182880"/>
            <a:ext cx="806996" cy="1005840"/>
          </a:xfrm>
          <a:prstGeom prst="rect">
            <a:avLst/>
          </a:prstGeom>
        </p:spPr>
      </p:pic>
      <p:pic>
        <p:nvPicPr>
          <p:cNvPr id="23"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4" name="TextBox 23"/>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28/32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xagon 1"/>
          <p:cNvSpPr/>
          <p:nvPr/>
        </p:nvSpPr>
        <p:spPr>
          <a:xfrm>
            <a:off x="10469880"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10957438"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10713659"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xagon 4"/>
          <p:cNvSpPr/>
          <p:nvPr/>
        </p:nvSpPr>
        <p:spPr>
          <a:xfrm>
            <a:off x="11201217"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469880"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xagon 6"/>
          <p:cNvSpPr/>
          <p:nvPr/>
        </p:nvSpPr>
        <p:spPr>
          <a:xfrm>
            <a:off x="10957438"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Comment fait Google ?</a:t>
            </a:r>
          </a:p>
        </p:txBody>
      </p:sp>
      <p:sp>
        <p:nvSpPr>
          <p:cNvPr id="9" name="Rectangle 8"/>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exagon 9"/>
          <p:cNvSpPr/>
          <p:nvPr/>
        </p:nvSpPr>
        <p:spPr>
          <a:xfrm>
            <a:off x="713232" y="189280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78308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 Skills are products, not snippets »</a:t>
            </a:r>
          </a:p>
        </p:txBody>
      </p:sp>
      <p:sp>
        <p:nvSpPr>
          <p:cNvPr id="12" name="Hexagon 11"/>
          <p:cNvSpPr/>
          <p:nvPr/>
        </p:nvSpPr>
        <p:spPr>
          <a:xfrm>
            <a:off x="713232" y="253288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42316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Evals obligatoires à la soumission : prompts + grille de score</a:t>
            </a:r>
          </a:p>
        </p:txBody>
      </p:sp>
      <p:sp>
        <p:nvSpPr>
          <p:cNvPr id="14" name="Hexagon 13"/>
          <p:cNvSpPr/>
          <p:nvPr/>
        </p:nvSpPr>
        <p:spPr>
          <a:xfrm>
            <a:off x="713232" y="317296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06324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Evals hebdomadaires sur toute la lib, sur plusieurs agents</a:t>
            </a:r>
          </a:p>
        </p:txBody>
      </p:sp>
      <p:sp>
        <p:nvSpPr>
          <p:cNvPr id="16" name="Hexagon 15"/>
          <p:cNvSpPr/>
          <p:nvPr/>
        </p:nvSpPr>
        <p:spPr>
          <a:xfrm>
            <a:off x="713232" y="3813048"/>
            <a:ext cx="173736" cy="173736"/>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0332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Deux axes : précision × efficacité (tokens, temps)</a:t>
            </a:r>
          </a:p>
        </p:txBody>
      </p:sp>
      <p:sp>
        <p:nvSpPr>
          <p:cNvPr id="18" name="Hexagon 17"/>
          <p:cNvSpPr/>
          <p:nvPr/>
        </p:nvSpPr>
        <p:spPr>
          <a:xfrm>
            <a:off x="713232" y="4453128"/>
            <a:ext cx="173736" cy="173736"/>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43400"/>
            <a:ext cx="10515600" cy="548640"/>
          </a:xfrm>
          <a:prstGeom prst="rect">
            <a:avLst/>
          </a:prstGeom>
          <a:noFill/>
        </p:spPr>
        <p:txBody>
          <a:bodyPr wrap="square" lIns="0" rIns="0" tIns="0" bIns="0">
            <a:spAutoFit/>
          </a:bodyPr>
          <a:lstStyle/>
          <a:p>
            <a:pPr algn="l">
              <a:spcAft>
                <a:spcPts val="0"/>
              </a:spcAft>
            </a:pPr>
            <a:r>
              <a:rPr sz="2100">
                <a:solidFill>
                  <a:srgbClr val="2A2F3A"/>
                </a:solidFill>
                <a:latin typeface="Avenir Next"/>
              </a:rPr>
              <a:t>Un owner par skill quand une API change ou qu'une eval régresse</a:t>
            </a:r>
          </a:p>
        </p:txBody>
      </p:sp>
      <p:sp>
        <p:nvSpPr>
          <p:cNvPr id="20" name="Rectangle 19"/>
          <p:cNvSpPr/>
          <p:nvPr/>
        </p:nvSpPr>
        <p:spPr>
          <a:xfrm>
            <a:off x="640080" y="5669280"/>
            <a:ext cx="10881360" cy="4572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806440"/>
            <a:ext cx="10881360" cy="457200"/>
          </a:xfrm>
          <a:prstGeom prst="rect">
            <a:avLst/>
          </a:prstGeom>
          <a:noFill/>
        </p:spPr>
        <p:txBody>
          <a:bodyPr wrap="square" lIns="0" rIns="0" tIns="0" bIns="0">
            <a:spAutoFit/>
          </a:bodyPr>
          <a:lstStyle/>
          <a:p>
            <a:pPr algn="l">
              <a:spcAft>
                <a:spcPts val="0"/>
              </a:spcAft>
            </a:pPr>
            <a:r>
              <a:rPr sz="1800" b="1">
                <a:solidFill>
                  <a:srgbClr val="974EFF"/>
                </a:solidFill>
                <a:latin typeface="Avenir Next"/>
              </a:rPr>
              <a:t>Notre prochaine marche : des evals sur nos skills.</a:t>
            </a:r>
          </a:p>
        </p:txBody>
      </p:sp>
      <p:pic>
        <p:nvPicPr>
          <p:cNvPr id="22" name="bee_cool.png" descr="bee_cool.png"/>
          <p:cNvPicPr>
            <a:picLocks noChangeAspect="1"/>
          </p:cNvPicPr>
          <p:nvPr/>
        </p:nvPicPr>
        <p:blipFill>
          <a:blip r:embed="rId3"/>
          <a:stretch>
            <a:fillRect/>
          </a:stretch>
        </p:blipFill>
        <p:spPr>
          <a:xfrm rot="480000">
            <a:off x="10835640" y="228600"/>
            <a:ext cx="907143" cy="914400"/>
          </a:xfrm>
          <a:prstGeom prst="rect">
            <a:avLst/>
          </a:prstGeom>
        </p:spPr>
      </p:pic>
      <p:pic>
        <p:nvPicPr>
          <p:cNvPr id="23" name="logo.png" descr="logo.png"/>
          <p:cNvPicPr>
            <a:picLocks noChangeAspect="1"/>
          </p:cNvPicPr>
          <p:nvPr/>
        </p:nvPicPr>
        <p:blipFill>
          <a:blip r:embed="rId4"/>
          <a:stretch>
            <a:fillRect/>
          </a:stretch>
        </p:blipFill>
        <p:spPr>
          <a:xfrm>
            <a:off x="566928" y="6263640"/>
            <a:ext cx="899514" cy="274320"/>
          </a:xfrm>
          <a:prstGeom prst="rect">
            <a:avLst/>
          </a:prstGeom>
        </p:spPr>
      </p:pic>
      <p:sp>
        <p:nvSpPr>
          <p:cNvPr id="24" name="TextBox 23"/>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29/32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timing xmlns:mc="http://schemas.openxmlformats.org/markup-compatibility/2006" xmlns:p14="http://schemas.microsoft.com/office/powerpoint/2010/main">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xagon 1"/>
          <p:cNvSpPr/>
          <p:nvPr/>
        </p:nvSpPr>
        <p:spPr>
          <a:xfrm>
            <a:off x="10469880"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10957438" y="1737360"/>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10713659"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xagon 4"/>
          <p:cNvSpPr/>
          <p:nvPr/>
        </p:nvSpPr>
        <p:spPr>
          <a:xfrm>
            <a:off x="11201217" y="2162556"/>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469880"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xagon 6"/>
          <p:cNvSpPr/>
          <p:nvPr/>
        </p:nvSpPr>
        <p:spPr>
          <a:xfrm>
            <a:off x="10957438" y="2587752"/>
            <a:ext cx="566928" cy="566928"/>
          </a:xfrm>
          <a:prstGeom prst="hexagon">
            <a:avLst/>
          </a:prstGeom>
          <a:solidFill>
            <a:srgbClr val="EB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14141A"/>
                </a:solidFill>
                <a:latin typeface="Avenir Next"/>
              </a:rPr>
              <a:t>À retenir</a:t>
            </a:r>
          </a:p>
        </p:txBody>
      </p:sp>
      <p:sp>
        <p:nvSpPr>
          <p:cNvPr id="9" name="Rectangle 8"/>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exagon 9"/>
          <p:cNvSpPr/>
          <p:nvPr/>
        </p:nvSpPr>
        <p:spPr>
          <a:xfrm>
            <a:off x="658368" y="1828800"/>
            <a:ext cx="566928" cy="566928"/>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200" b="1">
                <a:solidFill>
                  <a:srgbClr val="FFFFFF"/>
                </a:solidFill>
                <a:latin typeface="Avenir Next"/>
              </a:rPr>
              <a:t>1</a:t>
            </a:r>
          </a:p>
        </p:txBody>
      </p:sp>
      <p:sp>
        <p:nvSpPr>
          <p:cNvPr id="11" name="TextBox 10"/>
          <p:cNvSpPr txBox="1"/>
          <p:nvPr/>
        </p:nvSpPr>
        <p:spPr>
          <a:xfrm>
            <a:off x="1508760" y="1810512"/>
            <a:ext cx="9875520" cy="548640"/>
          </a:xfrm>
          <a:prstGeom prst="rect">
            <a:avLst/>
          </a:prstGeom>
          <a:noFill/>
        </p:spPr>
        <p:txBody>
          <a:bodyPr wrap="square" lIns="0" rIns="0" tIns="0" bIns="0">
            <a:spAutoFit/>
          </a:bodyPr>
          <a:lstStyle/>
          <a:p>
            <a:pPr algn="l">
              <a:spcAft>
                <a:spcPts val="0"/>
              </a:spcAft>
            </a:pPr>
            <a:r>
              <a:rPr sz="2700" b="1">
                <a:solidFill>
                  <a:srgbClr val="14141A"/>
                </a:solidFill>
                <a:latin typeface="Avenir Next"/>
              </a:rPr>
              <a:t>Vos conventions, en skills</a:t>
            </a:r>
          </a:p>
        </p:txBody>
      </p:sp>
      <p:sp>
        <p:nvSpPr>
          <p:cNvPr id="12" name="TextBox 11"/>
          <p:cNvSpPr txBox="1"/>
          <p:nvPr/>
        </p:nvSpPr>
        <p:spPr>
          <a:xfrm>
            <a:off x="1508760" y="2286000"/>
            <a:ext cx="987552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Petits, composables, chargés à la demande</a:t>
            </a:r>
          </a:p>
        </p:txBody>
      </p:sp>
      <p:sp>
        <p:nvSpPr>
          <p:cNvPr id="13" name="Hexagon 12"/>
          <p:cNvSpPr/>
          <p:nvPr/>
        </p:nvSpPr>
        <p:spPr>
          <a:xfrm>
            <a:off x="658368" y="3154680"/>
            <a:ext cx="566928" cy="566928"/>
          </a:xfrm>
          <a:prstGeom prst="hexagon">
            <a:avLst/>
          </a:prstGeom>
          <a:solidFill>
            <a:srgbClr val="974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200" b="1">
                <a:solidFill>
                  <a:srgbClr val="FFFFFF"/>
                </a:solidFill>
                <a:latin typeface="Avenir Next"/>
              </a:rPr>
              <a:t>2</a:t>
            </a:r>
          </a:p>
        </p:txBody>
      </p:sp>
      <p:sp>
        <p:nvSpPr>
          <p:cNvPr id="14" name="TextBox 13"/>
          <p:cNvSpPr txBox="1"/>
          <p:nvPr/>
        </p:nvSpPr>
        <p:spPr>
          <a:xfrm>
            <a:off x="1508760" y="3136392"/>
            <a:ext cx="9875520" cy="548640"/>
          </a:xfrm>
          <a:prstGeom prst="rect">
            <a:avLst/>
          </a:prstGeom>
          <a:noFill/>
        </p:spPr>
        <p:txBody>
          <a:bodyPr wrap="square" lIns="0" rIns="0" tIns="0" bIns="0">
            <a:spAutoFit/>
          </a:bodyPr>
          <a:lstStyle/>
          <a:p>
            <a:pPr algn="l">
              <a:spcAft>
                <a:spcPts val="0"/>
              </a:spcAft>
            </a:pPr>
            <a:r>
              <a:rPr sz="2700" b="1">
                <a:solidFill>
                  <a:srgbClr val="14141A"/>
                </a:solidFill>
                <a:latin typeface="Avenir Next"/>
              </a:rPr>
              <a:t>Déclarés par projet, épinglés</a:t>
            </a:r>
          </a:p>
        </p:txBody>
      </p:sp>
      <p:sp>
        <p:nvSpPr>
          <p:cNvPr id="15" name="TextBox 14"/>
          <p:cNvSpPr txBox="1"/>
          <p:nvPr/>
        </p:nvSpPr>
        <p:spPr>
          <a:xfrm>
            <a:off x="1508760" y="3611880"/>
            <a:ext cx="987552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Un commit par source : le pollen.yaml est le lock</a:t>
            </a:r>
          </a:p>
        </p:txBody>
      </p:sp>
      <p:sp>
        <p:nvSpPr>
          <p:cNvPr id="16" name="Hexagon 15"/>
          <p:cNvSpPr/>
          <p:nvPr/>
        </p:nvSpPr>
        <p:spPr>
          <a:xfrm>
            <a:off x="658368" y="4480560"/>
            <a:ext cx="566928" cy="566928"/>
          </a:xfrm>
          <a:prstGeom prst="hexagon">
            <a:avLst/>
          </a:prstGeom>
          <a:solidFill>
            <a:srgbClr val="00B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2200" b="1">
                <a:solidFill>
                  <a:srgbClr val="FFFFFF"/>
                </a:solidFill>
                <a:latin typeface="Avenir Next"/>
              </a:rPr>
              <a:t>3</a:t>
            </a:r>
          </a:p>
        </p:txBody>
      </p:sp>
      <p:sp>
        <p:nvSpPr>
          <p:cNvPr id="17" name="TextBox 16"/>
          <p:cNvSpPr txBox="1"/>
          <p:nvPr/>
        </p:nvSpPr>
        <p:spPr>
          <a:xfrm>
            <a:off x="1508760" y="4462272"/>
            <a:ext cx="9875520" cy="548640"/>
          </a:xfrm>
          <a:prstGeom prst="rect">
            <a:avLst/>
          </a:prstGeom>
          <a:noFill/>
        </p:spPr>
        <p:txBody>
          <a:bodyPr wrap="square" lIns="0" rIns="0" tIns="0" bIns="0">
            <a:spAutoFit/>
          </a:bodyPr>
          <a:lstStyle/>
          <a:p>
            <a:pPr algn="l">
              <a:spcAft>
                <a:spcPts val="0"/>
              </a:spcAft>
            </a:pPr>
            <a:r>
              <a:rPr sz="2700" b="1">
                <a:solidFill>
                  <a:srgbClr val="14141A"/>
                </a:solidFill>
                <a:latin typeface="Avenir Next"/>
              </a:rPr>
              <a:t>Gouvernés comme du code</a:t>
            </a:r>
          </a:p>
        </p:txBody>
      </p:sp>
      <p:sp>
        <p:nvSpPr>
          <p:cNvPr id="18" name="TextBox 17"/>
          <p:cNvSpPr txBox="1"/>
          <p:nvPr/>
        </p:nvSpPr>
        <p:spPr>
          <a:xfrm>
            <a:off x="1508760" y="4937760"/>
            <a:ext cx="9875520" cy="548640"/>
          </a:xfrm>
          <a:prstGeom prst="rect">
            <a:avLst/>
          </a:prstGeom>
          <a:noFill/>
        </p:spPr>
        <p:txBody>
          <a:bodyPr wrap="square" lIns="0" rIns="0" tIns="0" bIns="0">
            <a:spAutoFit/>
          </a:bodyPr>
          <a:lstStyle/>
          <a:p>
            <a:pPr algn="l">
              <a:spcAft>
                <a:spcPts val="0"/>
              </a:spcAft>
            </a:pPr>
            <a:r>
              <a:rPr sz="1800">
                <a:solidFill>
                  <a:srgbClr val="5B6372"/>
                </a:solidFill>
                <a:latin typeface="Avenir Next"/>
              </a:rPr>
              <a:t>Relecture par un pair, CI… et bientôt des evals</a:t>
            </a:r>
          </a:p>
        </p:txBody>
      </p:sp>
      <p:pic>
        <p:nvPicPr>
          <p:cNvPr id="19" name="logo.png" descr="logo.png"/>
          <p:cNvPicPr>
            <a:picLocks noChangeAspect="1"/>
          </p:cNvPicPr>
          <p:nvPr/>
        </p:nvPicPr>
        <p:blipFill>
          <a:blip r:embed="rId3"/>
          <a:stretch>
            <a:fillRect/>
          </a:stretch>
        </p:blipFill>
        <p:spPr>
          <a:xfrm>
            <a:off x="566928" y="6263640"/>
            <a:ext cx="899514" cy="274320"/>
          </a:xfrm>
          <a:prstGeom prst="rect">
            <a:avLst/>
          </a:prstGeom>
        </p:spPr>
      </p:pic>
      <p:sp>
        <p:nvSpPr>
          <p:cNvPr id="20" name="TextBox 19"/>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5B6372"/>
                </a:solidFill>
                <a:latin typeface="Avenir Next"/>
              </a:rPr>
              <a:t>Industrialiser l'IA en équipe · DevFest Toulouse   ·   30/32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881360" cy="914400"/>
          </a:xfrm>
          <a:prstGeom prst="rect">
            <a:avLst/>
          </a:prstGeom>
          <a:noFill/>
        </p:spPr>
        <p:txBody>
          <a:bodyPr wrap="square" lIns="0" rIns="0" tIns="0" bIns="0">
            <a:spAutoFit/>
          </a:bodyPr>
          <a:lstStyle/>
          <a:p>
            <a:pPr algn="l">
              <a:spcAft>
                <a:spcPts val="0"/>
              </a:spcAft>
            </a:pPr>
            <a:r>
              <a:rPr sz="3400" b="1">
                <a:solidFill>
                  <a:srgbClr val="FFFFFF"/>
                </a:solidFill>
                <a:latin typeface="Avenir Next"/>
              </a:rPr>
              <a:t>Essayez-le</a:t>
            </a:r>
          </a:p>
        </p:txBody>
      </p:sp>
      <p:sp>
        <p:nvSpPr>
          <p:cNvPr id="5" name="Rectangle 4"/>
          <p:cNvSpPr/>
          <p:nvPr/>
        </p:nvSpPr>
        <p:spPr>
          <a:xfrm>
            <a:off x="640080" y="1207008"/>
            <a:ext cx="1371600" cy="73152"/>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602839" y="1581912"/>
            <a:ext cx="2596896" cy="2596896"/>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qr_pollen.png" descr="qr_pollen.png"/>
          <p:cNvPicPr>
            <a:picLocks noChangeAspect="1"/>
          </p:cNvPicPr>
          <p:nvPr/>
        </p:nvPicPr>
        <p:blipFill>
          <a:blip r:embed="rId2"/>
          <a:stretch>
            <a:fillRect/>
          </a:stretch>
        </p:blipFill>
        <p:spPr>
          <a:xfrm>
            <a:off x="2712567" y="1691640"/>
            <a:ext cx="2377440" cy="2377440"/>
          </a:xfrm>
          <a:prstGeom prst="rect">
            <a:avLst/>
          </a:prstGeom>
        </p:spPr>
      </p:pic>
      <p:sp>
        <p:nvSpPr>
          <p:cNvPr id="8" name="TextBox 7"/>
          <p:cNvSpPr txBox="1"/>
          <p:nvPr/>
        </p:nvSpPr>
        <p:spPr>
          <a:xfrm>
            <a:off x="2255367" y="4233672"/>
            <a:ext cx="3291840" cy="731520"/>
          </a:xfrm>
          <a:prstGeom prst="rect">
            <a:avLst/>
          </a:prstGeom>
          <a:noFill/>
        </p:spPr>
        <p:txBody>
          <a:bodyPr wrap="square" lIns="0" rIns="0" tIns="0" bIns="0">
            <a:spAutoFit/>
          </a:bodyPr>
          <a:lstStyle/>
          <a:p>
            <a:pPr algn="ctr">
              <a:spcAft>
                <a:spcPts val="0"/>
              </a:spcAft>
            </a:pPr>
            <a:r>
              <a:rPr sz="2200">
                <a:solidFill>
                  <a:srgbClr val="C9CFDC"/>
                </a:solidFill>
                <a:latin typeface="Avenir Next"/>
              </a:rPr>
              <a:t>pollen</a:t>
            </a:r>
          </a:p>
          <a:p>
            <a:pPr algn="ctr">
              <a:spcAft>
                <a:spcPts val="0"/>
              </a:spcAft>
            </a:pPr>
            <a:r>
              <a:rPr sz="1800">
                <a:solidFill>
                  <a:srgbClr val="00B5FB"/>
                </a:solidFill>
                <a:latin typeface="Avenir Next"/>
              </a:rPr>
              <a:t>github.com/groupbees/pollen</a:t>
            </a:r>
          </a:p>
        </p:txBody>
      </p:sp>
      <p:sp>
        <p:nvSpPr>
          <p:cNvPr id="9" name="Rounded Rectangle 8"/>
          <p:cNvSpPr/>
          <p:nvPr/>
        </p:nvSpPr>
        <p:spPr>
          <a:xfrm>
            <a:off x="6991959" y="1581912"/>
            <a:ext cx="2596896" cy="2596896"/>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qr_skills_core.png" descr="qr_skills_core.png"/>
          <p:cNvPicPr>
            <a:picLocks noChangeAspect="1"/>
          </p:cNvPicPr>
          <p:nvPr/>
        </p:nvPicPr>
        <p:blipFill>
          <a:blip r:embed="rId3"/>
          <a:stretch>
            <a:fillRect/>
          </a:stretch>
        </p:blipFill>
        <p:spPr>
          <a:xfrm>
            <a:off x="7101687" y="1691640"/>
            <a:ext cx="2377440" cy="2377440"/>
          </a:xfrm>
          <a:prstGeom prst="rect">
            <a:avLst/>
          </a:prstGeom>
        </p:spPr>
      </p:pic>
      <p:sp>
        <p:nvSpPr>
          <p:cNvPr id="11" name="TextBox 10"/>
          <p:cNvSpPr txBox="1"/>
          <p:nvPr/>
        </p:nvSpPr>
        <p:spPr>
          <a:xfrm>
            <a:off x="6644487" y="4233672"/>
            <a:ext cx="3291840" cy="731520"/>
          </a:xfrm>
          <a:prstGeom prst="rect">
            <a:avLst/>
          </a:prstGeom>
          <a:noFill/>
        </p:spPr>
        <p:txBody>
          <a:bodyPr wrap="square" lIns="0" rIns="0" tIns="0" bIns="0">
            <a:spAutoFit/>
          </a:bodyPr>
          <a:lstStyle/>
          <a:p>
            <a:pPr algn="ctr">
              <a:spcAft>
                <a:spcPts val="0"/>
              </a:spcAft>
            </a:pPr>
            <a:r>
              <a:rPr sz="2200">
                <a:solidFill>
                  <a:srgbClr val="C9CFDC"/>
                </a:solidFill>
                <a:latin typeface="Avenir Next"/>
              </a:rPr>
              <a:t>Nos skills, en public</a:t>
            </a:r>
          </a:p>
          <a:p>
            <a:pPr algn="ctr">
              <a:spcAft>
                <a:spcPts val="0"/>
              </a:spcAft>
            </a:pPr>
            <a:r>
              <a:rPr sz="1800">
                <a:solidFill>
                  <a:srgbClr val="00B5FB"/>
                </a:solidFill>
                <a:latin typeface="Avenir Next"/>
              </a:rPr>
              <a:t>github.com/tosun-si/skills-core</a:t>
            </a:r>
          </a:p>
        </p:txBody>
      </p:sp>
      <p:sp>
        <p:nvSpPr>
          <p:cNvPr id="12" name="TextBox 11"/>
          <p:cNvSpPr txBox="1"/>
          <p:nvPr/>
        </p:nvSpPr>
        <p:spPr>
          <a:xfrm>
            <a:off x="640080" y="5532120"/>
            <a:ext cx="10881360" cy="457200"/>
          </a:xfrm>
          <a:prstGeom prst="rect">
            <a:avLst/>
          </a:prstGeom>
          <a:noFill/>
        </p:spPr>
        <p:txBody>
          <a:bodyPr wrap="square" lIns="0" rIns="0" tIns="0" bIns="0">
            <a:spAutoFit/>
          </a:bodyPr>
          <a:lstStyle/>
          <a:p>
            <a:pPr algn="ctr">
              <a:spcAft>
                <a:spcPts val="0"/>
              </a:spcAft>
            </a:pPr>
            <a:r>
              <a:rPr sz="1800">
                <a:solidFill>
                  <a:srgbClr val="FFFFFF"/>
                </a:solidFill>
                <a:latin typeface="Consolas"/>
              </a:rPr>
              <a:t>brew install groupbees/tap/pollen  ·  pip install pollen-skills</a:t>
            </a:r>
          </a:p>
        </p:txBody>
      </p:sp>
      <p:pic>
        <p:nvPicPr>
          <p:cNvPr id="13" name="logo_light.png" descr="logo_light.png"/>
          <p:cNvPicPr>
            <a:picLocks noChangeAspect="1"/>
          </p:cNvPicPr>
          <p:nvPr/>
        </p:nvPicPr>
        <p:blipFill>
          <a:blip r:embed="rId5"/>
          <a:stretch>
            <a:fillRect/>
          </a:stretch>
        </p:blipFill>
        <p:spPr>
          <a:xfrm>
            <a:off x="566928" y="6263640"/>
            <a:ext cx="899514" cy="274320"/>
          </a:xfrm>
          <a:prstGeom prst="rect">
            <a:avLst/>
          </a:prstGeom>
        </p:spPr>
      </p:pic>
      <p:sp>
        <p:nvSpPr>
          <p:cNvPr id="14" name="TextBox 13"/>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C9CFDC"/>
                </a:solidFill>
                <a:latin typeface="Avenir Next"/>
              </a:rPr>
              <a:t>Industrialiser l'IA en équipe · DevFest Toulouse   ·   31/32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462772" y="2084832"/>
            <a:ext cx="1591056" cy="1591056"/>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qr_linkedin_mazlum.png" descr="qr_linkedin_mazlum.png"/>
          <p:cNvPicPr>
            <a:picLocks noChangeAspect="1"/>
          </p:cNvPicPr>
          <p:nvPr/>
        </p:nvPicPr>
        <p:blipFill>
          <a:blip r:embed="rId2"/>
          <a:stretch>
            <a:fillRect/>
          </a:stretch>
        </p:blipFill>
        <p:spPr>
          <a:xfrm>
            <a:off x="8572500" y="2194560"/>
            <a:ext cx="1371600" cy="1371600"/>
          </a:xfrm>
          <a:prstGeom prst="rect">
            <a:avLst/>
          </a:prstGeom>
        </p:spPr>
      </p:pic>
      <p:sp>
        <p:nvSpPr>
          <p:cNvPr id="6" name="TextBox 5"/>
          <p:cNvSpPr txBox="1"/>
          <p:nvPr/>
        </p:nvSpPr>
        <p:spPr>
          <a:xfrm>
            <a:off x="8115300" y="3730752"/>
            <a:ext cx="2286000" cy="731520"/>
          </a:xfrm>
          <a:prstGeom prst="rect">
            <a:avLst/>
          </a:prstGeom>
          <a:noFill/>
        </p:spPr>
        <p:txBody>
          <a:bodyPr wrap="square" lIns="0" rIns="0" tIns="0" bIns="0">
            <a:spAutoFit/>
          </a:bodyPr>
          <a:lstStyle/>
          <a:p>
            <a:pPr algn="ctr">
              <a:spcAft>
                <a:spcPts val="0"/>
              </a:spcAft>
            </a:pPr>
            <a:r>
              <a:rPr sz="1300">
                <a:solidFill>
                  <a:srgbClr val="C9CFDC"/>
                </a:solidFill>
                <a:latin typeface="Avenir Next"/>
              </a:rPr>
              <a:t>Mazlum · LinkedIn</a:t>
            </a:r>
          </a:p>
        </p:txBody>
      </p:sp>
      <p:sp>
        <p:nvSpPr>
          <p:cNvPr id="7" name="Rounded Rectangle 6"/>
          <p:cNvSpPr/>
          <p:nvPr/>
        </p:nvSpPr>
        <p:spPr>
          <a:xfrm>
            <a:off x="10245852" y="2084832"/>
            <a:ext cx="1591056" cy="1591056"/>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qr_linkedin_guillaume.png" descr="qr_linkedin_guillaume.png"/>
          <p:cNvPicPr>
            <a:picLocks noChangeAspect="1"/>
          </p:cNvPicPr>
          <p:nvPr/>
        </p:nvPicPr>
        <p:blipFill>
          <a:blip r:embed="rId3"/>
          <a:stretch>
            <a:fillRect/>
          </a:stretch>
        </p:blipFill>
        <p:spPr>
          <a:xfrm>
            <a:off x="10355580" y="2194560"/>
            <a:ext cx="1371600" cy="1371600"/>
          </a:xfrm>
          <a:prstGeom prst="rect">
            <a:avLst/>
          </a:prstGeom>
        </p:spPr>
      </p:pic>
      <p:sp>
        <p:nvSpPr>
          <p:cNvPr id="9" name="TextBox 8"/>
          <p:cNvSpPr txBox="1"/>
          <p:nvPr/>
        </p:nvSpPr>
        <p:spPr>
          <a:xfrm>
            <a:off x="9898380" y="3730752"/>
            <a:ext cx="2286000" cy="731520"/>
          </a:xfrm>
          <a:prstGeom prst="rect">
            <a:avLst/>
          </a:prstGeom>
          <a:noFill/>
        </p:spPr>
        <p:txBody>
          <a:bodyPr wrap="square" lIns="0" rIns="0" tIns="0" bIns="0">
            <a:spAutoFit/>
          </a:bodyPr>
          <a:lstStyle/>
          <a:p>
            <a:pPr algn="ctr">
              <a:spcAft>
                <a:spcPts val="0"/>
              </a:spcAft>
            </a:pPr>
            <a:r>
              <a:rPr sz="1300">
                <a:solidFill>
                  <a:srgbClr val="C9CFDC"/>
                </a:solidFill>
                <a:latin typeface="Avenir Next"/>
              </a:rPr>
              <a:t>Guillaume · LinkedIn</a:t>
            </a:r>
          </a:p>
        </p:txBody>
      </p:sp>
      <p:sp>
        <p:nvSpPr>
          <p:cNvPr id="10" name="TextBox 9"/>
          <p:cNvSpPr txBox="1"/>
          <p:nvPr/>
        </p:nvSpPr>
        <p:spPr>
          <a:xfrm>
            <a:off x="640080" y="2194560"/>
            <a:ext cx="7863840" cy="1280160"/>
          </a:xfrm>
          <a:prstGeom prst="rect">
            <a:avLst/>
          </a:prstGeom>
          <a:noFill/>
        </p:spPr>
        <p:txBody>
          <a:bodyPr wrap="square" lIns="0" rIns="0" tIns="0" bIns="0">
            <a:spAutoFit/>
          </a:bodyPr>
          <a:lstStyle/>
          <a:p>
            <a:pPr algn="l">
              <a:spcAft>
                <a:spcPts val="0"/>
              </a:spcAft>
            </a:pPr>
            <a:r>
              <a:rPr sz="5400" b="1">
                <a:solidFill>
                  <a:srgbClr val="FFFFFF"/>
                </a:solidFill>
                <a:latin typeface="Avenir Next"/>
              </a:rPr>
              <a:t>Pas par magie.</a:t>
            </a:r>
          </a:p>
        </p:txBody>
      </p:sp>
      <p:sp>
        <p:nvSpPr>
          <p:cNvPr id="11" name="Rectangle 10"/>
          <p:cNvSpPr/>
          <p:nvPr/>
        </p:nvSpPr>
        <p:spPr>
          <a:xfrm>
            <a:off x="640080" y="3566160"/>
            <a:ext cx="2194560" cy="91440"/>
          </a:xfrm>
          <a:prstGeom prst="rect">
            <a:avLst/>
          </a:prstGeom>
          <a:gradFill rotWithShape="1">
            <a:gsLst>
              <a:gs pos="0">
                <a:srgbClr val="00B5FB"/>
              </a:gs>
              <a:gs pos="100000">
                <a:srgbClr val="974EF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931920"/>
            <a:ext cx="7498079" cy="1828800"/>
          </a:xfrm>
          <a:prstGeom prst="rect">
            <a:avLst/>
          </a:prstGeom>
          <a:noFill/>
        </p:spPr>
        <p:txBody>
          <a:bodyPr wrap="square" lIns="0" rIns="0" tIns="0" bIns="0">
            <a:spAutoFit/>
          </a:bodyPr>
          <a:lstStyle/>
          <a:p>
            <a:pPr algn="l">
              <a:spcAft>
                <a:spcPts val="1000"/>
              </a:spcAft>
            </a:pPr>
            <a:r>
              <a:rPr sz="2000">
                <a:solidFill>
                  <a:srgbClr val="C9CFDC"/>
                </a:solidFill>
                <a:latin typeface="Avenir Next"/>
              </a:rPr>
              <a:t>Parce que les règles sont là.</a:t>
            </a:r>
          </a:p>
          <a:p>
            <a:pPr algn="l">
              <a:spcAft>
                <a:spcPts val="1000"/>
              </a:spcAft>
            </a:pPr>
            <a:r>
              <a:rPr sz="2000">
                <a:solidFill>
                  <a:srgbClr val="C9CFDC"/>
                </a:solidFill>
                <a:latin typeface="Avenir Next"/>
              </a:rPr>
              <a:t>Merci ! Des questions ?</a:t>
            </a:r>
          </a:p>
        </p:txBody>
      </p:sp>
      <p:pic>
        <p:nvPicPr>
          <p:cNvPr id="13" name="logo_light.png" descr="logo_light.png"/>
          <p:cNvPicPr>
            <a:picLocks noChangeAspect="1"/>
          </p:cNvPicPr>
          <p:nvPr/>
        </p:nvPicPr>
        <p:blipFill>
          <a:blip r:embed="rId5"/>
          <a:stretch>
            <a:fillRect/>
          </a:stretch>
        </p:blipFill>
        <p:spPr>
          <a:xfrm>
            <a:off x="566928" y="6263640"/>
            <a:ext cx="899514" cy="274320"/>
          </a:xfrm>
          <a:prstGeom prst="rect">
            <a:avLst/>
          </a:prstGeom>
        </p:spPr>
      </p:pic>
      <p:sp>
        <p:nvSpPr>
          <p:cNvPr id="14" name="TextBox 13"/>
          <p:cNvSpPr txBox="1"/>
          <p:nvPr/>
        </p:nvSpPr>
        <p:spPr>
          <a:xfrm>
            <a:off x="6858000" y="6291072"/>
            <a:ext cx="4754880" cy="320040"/>
          </a:xfrm>
          <a:prstGeom prst="rect">
            <a:avLst/>
          </a:prstGeom>
          <a:noFill/>
        </p:spPr>
        <p:txBody>
          <a:bodyPr wrap="square" lIns="0" rIns="0" tIns="0" bIns="0">
            <a:spAutoFit/>
          </a:bodyPr>
          <a:lstStyle/>
          <a:p>
            <a:pPr algn="r">
              <a:spcAft>
                <a:spcPts val="0"/>
              </a:spcAft>
            </a:pPr>
            <a:r>
              <a:rPr sz="1100">
                <a:solidFill>
                  <a:srgbClr val="C9CFDC"/>
                </a:solidFill>
                <a:latin typeface="Avenir Next"/>
              </a:rPr>
              <a:t>Industrialiser l'IA en équipe · DevFest Toulouse   ·   32/32</a:t>
            </a:r>
          </a:p>
        </p:txBody>
      </p:sp>
    </p:spTree>
  </p:cSld>
  <p:clrMapOvr>
    <a:masterClrMapping/>
  </p:clrMapOvr>
  <mc:AlternateContent xmlns:mc="http://schemas.openxmlformats.org/markup-compatibility/2006" xmlns:p14="http://schemas.microsoft.com/office/powerpoint/2010/main">
    <mc:Choice Requires="p14">
      <p:transition spd="med" p14:dur="1000">
        <p14:gallery dir="l"/>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